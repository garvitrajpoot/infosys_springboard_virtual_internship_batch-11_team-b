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8" r:id="rId1"/>
  </p:sldMasterIdLst>
  <p:notesMasterIdLst>
    <p:notesMasterId r:id="rId12"/>
  </p:notesMasterIdLst>
  <p:sldIdLst>
    <p:sldId id="272" r:id="rId2"/>
    <p:sldId id="257" r:id="rId3"/>
    <p:sldId id="258" r:id="rId4"/>
    <p:sldId id="279" r:id="rId5"/>
    <p:sldId id="259" r:id="rId6"/>
    <p:sldId id="276" r:id="rId7"/>
    <p:sldId id="277" r:id="rId8"/>
    <p:sldId id="264" r:id="rId9"/>
    <p:sldId id="270" r:id="rId10"/>
    <p:sldId id="27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7040F-979C-44E4-BA9E-46C0AD6C150A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BE8899-A963-46EE-AE71-39635D63C6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234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797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8728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1150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4200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803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4583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156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3862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002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464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522929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8604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65022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3249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99750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E70DC-79BE-4330-A456-DC69A6D25B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72722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263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1667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5280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5628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7852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1096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02594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822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4EB0ED-B673-4440-9533-3417AE48FD62}" type="datetimeFigureOut">
              <a:rPr lang="en-IN" smtClean="0"/>
              <a:t>19-02-2026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09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10" r:id="rId2"/>
    <p:sldLayoutId id="2147483911" r:id="rId3"/>
    <p:sldLayoutId id="2147483912" r:id="rId4"/>
    <p:sldLayoutId id="2147483913" r:id="rId5"/>
    <p:sldLayoutId id="2147483914" r:id="rId6"/>
    <p:sldLayoutId id="2147483915" r:id="rId7"/>
    <p:sldLayoutId id="2147483916" r:id="rId8"/>
    <p:sldLayoutId id="2147483917" r:id="rId9"/>
    <p:sldLayoutId id="2147483918" r:id="rId10"/>
    <p:sldLayoutId id="2147483919" r:id="rId11"/>
    <p:sldLayoutId id="2147483920" r:id="rId12"/>
    <p:sldLayoutId id="2147483921" r:id="rId13"/>
    <p:sldLayoutId id="2147483922" r:id="rId14"/>
    <p:sldLayoutId id="2147483923" r:id="rId15"/>
    <p:sldLayoutId id="2147483924" r:id="rId16"/>
    <p:sldLayoutId id="2147483925" r:id="rId17"/>
    <p:sldLayoutId id="2147483926" r:id="rId18"/>
    <p:sldLayoutId id="2147483927" r:id="rId19"/>
    <p:sldLayoutId id="2147483928" r:id="rId20"/>
    <p:sldLayoutId id="2147483929" r:id="rId21"/>
    <p:sldLayoutId id="2147483930" r:id="rId22"/>
    <p:sldLayoutId id="2147483931" r:id="rId23"/>
    <p:sldLayoutId id="2147483932" r:id="rId24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CF8A48B-15E0-BC16-F516-AF0D0F92F373}"/>
              </a:ext>
            </a:extLst>
          </p:cNvPr>
          <p:cNvSpPr/>
          <p:nvPr/>
        </p:nvSpPr>
        <p:spPr>
          <a:xfrm>
            <a:off x="2524988" y="346747"/>
            <a:ext cx="7142020" cy="1754326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Infosys SpringBoard</a:t>
            </a:r>
          </a:p>
          <a:p>
            <a:pPr algn="ctr"/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Virtual Internship 6.0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CBA8E-CB4C-FBF3-7664-4C170E33B468}"/>
              </a:ext>
            </a:extLst>
          </p:cNvPr>
          <p:cNvSpPr txBox="1"/>
          <p:nvPr/>
        </p:nvSpPr>
        <p:spPr>
          <a:xfrm>
            <a:off x="3123424" y="4028536"/>
            <a:ext cx="5945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Group 1 – Batch 11</a:t>
            </a:r>
          </a:p>
          <a:p>
            <a:pPr algn="ctr"/>
            <a:r>
              <a:rPr lang="en-IN" dirty="0"/>
              <a:t>Team-B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911089-F484-C8EF-9A35-9C67A747EE0A}"/>
              </a:ext>
            </a:extLst>
          </p:cNvPr>
          <p:cNvSpPr txBox="1"/>
          <p:nvPr/>
        </p:nvSpPr>
        <p:spPr>
          <a:xfrm>
            <a:off x="8226014" y="4968165"/>
            <a:ext cx="4094670" cy="1536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Submitted By - </a:t>
            </a:r>
          </a:p>
          <a:p>
            <a:pPr algn="ctr"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Shashank Singh</a:t>
            </a:r>
          </a:p>
          <a:p>
            <a:pPr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Garvit Rajpoot</a:t>
            </a:r>
          </a:p>
          <a:p>
            <a:pPr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Vanshika</a:t>
            </a:r>
            <a:endParaRPr lang="en-US" dirty="0"/>
          </a:p>
          <a:p>
            <a:pPr algn="ctr"/>
            <a:endParaRPr lang="en-IN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65FA9F3C-EBBB-1007-B7DA-3DF6127F0365}"/>
              </a:ext>
            </a:extLst>
          </p:cNvPr>
          <p:cNvSpPr/>
          <p:nvPr/>
        </p:nvSpPr>
        <p:spPr>
          <a:xfrm>
            <a:off x="1918647" y="2548073"/>
            <a:ext cx="8354702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042"/>
              </a:lnSpc>
            </a:pPr>
            <a:r>
              <a:rPr lang="en-US" sz="3250" b="1" dirty="0">
                <a:solidFill>
                  <a:srgbClr val="74767D"/>
                </a:solidFill>
                <a:latin typeface="Batang" panose="02030600000101010101" pitchFamily="18" charset="-127"/>
                <a:ea typeface="Batang" panose="02030600000101010101" pitchFamily="18" charset="-127"/>
                <a:cs typeface="Montserrat Medium" pitchFamily="34" charset="-120"/>
              </a:rPr>
              <a:t>Food Trends And Understanding Customer Preferences</a:t>
            </a:r>
            <a:endParaRPr lang="en-US" sz="3250" b="1" dirty="0"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9990B-4C6A-3654-4C0D-8A90CC13BDDC}"/>
              </a:ext>
            </a:extLst>
          </p:cNvPr>
          <p:cNvSpPr txBox="1"/>
          <p:nvPr/>
        </p:nvSpPr>
        <p:spPr>
          <a:xfrm>
            <a:off x="1111258" y="4968165"/>
            <a:ext cx="4094670" cy="611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Submitted To - </a:t>
            </a:r>
          </a:p>
          <a:p>
            <a:pPr algn="ctr">
              <a:lnSpc>
                <a:spcPts val="1292"/>
              </a:lnSpc>
            </a:pPr>
            <a:endParaRPr lang="en-US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 algn="ctr">
              <a:lnSpc>
                <a:spcPts val="1292"/>
              </a:lnSpc>
            </a:pPr>
            <a:r>
              <a:rPr lang="en-US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Nityasree Mam</a:t>
            </a:r>
          </a:p>
        </p:txBody>
      </p:sp>
    </p:spTree>
    <p:extLst>
      <p:ext uri="{BB962C8B-B14F-4D97-AF65-F5344CB8AC3E}">
        <p14:creationId xmlns:p14="http://schemas.microsoft.com/office/powerpoint/2010/main" val="1446925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5613" y="572988"/>
            <a:ext cx="8482707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Objective: Data-Driven Decisions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35613" y="1193502"/>
            <a:ext cx="10869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  <a:cs typeface="Inter Light" pitchFamily="34" charset="-120"/>
              </a:rPr>
              <a:t>This project aims to design an end-to-end Business Intelligence solution, empowering restaurants to make data-driven decisions across various </a:t>
            </a:r>
          </a:p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  <a:cs typeface="Inter Light" pitchFamily="34" charset="-120"/>
              </a:rPr>
              <a:t>facets of their operations.</a:t>
            </a:r>
            <a:endParaRPr lang="en-US" sz="1400" dirty="0">
              <a:latin typeface="Bahnschrift Light SemiCondensed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35613" y="1908770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63" y="1908770"/>
            <a:ext cx="76200" cy="15202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7111" y="2093119"/>
            <a:ext cx="224393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Analyze Performance</a:t>
            </a:r>
            <a:endParaRPr lang="en-US" sz="1625" dirty="0"/>
          </a:p>
        </p:txBody>
      </p:sp>
      <p:sp>
        <p:nvSpPr>
          <p:cNvPr id="7" name="Text 4"/>
          <p:cNvSpPr/>
          <p:nvPr/>
        </p:nvSpPr>
        <p:spPr>
          <a:xfrm>
            <a:off x="877112" y="2450803"/>
            <a:ext cx="308689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Gain insights into restaurant operations, customer behavior, and service performance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13652" y="1908770"/>
            <a:ext cx="3512840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602" y="1908770"/>
            <a:ext cx="76200" cy="15202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55151" y="2093119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Optimize Strategy</a:t>
            </a:r>
            <a:endParaRPr lang="en-US" sz="1625" dirty="0"/>
          </a:p>
        </p:txBody>
      </p:sp>
      <p:sp>
        <p:nvSpPr>
          <p:cNvPr id="11" name="Text 7"/>
          <p:cNvSpPr/>
          <p:nvPr/>
        </p:nvSpPr>
        <p:spPr>
          <a:xfrm>
            <a:off x="4555150" y="2450803"/>
            <a:ext cx="308699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Develop effective menu strategies, delivery efficiency, and sentiment trend analysis.</a:t>
            </a:r>
          </a:p>
        </p:txBody>
      </p:sp>
      <p:sp>
        <p:nvSpPr>
          <p:cNvPr id="12" name="Shape 8"/>
          <p:cNvSpPr/>
          <p:nvPr/>
        </p:nvSpPr>
        <p:spPr>
          <a:xfrm>
            <a:off x="7991791" y="1908770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740" y="1908770"/>
            <a:ext cx="76200" cy="152023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33289" y="2093119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Improve Outcomes</a:t>
            </a:r>
            <a:endParaRPr lang="en-US" sz="1625" dirty="0"/>
          </a:p>
        </p:txBody>
      </p:sp>
      <p:sp>
        <p:nvSpPr>
          <p:cNvPr id="15" name="Text 10"/>
          <p:cNvSpPr/>
          <p:nvPr/>
        </p:nvSpPr>
        <p:spPr>
          <a:xfrm>
            <a:off x="8233289" y="2450803"/>
            <a:ext cx="308689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Drive revenue growth, enhance operational efficiency, and boost customer satisfaction.</a:t>
            </a: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A3BE19FF-299F-FAE4-4AC6-8DD761D71206}"/>
              </a:ext>
            </a:extLst>
          </p:cNvPr>
          <p:cNvSpPr/>
          <p:nvPr/>
        </p:nvSpPr>
        <p:spPr>
          <a:xfrm>
            <a:off x="635613" y="3613349"/>
            <a:ext cx="8482707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Description</a:t>
            </a:r>
            <a:endParaRPr lang="en-US" sz="3250" dirty="0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D2034777-CED6-0FAD-46A7-1B832C3D4AC0}"/>
              </a:ext>
            </a:extLst>
          </p:cNvPr>
          <p:cNvSpPr/>
          <p:nvPr/>
        </p:nvSpPr>
        <p:spPr>
          <a:xfrm>
            <a:off x="654762" y="4866377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DA51E34-0E82-5BA4-0A6A-4B065EC3D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2" y="4866377"/>
            <a:ext cx="76200" cy="1520230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712EE96-9D30-ED8F-70C8-E817FEBC5428}"/>
              </a:ext>
            </a:extLst>
          </p:cNvPr>
          <p:cNvSpPr/>
          <p:nvPr/>
        </p:nvSpPr>
        <p:spPr>
          <a:xfrm>
            <a:off x="749913" y="4929744"/>
            <a:ext cx="341749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The project “Food Trends Understanding Customer Preferences” focuses on developing a comprehensive Business Intelligence solution that analyses food service data to uncover meaningful customer and </a:t>
            </a:r>
            <a:r>
              <a:rPr lang="en-GB" sz="140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operational insights.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6C92E3A2-2133-6C86-E65E-4883CD337FB7}"/>
              </a:ext>
            </a:extLst>
          </p:cNvPr>
          <p:cNvSpPr/>
          <p:nvPr/>
        </p:nvSpPr>
        <p:spPr>
          <a:xfrm>
            <a:off x="4313751" y="4866377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D8DF3353-CC6F-A54C-101B-656F3FE07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701" y="4866377"/>
            <a:ext cx="76200" cy="1520230"/>
          </a:xfrm>
          <a:prstGeom prst="rect">
            <a:avLst/>
          </a:prstGeom>
        </p:spPr>
      </p:pic>
      <p:sp>
        <p:nvSpPr>
          <p:cNvPr id="25" name="Text 4">
            <a:extLst>
              <a:ext uri="{FF2B5EF4-FFF2-40B4-BE49-F238E27FC236}">
                <a16:creationId xmlns:a16="http://schemas.microsoft.com/office/drawing/2014/main" id="{95C9458E-94C8-93DC-0F24-FDFD31B20746}"/>
              </a:ext>
            </a:extLst>
          </p:cNvPr>
          <p:cNvSpPr/>
          <p:nvPr/>
        </p:nvSpPr>
        <p:spPr>
          <a:xfrm>
            <a:off x="4555249" y="5114092"/>
            <a:ext cx="308689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It involves collecting, cleaning, modelling, and visualizing data related to orders, menu items, customers, delivery performance, and feedback</a:t>
            </a:r>
            <a:r>
              <a:rPr lang="en-GB" sz="140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. 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EB73A04E-7B14-D90E-DCD0-2C6CBFA6891D}"/>
              </a:ext>
            </a:extLst>
          </p:cNvPr>
          <p:cNvSpPr/>
          <p:nvPr/>
        </p:nvSpPr>
        <p:spPr>
          <a:xfrm>
            <a:off x="7972839" y="4866377"/>
            <a:ext cx="3512741" cy="1520230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22860">
            <a:solidFill>
              <a:srgbClr val="C5C7D2"/>
            </a:solidFill>
            <a:prstDash val="solid"/>
          </a:ln>
        </p:spPr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14DCAF3A-DA83-A22A-5D18-AE9ACB85A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789" y="4866377"/>
            <a:ext cx="76200" cy="1520230"/>
          </a:xfrm>
          <a:prstGeom prst="rect">
            <a:avLst/>
          </a:prstGeom>
        </p:spPr>
      </p:pic>
      <p:sp>
        <p:nvSpPr>
          <p:cNvPr id="28" name="Text 4">
            <a:extLst>
              <a:ext uri="{FF2B5EF4-FFF2-40B4-BE49-F238E27FC236}">
                <a16:creationId xmlns:a16="http://schemas.microsoft.com/office/drawing/2014/main" id="{9053936C-66E0-E59B-81DB-9FB89E1A3162}"/>
              </a:ext>
            </a:extLst>
          </p:cNvPr>
          <p:cNvSpPr/>
          <p:nvPr/>
        </p:nvSpPr>
        <p:spPr>
          <a:xfrm>
            <a:off x="8049039" y="4929743"/>
            <a:ext cx="339324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The dashboards highlight high-demand items, profitable categories, and factors affecting customer satisfaction. This enables restaurants to optimize menus, improve service efficiency, and make data-driven business decisions. 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96D636-F69E-22B1-32BF-2368FA3AACA5}"/>
              </a:ext>
            </a:extLst>
          </p:cNvPr>
          <p:cNvSpPr txBox="1"/>
          <p:nvPr/>
        </p:nvSpPr>
        <p:spPr>
          <a:xfrm>
            <a:off x="616563" y="4130081"/>
            <a:ext cx="10269613" cy="607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>
              <a:lnSpc>
                <a:spcPts val="2083"/>
              </a:lnSpc>
              <a:defRPr sz="140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defRPr>
            </a:lvl1pPr>
          </a:lstStyle>
          <a:p>
            <a:r>
              <a:rPr lang="en-GB" dirty="0"/>
              <a:t>The project demonstrates how data analytics can transform everyday transactional data into strategic intelligence that supports menu optimization, improved operations, and better customer experiences.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722" y="0"/>
            <a:ext cx="439127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92" y="456407"/>
            <a:ext cx="6066135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Execution Milestones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661492" y="1034033"/>
            <a:ext cx="6297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Our project followed a structured approach, broken down into key milestones to ensure comprehensive development and delivery of the BI solution.</a:t>
            </a:r>
          </a:p>
        </p:txBody>
      </p:sp>
      <p:sp>
        <p:nvSpPr>
          <p:cNvPr id="5" name="Shape 2"/>
          <p:cNvSpPr/>
          <p:nvPr/>
        </p:nvSpPr>
        <p:spPr>
          <a:xfrm>
            <a:off x="57245" y="1741130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18673" y="2148341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1</a:t>
            </a:r>
            <a:endParaRPr lang="en-US" sz="1917" dirty="0"/>
          </a:p>
        </p:txBody>
      </p:sp>
      <p:sp>
        <p:nvSpPr>
          <p:cNvPr id="7" name="Text 4"/>
          <p:cNvSpPr/>
          <p:nvPr/>
        </p:nvSpPr>
        <p:spPr>
          <a:xfrm>
            <a:off x="2066360" y="1853800"/>
            <a:ext cx="3357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Data Collection &amp; Preprocessing</a:t>
            </a:r>
            <a:endParaRPr lang="en-US" sz="1625" dirty="0"/>
          </a:p>
        </p:txBody>
      </p:sp>
      <p:sp>
        <p:nvSpPr>
          <p:cNvPr id="8" name="Text 5"/>
          <p:cNvSpPr/>
          <p:nvPr/>
        </p:nvSpPr>
        <p:spPr>
          <a:xfrm>
            <a:off x="2066360" y="2134147"/>
            <a:ext cx="5470228" cy="5992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Focus on data cleaning, transformation, and robust modeling. </a:t>
            </a: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Established a clean,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structured, and reliable data model to support accurate dashboard development.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066360" y="3076874"/>
            <a:ext cx="4880851" cy="54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Restaurant Performance, Customer Demographics, </a:t>
            </a:r>
          </a:p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and Customer Preferences </a:t>
            </a:r>
            <a:endParaRPr lang="en-US" sz="1625" dirty="0">
              <a:solidFill>
                <a:srgbClr val="3D3E44"/>
              </a:solidFill>
              <a:latin typeface="Montserrat Medium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066360" y="3585819"/>
            <a:ext cx="5470228" cy="748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Developed core business dashboards to analyse sales performance,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customer behaviour, and preference trends.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077659" y="4362843"/>
            <a:ext cx="5194409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Sentiment Analysis and Fast-Food Sales insights </a:t>
            </a:r>
            <a:endParaRPr lang="en-US" sz="1625" dirty="0">
              <a:solidFill>
                <a:srgbClr val="3D3E44"/>
              </a:solidFill>
              <a:latin typeface="Montserrat Medium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077659" y="4678044"/>
            <a:ext cx="547022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Expanded analysis into customer feedback and advanced sales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Insights to identify satisfaction drivers and revenue trends.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077659" y="5508314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GB" sz="1625" dirty="0">
                <a:solidFill>
                  <a:srgbClr val="3D3E44"/>
                </a:solidFill>
                <a:latin typeface="Montserrat Medium" pitchFamily="34" charset="0"/>
              </a:rPr>
              <a:t>Delivery Performance and Menu Optimization</a:t>
            </a:r>
            <a:endParaRPr lang="en-US" sz="1625" dirty="0">
              <a:solidFill>
                <a:srgbClr val="3D3E44"/>
              </a:solidFill>
              <a:latin typeface="Montserrat Medium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077659" y="5784769"/>
            <a:ext cx="547022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Integrated operational efficiency and profitability analysis to enable </a:t>
            </a:r>
          </a:p>
          <a:p>
            <a:pPr>
              <a:lnSpc>
                <a:spcPts val="2083"/>
              </a:lnSpc>
            </a:pPr>
            <a:r>
              <a:rPr lang="en-GB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data-driven strategic decision-making.</a:t>
            </a:r>
            <a:endParaRPr lang="en-US" sz="14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2CD57772-8F60-8037-0887-6476D5446D22}"/>
              </a:ext>
            </a:extLst>
          </p:cNvPr>
          <p:cNvSpPr/>
          <p:nvPr/>
        </p:nvSpPr>
        <p:spPr>
          <a:xfrm>
            <a:off x="57246" y="2970709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D899EE64-C6CE-0CB6-6A72-DBB45E89D33B}"/>
              </a:ext>
            </a:extLst>
          </p:cNvPr>
          <p:cNvSpPr/>
          <p:nvPr/>
        </p:nvSpPr>
        <p:spPr>
          <a:xfrm>
            <a:off x="318674" y="3377920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2</a:t>
            </a:r>
            <a:endParaRPr lang="en-US" sz="1917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7179AEFC-2532-FF7F-70B0-80BE39759D68}"/>
              </a:ext>
            </a:extLst>
          </p:cNvPr>
          <p:cNvSpPr/>
          <p:nvPr/>
        </p:nvSpPr>
        <p:spPr>
          <a:xfrm>
            <a:off x="57246" y="4200289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23201CC4-1F9A-30E4-7F54-B95453ABE17A}"/>
              </a:ext>
            </a:extLst>
          </p:cNvPr>
          <p:cNvSpPr/>
          <p:nvPr/>
        </p:nvSpPr>
        <p:spPr>
          <a:xfrm>
            <a:off x="318674" y="4607499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3</a:t>
            </a:r>
            <a:endParaRPr lang="en-US" sz="1917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E87EA384-456F-2459-EBF2-43F21F16F4A7}"/>
              </a:ext>
            </a:extLst>
          </p:cNvPr>
          <p:cNvSpPr/>
          <p:nvPr/>
        </p:nvSpPr>
        <p:spPr>
          <a:xfrm>
            <a:off x="57245" y="5370440"/>
            <a:ext cx="1892055" cy="992287"/>
          </a:xfrm>
          <a:prstGeom prst="roundRect">
            <a:avLst>
              <a:gd name="adj" fmla="val 3600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E1B1A020-A0FB-A097-001F-42FC2383103F}"/>
              </a:ext>
            </a:extLst>
          </p:cNvPr>
          <p:cNvSpPr/>
          <p:nvPr/>
        </p:nvSpPr>
        <p:spPr>
          <a:xfrm>
            <a:off x="318674" y="5777650"/>
            <a:ext cx="1369198" cy="310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17"/>
              </a:lnSpc>
            </a:pPr>
            <a:r>
              <a:rPr lang="en-US" sz="1917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Milestone 4</a:t>
            </a:r>
            <a:endParaRPr lang="en-US" sz="191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A96B6-B4D0-E60E-2079-B3A32F02671F}"/>
              </a:ext>
            </a:extLst>
          </p:cNvPr>
          <p:cNvSpPr/>
          <p:nvPr/>
        </p:nvSpPr>
        <p:spPr>
          <a:xfrm>
            <a:off x="1805796" y="0"/>
            <a:ext cx="8695427" cy="776377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3250" dirty="0">
                <a:solidFill>
                  <a:srgbClr val="74767D"/>
                </a:solidFill>
                <a:latin typeface="Montserrat Medium" pitchFamily="34" charset="0"/>
              </a:rPr>
              <a:t>Project Workflow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CA82B2-CA44-E10C-DE21-118517B563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004" y="224286"/>
            <a:ext cx="6185139" cy="663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470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92" y="964506"/>
            <a:ext cx="5049838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Challenges Faced &amp; Resolutions</a:t>
            </a:r>
          </a:p>
        </p:txBody>
      </p:sp>
      <p:sp>
        <p:nvSpPr>
          <p:cNvPr id="3" name="Text 1"/>
          <p:cNvSpPr/>
          <p:nvPr/>
        </p:nvSpPr>
        <p:spPr>
          <a:xfrm>
            <a:off x="661492" y="1811933"/>
            <a:ext cx="10869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Throughout the project, we encountered and successfully resolved several challenges to ensure the integrity and effectiveness of our BI solution.</a:t>
            </a:r>
          </a:p>
        </p:txBody>
      </p:sp>
      <p:sp>
        <p:nvSpPr>
          <p:cNvPr id="4" name="Shape 2"/>
          <p:cNvSpPr/>
          <p:nvPr/>
        </p:nvSpPr>
        <p:spPr>
          <a:xfrm>
            <a:off x="661492" y="2775248"/>
            <a:ext cx="5351859" cy="1484709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92" y="2756198"/>
            <a:ext cx="5351859" cy="762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375" y="2527201"/>
            <a:ext cx="496094" cy="4960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38203" y="2651224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</a:t>
            </a:r>
            <a:endParaRPr lang="en-US" sz="1542" dirty="0"/>
          </a:p>
        </p:txBody>
      </p:sp>
      <p:sp>
        <p:nvSpPr>
          <p:cNvPr id="8" name="Text 4"/>
          <p:cNvSpPr/>
          <p:nvPr/>
        </p:nvSpPr>
        <p:spPr>
          <a:xfrm>
            <a:off x="845840" y="3188693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Data Quality</a:t>
            </a:r>
            <a:endParaRPr lang="en-US" sz="1625" dirty="0"/>
          </a:p>
        </p:txBody>
      </p:sp>
      <p:sp>
        <p:nvSpPr>
          <p:cNvPr id="9" name="Text 5"/>
          <p:cNvSpPr/>
          <p:nvPr/>
        </p:nvSpPr>
        <p:spPr>
          <a:xfrm>
            <a:off x="845840" y="3546376"/>
            <a:ext cx="498316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Poor data quality was resolved through rigorous cleaning and validation processes.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Resolution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- Resolved through data cleaning, standardization, and calculated fields.</a:t>
            </a:r>
          </a:p>
          <a:p>
            <a:pPr>
              <a:lnSpc>
                <a:spcPts val="2083"/>
              </a:lnSpc>
            </a:pPr>
            <a:endParaRPr lang="en-US" sz="1400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178650" y="2775248"/>
            <a:ext cx="5351859" cy="1831774"/>
          </a:xfrm>
          <a:prstGeom prst="roundRect">
            <a:avLst>
              <a:gd name="adj" fmla="val 6159"/>
            </a:avLst>
          </a:prstGeom>
          <a:solidFill>
            <a:srgbClr val="FFFFF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8650" y="2756198"/>
            <a:ext cx="5351859" cy="7620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532" y="2527201"/>
            <a:ext cx="496094" cy="49609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755360" y="2651224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</a:t>
            </a:r>
            <a:endParaRPr lang="en-US" sz="1542" dirty="0"/>
          </a:p>
        </p:txBody>
      </p:sp>
      <p:sp>
        <p:nvSpPr>
          <p:cNvPr id="14" name="Text 8"/>
          <p:cNvSpPr/>
          <p:nvPr/>
        </p:nvSpPr>
        <p:spPr>
          <a:xfrm>
            <a:off x="6362997" y="3188693"/>
            <a:ext cx="240387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Complex Relationships</a:t>
            </a:r>
            <a:endParaRPr lang="en-US" sz="1625" dirty="0"/>
          </a:p>
        </p:txBody>
      </p:sp>
      <p:sp>
        <p:nvSpPr>
          <p:cNvPr id="15" name="Text 9"/>
          <p:cNvSpPr/>
          <p:nvPr/>
        </p:nvSpPr>
        <p:spPr>
          <a:xfrm>
            <a:off x="6362998" y="3546376"/>
            <a:ext cx="4983163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Handled via a well-designed star schema for efficient data querying.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Resolution -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Solved by designing star schema and optimized relationships</a:t>
            </a:r>
          </a:p>
        </p:txBody>
      </p:sp>
      <p:sp>
        <p:nvSpPr>
          <p:cNvPr id="16" name="Shape 10"/>
          <p:cNvSpPr/>
          <p:nvPr/>
        </p:nvSpPr>
        <p:spPr>
          <a:xfrm>
            <a:off x="651369" y="4802088"/>
            <a:ext cx="5351859" cy="1220093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69" y="4783038"/>
            <a:ext cx="5351859" cy="7620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375" y="4425256"/>
            <a:ext cx="496094" cy="49609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3238203" y="4549279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</a:t>
            </a:r>
            <a:endParaRPr lang="en-US" sz="1542" dirty="0"/>
          </a:p>
        </p:txBody>
      </p:sp>
      <p:sp>
        <p:nvSpPr>
          <p:cNvPr id="20" name="Text 12"/>
          <p:cNvSpPr/>
          <p:nvPr/>
        </p:nvSpPr>
        <p:spPr>
          <a:xfrm>
            <a:off x="835717" y="5215532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Advanced KPIs</a:t>
            </a:r>
            <a:endParaRPr lang="en-US" sz="1625" dirty="0"/>
          </a:p>
        </p:txBody>
      </p:sp>
      <p:sp>
        <p:nvSpPr>
          <p:cNvPr id="21" name="Text 13"/>
          <p:cNvSpPr/>
          <p:nvPr/>
        </p:nvSpPr>
        <p:spPr>
          <a:xfrm>
            <a:off x="835717" y="5573216"/>
            <a:ext cx="4983163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Built using sophisticated DAX expressions for accurate metrics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Resolution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Handled using advanced DAX measures and time intelligence.</a:t>
            </a: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6188772" y="4802088"/>
            <a:ext cx="5351859" cy="1825289"/>
          </a:xfrm>
          <a:prstGeom prst="roundRect">
            <a:avLst>
              <a:gd name="adj" fmla="val 7495"/>
            </a:avLst>
          </a:prstGeom>
          <a:solidFill>
            <a:srgbClr val="FFFFFF"/>
          </a:solidFill>
          <a:ln/>
        </p:spPr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72" y="4783038"/>
            <a:ext cx="5351859" cy="76200"/>
          </a:xfrm>
          <a:prstGeom prst="rect">
            <a:avLst/>
          </a:prstGeom>
        </p:spPr>
      </p:pic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532" y="4425256"/>
            <a:ext cx="496094" cy="496094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755360" y="4549279"/>
            <a:ext cx="198438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US" sz="1542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4</a:t>
            </a:r>
            <a:endParaRPr lang="en-US" sz="1542" dirty="0"/>
          </a:p>
        </p:txBody>
      </p:sp>
      <p:sp>
        <p:nvSpPr>
          <p:cNvPr id="26" name="Text 16"/>
          <p:cNvSpPr/>
          <p:nvPr/>
        </p:nvSpPr>
        <p:spPr>
          <a:xfrm>
            <a:off x="6373120" y="5215532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Dashboard Clutter</a:t>
            </a:r>
            <a:endParaRPr lang="en-US" sz="1625" dirty="0"/>
          </a:p>
        </p:txBody>
      </p:sp>
      <p:sp>
        <p:nvSpPr>
          <p:cNvPr id="27" name="Text 17"/>
          <p:cNvSpPr/>
          <p:nvPr/>
        </p:nvSpPr>
        <p:spPr>
          <a:xfrm>
            <a:off x="6275287" y="5569439"/>
            <a:ext cx="4983163" cy="680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Reduced through thoughtful redesign and user-centric layout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</a:t>
            </a:r>
          </a:p>
          <a:p>
            <a:pPr>
              <a:lnSpc>
                <a:spcPts val="2083"/>
              </a:lnSpc>
            </a:pPr>
            <a:r>
              <a:rPr lang="en-US" sz="1400" b="1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Resolution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- </a:t>
            </a:r>
            <a:r>
              <a:rPr lang="en-US" sz="14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Improved layout with focused KPIs and structured dashboards</a:t>
            </a:r>
            <a:r>
              <a:rPr lang="en-US" sz="14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</a:rPr>
              <a:t>.</a:t>
            </a:r>
          </a:p>
          <a:p>
            <a:pPr>
              <a:lnSpc>
                <a:spcPts val="2083"/>
              </a:lnSpc>
            </a:pP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92" y="938014"/>
            <a:ext cx="6922790" cy="516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Key Insights from the Dashboard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92" y="1626394"/>
            <a:ext cx="10869018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US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Our BI solution revealed critical insights that can directly inform strategic decisions for restaurants.</a:t>
            </a:r>
            <a:endParaRPr lang="en-US" sz="1292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2FB11D9-5ABF-B7E8-DEC6-1215EA33A113}"/>
              </a:ext>
            </a:extLst>
          </p:cNvPr>
          <p:cNvGrpSpPr/>
          <p:nvPr/>
        </p:nvGrpSpPr>
        <p:grpSpPr>
          <a:xfrm>
            <a:off x="658317" y="2030623"/>
            <a:ext cx="5351859" cy="2038152"/>
            <a:chOff x="619920" y="2142413"/>
            <a:chExt cx="5351859" cy="1999146"/>
          </a:xfrm>
        </p:grpSpPr>
        <p:sp>
          <p:nvSpPr>
            <p:cNvPr id="4" name="Shape 2"/>
            <p:cNvSpPr/>
            <p:nvPr/>
          </p:nvSpPr>
          <p:spPr>
            <a:xfrm>
              <a:off x="619920" y="2142413"/>
              <a:ext cx="5351859" cy="1999146"/>
            </a:xfrm>
            <a:prstGeom prst="roundRect">
              <a:avLst>
                <a:gd name="adj" fmla="val 9149"/>
              </a:avLst>
            </a:prstGeom>
            <a:solidFill>
              <a:srgbClr val="EFF0F6"/>
            </a:solidFill>
            <a:ln w="7620">
              <a:solidFill>
                <a:srgbClr val="C5C7D2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7918" y="2243871"/>
              <a:ext cx="496094" cy="496094"/>
            </a:xfrm>
            <a:prstGeom prst="rect">
              <a:avLst/>
            </a:prstGeom>
          </p:spPr>
        </p:pic>
        <p:pic>
          <p:nvPicPr>
            <p:cNvPr id="6" name="Image 1" descr="preencoded.png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4343" y="2380329"/>
              <a:ext cx="223243" cy="223243"/>
            </a:xfrm>
            <a:prstGeom prst="rect">
              <a:avLst/>
            </a:prstGeom>
          </p:spPr>
        </p:pic>
        <p:sp>
          <p:nvSpPr>
            <p:cNvPr id="7" name="Text 3"/>
            <p:cNvSpPr/>
            <p:nvPr/>
          </p:nvSpPr>
          <p:spPr>
            <a:xfrm>
              <a:off x="1459310" y="2369917"/>
              <a:ext cx="2287885" cy="2584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000"/>
                </a:lnSpc>
              </a:pPr>
              <a:r>
                <a:rPr lang="en-US" sz="1625" dirty="0">
                  <a:solidFill>
                    <a:srgbClr val="3D3E44"/>
                  </a:solidFill>
                  <a:latin typeface="Montserrat Medium" pitchFamily="34" charset="0"/>
                  <a:ea typeface="Montserrat Medium" pitchFamily="34" charset="-122"/>
                  <a:cs typeface="Montserrat Medium" pitchFamily="34" charset="-120"/>
                </a:rPr>
                <a:t>High Performer Items</a:t>
              </a:r>
              <a:endParaRPr lang="en-US" sz="1625" dirty="0"/>
            </a:p>
          </p:txBody>
        </p:sp>
        <p:sp>
          <p:nvSpPr>
            <p:cNvPr id="8" name="Text 4"/>
            <p:cNvSpPr/>
            <p:nvPr/>
          </p:nvSpPr>
          <p:spPr>
            <a:xfrm>
              <a:off x="797917" y="2729599"/>
              <a:ext cx="5008563" cy="134091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These items not only generate high revenue but also maintain strong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contribution margins, making them strategically important for menu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placement and promotions.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Their consistent demand across acquisition channels suggests stable </a:t>
              </a:r>
            </a:p>
            <a:p>
              <a:pPr algn="just">
                <a:lnSpc>
                  <a:spcPts val="2083"/>
                </a:lnSpc>
              </a:pPr>
              <a:r>
                <a:rPr lang="en-GB" sz="1292" dirty="0">
                  <a:solidFill>
                    <a:srgbClr val="3D3E44"/>
                  </a:solidFill>
                  <a:latin typeface="Inter Light" pitchFamily="34" charset="0"/>
                  <a:ea typeface="Inter Light" pitchFamily="34" charset="-122"/>
                  <a:cs typeface="Inter Light" pitchFamily="34" charset="-120"/>
                </a:rPr>
                <a:t>customer preference and brand loyalty toward these products.</a:t>
              </a:r>
              <a:endParaRPr lang="en-US" sz="1292" dirty="0"/>
            </a:p>
          </p:txBody>
        </p:sp>
      </p:grpSp>
      <p:sp>
        <p:nvSpPr>
          <p:cNvPr id="9" name="Shape 5"/>
          <p:cNvSpPr/>
          <p:nvPr/>
        </p:nvSpPr>
        <p:spPr>
          <a:xfrm>
            <a:off x="6096000" y="2062659"/>
            <a:ext cx="5351859" cy="2038152"/>
          </a:xfrm>
          <a:prstGeom prst="roundRect">
            <a:avLst>
              <a:gd name="adj" fmla="val 914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3472" y="2129388"/>
            <a:ext cx="496094" cy="496094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89898" y="2265715"/>
            <a:ext cx="223243" cy="22324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081291" y="2267609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Beverage Margins</a:t>
            </a:r>
            <a:endParaRPr lang="en-US" sz="1625" dirty="0"/>
          </a:p>
        </p:txBody>
      </p:sp>
      <p:sp>
        <p:nvSpPr>
          <p:cNvPr id="13" name="Text 7"/>
          <p:cNvSpPr/>
          <p:nvPr/>
        </p:nvSpPr>
        <p:spPr>
          <a:xfrm>
            <a:off x="6353470" y="2635979"/>
            <a:ext cx="5008563" cy="1395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Beverage products demonstrate lower cost-to-price ratios, resulting in 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significantly higher profit margins compared to food categories.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Upselling beverages alongside high-volume food items can substantially 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increase Average Order Value (AOV) and overall profitability.</a:t>
            </a:r>
            <a:endParaRPr lang="en-US" sz="1292" dirty="0"/>
          </a:p>
        </p:txBody>
      </p:sp>
      <p:sp>
        <p:nvSpPr>
          <p:cNvPr id="14" name="Shape 8"/>
          <p:cNvSpPr/>
          <p:nvPr/>
        </p:nvSpPr>
        <p:spPr>
          <a:xfrm>
            <a:off x="664666" y="4167992"/>
            <a:ext cx="5351859" cy="2271835"/>
          </a:xfrm>
          <a:prstGeom prst="roundRect">
            <a:avLst>
              <a:gd name="adj" fmla="val 786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315" y="4339642"/>
            <a:ext cx="496094" cy="496094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2740" y="4475968"/>
            <a:ext cx="223243" cy="223243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504057" y="4465754"/>
            <a:ext cx="286801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Organic Channel Retention</a:t>
            </a:r>
            <a:endParaRPr lang="en-US" sz="1625" dirty="0"/>
          </a:p>
        </p:txBody>
      </p:sp>
      <p:sp>
        <p:nvSpPr>
          <p:cNvPr id="18" name="Text 10"/>
          <p:cNvSpPr/>
          <p:nvPr/>
        </p:nvSpPr>
        <p:spPr>
          <a:xfrm>
            <a:off x="836314" y="4972062"/>
            <a:ext cx="5008563" cy="1234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Organic customers show higher repeat purchase behaviour, indicating stronger brand trust and long-term engagement.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Marketing investments in SEO and brand visibility may yield better long-term ROI compared to short-term paid acquisition campaigns.</a:t>
            </a:r>
            <a:endParaRPr lang="en-US" sz="1292" dirty="0"/>
          </a:p>
        </p:txBody>
      </p:sp>
      <p:sp>
        <p:nvSpPr>
          <p:cNvPr id="19" name="Shape 11"/>
          <p:cNvSpPr/>
          <p:nvPr/>
        </p:nvSpPr>
        <p:spPr>
          <a:xfrm>
            <a:off x="6096000" y="4167993"/>
            <a:ext cx="5437683" cy="2271834"/>
          </a:xfrm>
          <a:prstGeom prst="roundRect">
            <a:avLst>
              <a:gd name="adj" fmla="val 7869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3472" y="4339642"/>
            <a:ext cx="496094" cy="496094"/>
          </a:xfrm>
          <a:prstGeom prst="rect">
            <a:avLst/>
          </a:prstGeom>
        </p:spPr>
      </p:pic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898" y="4475968"/>
            <a:ext cx="223243" cy="22324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6985992" y="4452954"/>
            <a:ext cx="206742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Delivery Delays</a:t>
            </a:r>
            <a:endParaRPr lang="en-US" sz="1625" dirty="0"/>
          </a:p>
        </p:txBody>
      </p:sp>
      <p:sp>
        <p:nvSpPr>
          <p:cNvPr id="23" name="Text 13"/>
          <p:cNvSpPr/>
          <p:nvPr/>
        </p:nvSpPr>
        <p:spPr>
          <a:xfrm>
            <a:off x="6353470" y="4972062"/>
            <a:ext cx="5008563" cy="1234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Increased delivery time directly impacts customer ratings and contributes to higher negative feedback percentages.</a:t>
            </a:r>
          </a:p>
          <a:p>
            <a:pPr>
              <a:lnSpc>
                <a:spcPts val="2083"/>
              </a:lnSpc>
            </a:pPr>
            <a:r>
              <a:rPr lang="en-GB" sz="1292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Operational improvements in route optimization and peak-hour resource allocation can significantly reduce delays and improve satisfaction.</a:t>
            </a:r>
            <a:endParaRPr lang="en-US" sz="1292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446" y="0"/>
            <a:ext cx="4243553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2308" y="572769"/>
            <a:ext cx="6998765" cy="69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42"/>
              </a:lnSpc>
            </a:pPr>
            <a:r>
              <a:rPr lang="en-US" sz="32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Feature Enhancements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342313" y="1434527"/>
            <a:ext cx="760613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083"/>
              </a:lnSpc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To further elevate the Business Intelligence solution, the following advanced analytical enhancements are proposed. These improvements aim to shift the system from descriptive and diagnostic analytics toward predictive and prescriptive decision-making, enabling proactive business strategies rather than reactive adjustments.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6" name="Text 2"/>
          <p:cNvSpPr/>
          <p:nvPr/>
        </p:nvSpPr>
        <p:spPr>
          <a:xfrm>
            <a:off x="342313" y="2691430"/>
            <a:ext cx="229781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Predictive Analytics</a:t>
            </a:r>
            <a:endParaRPr lang="en-US" sz="1625" dirty="0"/>
          </a:p>
        </p:txBody>
      </p:sp>
      <p:sp>
        <p:nvSpPr>
          <p:cNvPr id="7" name="Text 3"/>
          <p:cNvSpPr/>
          <p:nvPr/>
        </p:nvSpPr>
        <p:spPr>
          <a:xfrm>
            <a:off x="342313" y="2930249"/>
            <a:ext cx="7606134" cy="819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Implement time-series forecasting models to predict monthly revenue and demand.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Identify seasonal sales spikes for specific menu categories (e.g., beverages during summer).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Enable demand forecasting at city and item level to optimize inventory and staffing.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9" name="Text 4"/>
          <p:cNvSpPr/>
          <p:nvPr/>
        </p:nvSpPr>
        <p:spPr>
          <a:xfrm>
            <a:off x="342310" y="3916384"/>
            <a:ext cx="229781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Price Optimization</a:t>
            </a:r>
            <a:endParaRPr lang="en-US" sz="1625" dirty="0"/>
          </a:p>
        </p:txBody>
      </p:sp>
      <p:sp>
        <p:nvSpPr>
          <p:cNvPr id="10" name="Text 5"/>
          <p:cNvSpPr/>
          <p:nvPr/>
        </p:nvSpPr>
        <p:spPr>
          <a:xfrm>
            <a:off x="342309" y="4208678"/>
            <a:ext cx="6998764" cy="264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Analyse price sensitivity across customer segments and acquisition channels.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Identify high-volume, low-margin products suitable for price revision.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Simulate the impact of price adjustments on overall revenue and profit.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2" name="Text 6"/>
          <p:cNvSpPr/>
          <p:nvPr/>
        </p:nvSpPr>
        <p:spPr>
          <a:xfrm>
            <a:off x="342312" y="5114307"/>
            <a:ext cx="229781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00"/>
              </a:lnSpc>
            </a:pPr>
            <a:r>
              <a:rPr lang="en-US" sz="1625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Churn Modeling</a:t>
            </a:r>
            <a:endParaRPr lang="en-US" sz="1625" dirty="0"/>
          </a:p>
        </p:txBody>
      </p:sp>
      <p:sp>
        <p:nvSpPr>
          <p:cNvPr id="13" name="Text 7"/>
          <p:cNvSpPr/>
          <p:nvPr/>
        </p:nvSpPr>
        <p:spPr>
          <a:xfrm>
            <a:off x="342310" y="5450365"/>
            <a:ext cx="7376034" cy="83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Use repeat purchase frequency and sentiment scores to predict churn probability.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Segment customers based on loyalty behaviour and purchasing patterns. </a:t>
            </a:r>
          </a:p>
          <a:p>
            <a:pPr marL="285750" indent="-285750">
              <a:lnSpc>
                <a:spcPts val="2083"/>
              </a:lnSpc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Design targeted promotional campaigns for high-risk segments.</a:t>
            </a:r>
            <a:endParaRPr lang="en-US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8876" y="467452"/>
            <a:ext cx="6965057" cy="388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42"/>
              </a:lnSpc>
            </a:pPr>
            <a:r>
              <a:rPr lang="en-US" sz="2417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Conclusion: Transforming Data into Strategy</a:t>
            </a:r>
            <a:endParaRPr lang="en-US" sz="2417" dirty="0"/>
          </a:p>
        </p:txBody>
      </p:sp>
      <p:sp>
        <p:nvSpPr>
          <p:cNvPr id="3" name="Text 1"/>
          <p:cNvSpPr/>
          <p:nvPr/>
        </p:nvSpPr>
        <p:spPr>
          <a:xfrm>
            <a:off x="1008876" y="906751"/>
            <a:ext cx="9811842" cy="174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This project successfully demonstrates the power of Business Intelligence in converting raw operational data </a:t>
            </a:r>
          </a:p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into actionable strategic insights.</a:t>
            </a:r>
          </a:p>
        </p:txBody>
      </p:sp>
      <p:sp>
        <p:nvSpPr>
          <p:cNvPr id="5" name="Text 2"/>
          <p:cNvSpPr/>
          <p:nvPr/>
        </p:nvSpPr>
        <p:spPr>
          <a:xfrm>
            <a:off x="1008874" y="2905387"/>
            <a:ext cx="2435651" cy="55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ts val="2167"/>
              </a:lnSpc>
            </a:pPr>
            <a:r>
              <a:rPr lang="en-US" sz="1708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Delivery Performance</a:t>
            </a:r>
            <a:endParaRPr lang="en-US" sz="1708" dirty="0"/>
          </a:p>
        </p:txBody>
      </p:sp>
      <p:sp>
        <p:nvSpPr>
          <p:cNvPr id="7" name="Text 4"/>
          <p:cNvSpPr/>
          <p:nvPr/>
        </p:nvSpPr>
        <p:spPr>
          <a:xfrm>
            <a:off x="1008874" y="4325134"/>
            <a:ext cx="2217688" cy="55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67"/>
              </a:lnSpc>
            </a:pPr>
            <a:r>
              <a:rPr lang="en-US" sz="1708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Optimization</a:t>
            </a:r>
            <a:endParaRPr lang="en-US" sz="1708" dirty="0"/>
          </a:p>
        </p:txBody>
      </p:sp>
      <p:sp>
        <p:nvSpPr>
          <p:cNvPr id="8" name="Text 5"/>
          <p:cNvSpPr/>
          <p:nvPr/>
        </p:nvSpPr>
        <p:spPr>
          <a:xfrm>
            <a:off x="781738" y="1485641"/>
            <a:ext cx="2346913" cy="55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67"/>
              </a:lnSpc>
            </a:pPr>
            <a:r>
              <a:rPr lang="en-US" sz="1708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Revenue Growth</a:t>
            </a:r>
            <a:endParaRPr lang="en-US" sz="1708" dirty="0"/>
          </a:p>
        </p:txBody>
      </p:sp>
      <p:sp>
        <p:nvSpPr>
          <p:cNvPr id="9" name="Text 6"/>
          <p:cNvSpPr/>
          <p:nvPr/>
        </p:nvSpPr>
        <p:spPr>
          <a:xfrm>
            <a:off x="1008876" y="5844202"/>
            <a:ext cx="9811842" cy="37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By leveraging BI, restaurants can achieve significant improvements in revenue, menu profitability, customer loyalty, </a:t>
            </a:r>
          </a:p>
          <a:p>
            <a:r>
              <a:rPr lang="en-US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and delivery efficiency</a:t>
            </a:r>
            <a:r>
              <a:rPr lang="en-US" sz="1292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0BE64E-810C-6347-6DE1-35546BDDF79A}"/>
              </a:ext>
            </a:extLst>
          </p:cNvPr>
          <p:cNvSpPr txBox="1"/>
          <p:nvPr/>
        </p:nvSpPr>
        <p:spPr>
          <a:xfrm>
            <a:off x="1008874" y="1950943"/>
            <a:ext cx="9040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Organic channel contributed the highest revenue (~15M), showing strong low-cost acquisition performance.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High-performing items like Sweet Lassi and Veg Cutlet significantly drive total sales volume.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Beverage category recorded the highest overall profit contribution among all categories.</a:t>
            </a:r>
            <a:endParaRPr lang="en-IN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22E413-E9C9-0C12-77A5-FC8E84EB424F}"/>
              </a:ext>
            </a:extLst>
          </p:cNvPr>
          <p:cNvSpPr txBox="1"/>
          <p:nvPr/>
        </p:nvSpPr>
        <p:spPr>
          <a:xfrm>
            <a:off x="1008874" y="3373084"/>
            <a:ext cx="85578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Average delivery time stabilized around ~44 minutes across cities.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Delay rate (~39% on-time shown in dashboard) directly correlated with negative feedback %.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Distance analysis highlighted operational inefficiencies in long-range deliveries.</a:t>
            </a:r>
            <a:endParaRPr lang="en-IN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928CE1-CD83-F6B2-CC1E-E19782DADAE0}"/>
              </a:ext>
            </a:extLst>
          </p:cNvPr>
          <p:cNvSpPr txBox="1"/>
          <p:nvPr/>
        </p:nvSpPr>
        <p:spPr>
          <a:xfrm>
            <a:off x="1008874" y="4695807"/>
            <a:ext cx="86527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High Performer items identified using Quantity vs Profit matrix for pricing and promotion focus.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Certain high-volume items showed lower margins, indicating price optimization opportunities.</a:t>
            </a:r>
          </a:p>
          <a:p>
            <a:pPr indent="-285750">
              <a:buFont typeface="Wingdings" panose="05000000000000000000" pitchFamily="2" charset="2"/>
              <a:buChar char="Ø"/>
            </a:pPr>
            <a:r>
              <a:rPr lang="en-GB" sz="1600" dirty="0">
                <a:solidFill>
                  <a:srgbClr val="3D3E44"/>
                </a:solidFill>
                <a:latin typeface="Bahnschrift Light SemiCondensed" panose="020B0502040204020203" pitchFamily="34" charset="0"/>
                <a:ea typeface="Inter Light" pitchFamily="34" charset="-122"/>
              </a:rPr>
              <a:t>Least-performing items (e.g., low-volume wraps) flagged for repositioning or bundling strategy.</a:t>
            </a:r>
            <a:endParaRPr lang="en-IN" sz="1600" dirty="0">
              <a:solidFill>
                <a:srgbClr val="3D3E44"/>
              </a:solidFill>
              <a:latin typeface="Bahnschrift Light SemiCondensed" panose="020B0502040204020203" pitchFamily="34" charset="0"/>
              <a:ea typeface="Inter Light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12192000" cy="6864747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427064" y="946745"/>
            <a:ext cx="1788914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50"/>
              </a:lnSpc>
            </a:pPr>
            <a:endParaRPr lang="en-US" sz="2667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1CA686-1EFC-7E3E-97F6-6E3F192B03C6}"/>
              </a:ext>
            </a:extLst>
          </p:cNvPr>
          <p:cNvGrpSpPr/>
          <p:nvPr/>
        </p:nvGrpSpPr>
        <p:grpSpPr>
          <a:xfrm>
            <a:off x="862641" y="103517"/>
            <a:ext cx="10351697" cy="6527494"/>
            <a:chOff x="1076403" y="1285504"/>
            <a:chExt cx="10147337" cy="5572496"/>
          </a:xfrm>
        </p:grpSpPr>
        <p:sp>
          <p:nvSpPr>
            <p:cNvPr id="3" name="Shape 1"/>
            <p:cNvSpPr/>
            <p:nvPr/>
          </p:nvSpPr>
          <p:spPr>
            <a:xfrm>
              <a:off x="1076403" y="1285504"/>
              <a:ext cx="10147337" cy="5572496"/>
            </a:xfrm>
            <a:prstGeom prst="roundRect">
              <a:avLst>
                <a:gd name="adj" fmla="val 3632"/>
              </a:avLst>
            </a:prstGeom>
            <a:solidFill>
              <a:srgbClr val="C6C9DC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Text 3"/>
            <p:cNvSpPr/>
            <p:nvPr/>
          </p:nvSpPr>
          <p:spPr>
            <a:xfrm>
              <a:off x="1346998" y="2069342"/>
              <a:ext cx="9648428" cy="464367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We would like to express our heartfelt gratitude to: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Infosys Springboard Team– for organizing this valuable internship opportunity.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Our Mentor(Nityasree mam) - for her continuous support and feedback.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My Teammates(Garvit Rajpoot, Vanshika) – for collaboration, encouragement,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and insights. This internship has been a significant step in our professional growth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and technical journey.</a:t>
              </a:r>
            </a:p>
            <a:p>
              <a:pPr algn="ctr"/>
              <a:endParaRPr lang="en-US" sz="2800" dirty="0"/>
            </a:p>
            <a:p>
              <a:endParaRPr lang="en-US" sz="2800" dirty="0"/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Microsoft Power BI Documentation - Food_trend.pbix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Infosys Springboard Virtual Internship course materials - dim_customer.csv,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	dim_delivery_partner_.csv, dim_menu_item.csv, dim_restaurant.csv,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	fact_delivery_performance.csv, fact_order_items.csv, fact_orders.csv, 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	fact_ratings.csv, Balaji Fast Food Sales.csv</a:t>
              </a:r>
            </a:p>
            <a:p>
              <a:pPr algn="just"/>
              <a:r>
                <a:rPr lang="en-US" sz="2400" dirty="0">
                  <a:solidFill>
                    <a:srgbClr val="3D3E44"/>
                  </a:solidFill>
                  <a:latin typeface="Bahnschrift Light SemiCondensed" panose="020B0502040204020203" pitchFamily="34" charset="0"/>
                  <a:ea typeface="Inter Light" pitchFamily="34" charset="-122"/>
                </a:rPr>
                <a:t>Data Sources – Dataful and Kaggle</a:t>
              </a:r>
            </a:p>
          </p:txBody>
        </p:sp>
      </p:grpSp>
      <p:sp>
        <p:nvSpPr>
          <p:cNvPr id="2" name="Text 0"/>
          <p:cNvSpPr/>
          <p:nvPr/>
        </p:nvSpPr>
        <p:spPr>
          <a:xfrm>
            <a:off x="3652540" y="545505"/>
            <a:ext cx="4886920" cy="372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917"/>
              </a:lnSpc>
            </a:pPr>
            <a:r>
              <a:rPr lang="en-US" sz="4000" b="1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Acknowledgment</a:t>
            </a:r>
            <a:endParaRPr lang="en-US" sz="4000" b="1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830736F5-4E71-CC26-DFD4-CF4244936483}"/>
              </a:ext>
            </a:extLst>
          </p:cNvPr>
          <p:cNvSpPr/>
          <p:nvPr/>
        </p:nvSpPr>
        <p:spPr>
          <a:xfrm>
            <a:off x="3616596" y="3555102"/>
            <a:ext cx="4886920" cy="372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917"/>
              </a:lnSpc>
            </a:pPr>
            <a:r>
              <a:rPr lang="en-US" sz="4000" b="1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References</a:t>
            </a:r>
            <a:endParaRPr lang="en-US" sz="40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A83F7EA-F316-9C62-E687-BA107E053C07}"/>
              </a:ext>
            </a:extLst>
          </p:cNvPr>
          <p:cNvSpPr/>
          <p:nvPr/>
        </p:nvSpPr>
        <p:spPr>
          <a:xfrm>
            <a:off x="2722278" y="2130573"/>
            <a:ext cx="6747443" cy="156966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96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7883738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519</TotalTime>
  <Words>1154</Words>
  <Application>Microsoft Office PowerPoint</Application>
  <PresentationFormat>Widescreen</PresentationFormat>
  <Paragraphs>141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Batang</vt:lpstr>
      <vt:lpstr>Arial</vt:lpstr>
      <vt:lpstr>Bahnschrift Light SemiCondensed</vt:lpstr>
      <vt:lpstr>Calibri</vt:lpstr>
      <vt:lpstr>Inter Light</vt:lpstr>
      <vt:lpstr>Montserrat Medium</vt:lpstr>
      <vt:lpstr>Trebuchet MS</vt:lpstr>
      <vt:lpstr>Wingdings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Shashank kumar Singh</dc:creator>
  <cp:lastModifiedBy>Shashank kumar Singh</cp:lastModifiedBy>
  <cp:revision>33</cp:revision>
  <dcterms:created xsi:type="dcterms:W3CDTF">2026-02-07T14:11:15Z</dcterms:created>
  <dcterms:modified xsi:type="dcterms:W3CDTF">2026-02-19T15:48:44Z</dcterms:modified>
</cp:coreProperties>
</file>