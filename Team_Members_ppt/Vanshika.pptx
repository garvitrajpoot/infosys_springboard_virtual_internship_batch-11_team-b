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60" r:id="rId7"/>
    <p:sldId id="258" r:id="rId8"/>
    <p:sldId id="261" r:id="rId9"/>
    <p:sldId id="262" r:id="rId10"/>
    <p:sldId id="283" r:id="rId11"/>
    <p:sldId id="286" r:id="rId12"/>
    <p:sldId id="287" r:id="rId13"/>
    <p:sldId id="28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89BDB39-391B-456A-95AD-4D09BD396613}">
          <p14:sldIdLst>
            <p14:sldId id="256"/>
            <p14:sldId id="257"/>
            <p14:sldId id="260"/>
          </p14:sldIdLst>
        </p14:section>
        <p14:section name="Untitled Section" id="{D7D7B786-FA45-4189-88D5-2B9BEC4A3156}">
          <p14:sldIdLst>
            <p14:sldId id="258"/>
            <p14:sldId id="261"/>
            <p14:sldId id="262"/>
            <p14:sldId id="283"/>
            <p14:sldId id="286"/>
            <p14:sldId id="287"/>
            <p14:sldId id="288"/>
          </p14:sldIdLst>
        </p14:section>
        <p14:section name="Untitled Section" id="{8930EC0D-2A33-4C68-B527-BFFC7283A3A0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1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7661663385826768E-2"/>
          <c:y val="0.24931118485974552"/>
          <c:w val="0.89233833661417328"/>
          <c:h val="0.674537560237399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26-4A8B-80C3-31E50F3D26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426-4A8B-80C3-31E50F3D26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98401328"/>
        <c:axId val="598403248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426-4A8B-80C3-31E50F3D26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98401328"/>
        <c:axId val="598403248"/>
      </c:lineChart>
      <c:catAx>
        <c:axId val="59840132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98403248"/>
        <c:crosses val="autoZero"/>
        <c:auto val="1"/>
        <c:lblAlgn val="ctr"/>
        <c:lblOffset val="100"/>
        <c:noMultiLvlLbl val="0"/>
      </c:catAx>
      <c:valAx>
        <c:axId val="598403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84013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bubbleSize>
            <c:numRef>
              <c:f>Sheet1!$C$2:$C$4</c:f>
              <c:numCache>
                <c:formatCode>General</c:formatCode>
                <c:ptCount val="3"/>
                <c:pt idx="0">
                  <c:v>10</c:v>
                </c:pt>
                <c:pt idx="1">
                  <c:v>4</c:v>
                </c:pt>
                <c:pt idx="2">
                  <c:v>8</c:v>
                </c:pt>
              </c:numCache>
            </c:numRef>
          </c:bubbleSize>
          <c:bubble3D val="1"/>
          <c:extLst>
            <c:ext xmlns:c16="http://schemas.microsoft.com/office/drawing/2014/chart" uri="{C3380CC4-5D6E-409C-BE32-E72D297353CC}">
              <c16:uniqueId val="{00000000-534B-4FDC-9B3B-C64261F513D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bubbleScale val="100"/>
        <c:showNegBubbles val="0"/>
        <c:axId val="598412848"/>
        <c:axId val="598407088"/>
      </c:bubbleChart>
      <c:valAx>
        <c:axId val="5984128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8407088"/>
        <c:crosses val="autoZero"/>
        <c:crossBetween val="midCat"/>
      </c:valAx>
      <c:valAx>
        <c:axId val="598407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841284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4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2/10/2026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6437" y="419145"/>
            <a:ext cx="7077457" cy="4439181"/>
          </a:xfrm>
        </p:spPr>
        <p:txBody>
          <a:bodyPr/>
          <a:lstStyle/>
          <a:p>
            <a:r>
              <a:rPr lang="en-US" sz="4800" dirty="0">
                <a:solidFill>
                  <a:srgbClr val="00B0F0"/>
                </a:solidFill>
                <a:latin typeface="Garet Bold"/>
                <a:ea typeface="Garet Bold"/>
                <a:cs typeface="Garet Bold"/>
                <a:sym typeface="Garet Bold"/>
              </a:rPr>
              <a:t>FOODTRENDS UNDERSTANDING CUSTOMER PREFERENCES IN FB</a:t>
            </a:r>
            <a:br>
              <a:rPr lang="en-US" sz="4800" dirty="0">
                <a:solidFill>
                  <a:srgbClr val="00B0F0"/>
                </a:solidFill>
                <a:latin typeface="Garet Bold"/>
                <a:ea typeface="Garet Bold"/>
                <a:cs typeface="Garet Bold"/>
                <a:sym typeface="Garet Bold"/>
              </a:rPr>
            </a:b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1671" y="5008217"/>
            <a:ext cx="7077456" cy="858797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Garet"/>
                <a:ea typeface="Garet"/>
                <a:cs typeface="Garet"/>
                <a:sym typeface="Garet"/>
              </a:rPr>
              <a:t>Submitted By: Vanshika</a:t>
            </a:r>
          </a:p>
          <a:p>
            <a:r>
              <a:rPr lang="en-US" sz="2000" b="1" dirty="0">
                <a:latin typeface="Garet"/>
                <a:ea typeface="Garet"/>
                <a:cs typeface="Garet"/>
                <a:sym typeface="Garet"/>
              </a:rPr>
              <a:t>                     TEAM B </a:t>
            </a:r>
          </a:p>
          <a:p>
            <a:pPr marL="0" indent="0">
              <a:buNone/>
            </a:pPr>
            <a:endParaRPr lang="en-US" sz="2000" b="1" dirty="0"/>
          </a:p>
        </p:txBody>
      </p:sp>
      <p:grpSp>
        <p:nvGrpSpPr>
          <p:cNvPr id="4" name="Group 14">
            <a:extLst>
              <a:ext uri="{FF2B5EF4-FFF2-40B4-BE49-F238E27FC236}">
                <a16:creationId xmlns:a16="http://schemas.microsoft.com/office/drawing/2014/main" id="{943391C3-61B4-3777-F8F7-73F45929A06D}"/>
              </a:ext>
            </a:extLst>
          </p:cNvPr>
          <p:cNvGrpSpPr/>
          <p:nvPr/>
        </p:nvGrpSpPr>
        <p:grpSpPr>
          <a:xfrm>
            <a:off x="7786255" y="990986"/>
            <a:ext cx="4276436" cy="3867340"/>
            <a:chOff x="0" y="0"/>
            <a:chExt cx="812800" cy="812800"/>
          </a:xfrm>
        </p:grpSpPr>
        <p:sp>
          <p:nvSpPr>
            <p:cNvPr id="5" name="Freeform 15">
              <a:extLst>
                <a:ext uri="{FF2B5EF4-FFF2-40B4-BE49-F238E27FC236}">
                  <a16:creationId xmlns:a16="http://schemas.microsoft.com/office/drawing/2014/main" id="{72127176-95C2-1B8C-3F51-AA56EF5377A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2"/>
              <a:stretch>
                <a:fillRect l="-8250" r="-8250"/>
              </a:stretch>
            </a:blipFill>
            <a:ln w="762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935024" cy="2025073"/>
          </a:xfrm>
        </p:spPr>
        <p:txBody>
          <a:bodyPr>
            <a:normAutofit/>
          </a:bodyPr>
          <a:lstStyle/>
          <a:p>
            <a:r>
              <a:rPr lang="en-US" sz="4400" dirty="0"/>
              <a:t>PROJECT OBJECTIVE &amp; DESCRIPTION</a:t>
            </a:r>
            <a:br>
              <a:rPr lang="en-US" sz="4400" dirty="0"/>
            </a:br>
            <a:endParaRPr lang="en-US" sz="4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04" y="1426094"/>
            <a:ext cx="9771496" cy="5122488"/>
          </a:xfrm>
        </p:spPr>
        <p:txBody>
          <a:bodyPr>
            <a:normAutofit/>
          </a:bodyPr>
          <a:lstStyle/>
          <a:p>
            <a:endParaRPr lang="en-US" sz="3600" b="1" dirty="0">
              <a:solidFill>
                <a:schemeClr val="bg1"/>
              </a:solidFill>
            </a:endParaRPr>
          </a:p>
          <a:p>
            <a:r>
              <a:rPr lang="en-US" sz="3600" b="1" dirty="0">
                <a:solidFill>
                  <a:schemeClr val="bg1"/>
                </a:solidFill>
              </a:rPr>
              <a:t>Objective:</a:t>
            </a:r>
          </a:p>
          <a:p>
            <a:r>
              <a:rPr lang="en-US" sz="2400" dirty="0"/>
              <a:t>To </a:t>
            </a:r>
            <a:r>
              <a:rPr lang="en-US" sz="2400" dirty="0" err="1"/>
              <a:t>analyse</a:t>
            </a:r>
            <a:r>
              <a:rPr lang="en-US" sz="2400" dirty="0"/>
              <a:t> 138,000+ transaction records to bridge the gap between "Customer Demand" (what they order) and "Operational Supply" (how we deliver).</a:t>
            </a:r>
          </a:p>
          <a:p>
            <a:endParaRPr lang="en-US" sz="2400" dirty="0"/>
          </a:p>
          <a:p>
            <a:r>
              <a:rPr lang="en-US" sz="3200" b="1" dirty="0">
                <a:solidFill>
                  <a:schemeClr val="bg1"/>
                </a:solidFill>
                <a:latin typeface="Garet Bold"/>
                <a:ea typeface="Garet Bold"/>
                <a:cs typeface="Garet Bold"/>
                <a:sym typeface="Garet Bold"/>
              </a:rPr>
              <a:t>Description:</a:t>
            </a:r>
          </a:p>
          <a:p>
            <a:r>
              <a:rPr lang="en-US" sz="2000" dirty="0"/>
              <a:t>The FB industry operates on thin margins. This project </a:t>
            </a:r>
            <a:r>
              <a:rPr lang="en-US" sz="2000" dirty="0" err="1"/>
              <a:t>utilises</a:t>
            </a:r>
            <a:r>
              <a:rPr lang="en-US" sz="2000" dirty="0"/>
              <a:t> Power BI to transform raw transactional data into a strategic decision-support system, focusing on Menu </a:t>
            </a:r>
            <a:r>
              <a:rPr lang="en-US" sz="2000" dirty="0" err="1"/>
              <a:t>Optimisation</a:t>
            </a:r>
            <a:r>
              <a:rPr lang="en-US" sz="2000" dirty="0"/>
              <a:t>, Logistics Efficiency, and Customer Segmentation.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049" y="1410854"/>
            <a:ext cx="11221351" cy="85905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Garet Bold"/>
                <a:ea typeface="Garet Bold"/>
                <a:cs typeface="Garet Bold"/>
                <a:sym typeface="Garet Bold"/>
              </a:rPr>
              <a:t>SYSTEM DESIGN &amp; WORKFLOW</a:t>
            </a:r>
            <a:br>
              <a:rPr lang="en-US" dirty="0">
                <a:latin typeface="Garet Bold"/>
                <a:ea typeface="Garet Bold"/>
                <a:cs typeface="Garet Bold"/>
                <a:sym typeface="Garet Bold"/>
              </a:rPr>
            </a:b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2509" y="1847273"/>
            <a:ext cx="10418618" cy="4832927"/>
          </a:xfrm>
        </p:spPr>
        <p:txBody>
          <a:bodyPr>
            <a:normAutofit lnSpcReduction="10000"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Garet Bold"/>
                <a:ea typeface="Garet Bold"/>
                <a:cs typeface="Garet Bold"/>
                <a:sym typeface="Garet Bold"/>
              </a:rPr>
              <a:t>Data Architecture:</a:t>
            </a:r>
          </a:p>
          <a:p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  <a:ea typeface="Garet Bold"/>
                <a:sym typeface="Garet Bold"/>
              </a:rPr>
              <a:t>Implemented a Star Schema Data Model connecting a central </a:t>
            </a:r>
            <a:r>
              <a:rPr lang="en-US" b="1" dirty="0" err="1">
                <a:solidFill>
                  <a:schemeClr val="accent2">
                    <a:lumMod val="40000"/>
                    <a:lumOff val="60000"/>
                  </a:schemeClr>
                </a:solidFill>
                <a:ea typeface="Garet Bold"/>
                <a:sym typeface="Garet Bold"/>
              </a:rPr>
              <a:t>Fact_Orders</a:t>
            </a:r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  <a:ea typeface="Garet Bold"/>
                <a:sym typeface="Garet Bold"/>
              </a:rPr>
              <a:t> table to 5 Dimension tables (Dim_Customer, </a:t>
            </a:r>
            <a:r>
              <a:rPr lang="en-US" b="1" dirty="0" err="1">
                <a:solidFill>
                  <a:schemeClr val="accent2">
                    <a:lumMod val="40000"/>
                    <a:lumOff val="60000"/>
                  </a:schemeClr>
                </a:solidFill>
                <a:ea typeface="Garet Bold"/>
                <a:sym typeface="Garet Bold"/>
              </a:rPr>
              <a:t>Dim_Restaurant</a:t>
            </a:r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  <a:ea typeface="Garet Bold"/>
                <a:sym typeface="Garet Bold"/>
              </a:rPr>
              <a:t>, etc.).</a:t>
            </a:r>
          </a:p>
          <a:p>
            <a:endParaRPr lang="en-US" sz="1800" b="1" dirty="0">
              <a:solidFill>
                <a:schemeClr val="bg1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r>
              <a:rPr lang="en-US" sz="1800" b="1" dirty="0">
                <a:solidFill>
                  <a:schemeClr val="bg1"/>
                </a:solidFill>
                <a:latin typeface="Garet Bold"/>
                <a:ea typeface="Garet Bold"/>
                <a:cs typeface="Garet Bold"/>
                <a:sym typeface="Garet Bold"/>
              </a:rPr>
              <a:t>ETL:</a:t>
            </a:r>
          </a:p>
          <a:p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  <a:ea typeface="Garet Bold"/>
                <a:cs typeface="Garet Bold"/>
                <a:sym typeface="Garet Bold"/>
              </a:rPr>
              <a:t>Cleaned null ratings and </a:t>
            </a:r>
            <a:r>
              <a:rPr lang="en-US" b="1" dirty="0" err="1">
                <a:solidFill>
                  <a:schemeClr val="accent2">
                    <a:lumMod val="40000"/>
                    <a:lumOff val="60000"/>
                  </a:schemeClr>
                </a:solidFill>
                <a:ea typeface="Garet Bold"/>
                <a:cs typeface="Garet Bold"/>
                <a:sym typeface="Garet Bold"/>
              </a:rPr>
              <a:t>standardised</a:t>
            </a:r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  <a:ea typeface="Garet Bold"/>
                <a:cs typeface="Garet Bold"/>
                <a:sym typeface="Garet Bold"/>
              </a:rPr>
              <a:t> city names using Power Query to ensure data integrity.</a:t>
            </a:r>
          </a:p>
          <a:p>
            <a:endParaRPr lang="en-US" sz="1800" b="1" dirty="0">
              <a:solidFill>
                <a:schemeClr val="bg1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r>
              <a:rPr lang="en-US" sz="1800" b="1" dirty="0">
                <a:solidFill>
                  <a:schemeClr val="bg1"/>
                </a:solidFill>
                <a:latin typeface="Garet Bold"/>
                <a:ea typeface="Garet Bold"/>
                <a:cs typeface="Garet Bold"/>
                <a:sym typeface="Garet Bold"/>
              </a:rPr>
              <a:t>Modelling:</a:t>
            </a:r>
          </a:p>
          <a:p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Garet Bold"/>
                <a:sym typeface="Garet Bold"/>
              </a:rPr>
              <a:t>Established active One-to-Many relationships for accurate filtering and robust data analysis.</a:t>
            </a:r>
          </a:p>
          <a:p>
            <a:endParaRPr lang="en-US" sz="1800" b="1" dirty="0">
              <a:solidFill>
                <a:schemeClr val="bg1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r>
              <a:rPr lang="en-US" sz="1800" b="1" dirty="0" err="1">
                <a:solidFill>
                  <a:schemeClr val="bg1"/>
                </a:solidFill>
                <a:latin typeface="Garet Bold"/>
                <a:ea typeface="Garet Bold"/>
                <a:cs typeface="Garet Bold"/>
                <a:sym typeface="Garet Bold"/>
              </a:rPr>
              <a:t>Visualisation</a:t>
            </a:r>
            <a:r>
              <a:rPr lang="en-US" sz="1800" b="1" dirty="0">
                <a:solidFill>
                  <a:schemeClr val="bg1"/>
                </a:solidFill>
                <a:latin typeface="Garet Bold"/>
                <a:ea typeface="Garet Bold"/>
                <a:cs typeface="Garet Bold"/>
                <a:sym typeface="Garet Bold"/>
              </a:rPr>
              <a:t>:</a:t>
            </a:r>
          </a:p>
          <a:p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  <a:ea typeface="Garet Bold"/>
                <a:cs typeface="Garet Bold"/>
                <a:sym typeface="Garet Bold"/>
              </a:rPr>
              <a:t>Built 7 interactive dashboards for end-to-end analysis, providing comprehensive insights.</a:t>
            </a:r>
          </a:p>
          <a:p>
            <a:endParaRPr lang="en-US" b="1" dirty="0">
              <a:solidFill>
                <a:schemeClr val="accent2">
                  <a:lumMod val="40000"/>
                  <a:lumOff val="60000"/>
                </a:schemeClr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endParaRPr lang="en-US" b="1" dirty="0">
              <a:solidFill>
                <a:schemeClr val="accent2">
                  <a:lumMod val="40000"/>
                  <a:lumOff val="60000"/>
                </a:schemeClr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1311128"/>
          </a:xfrm>
        </p:spPr>
        <p:txBody>
          <a:bodyPr/>
          <a:lstStyle/>
          <a:p>
            <a:r>
              <a:rPr lang="en-US" sz="4400" dirty="0"/>
              <a:t>PROJECT EXECUTION MILESTONES</a:t>
            </a:r>
            <a:br>
              <a:rPr lang="en-US" sz="4400" dirty="0"/>
            </a:br>
            <a:endParaRPr lang="en-US" sz="44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3490" y="1626920"/>
            <a:ext cx="5032664" cy="1958323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latin typeface="Garet Bold"/>
                <a:ea typeface="Garet Bold"/>
                <a:cs typeface="Garet Bold"/>
                <a:sym typeface="Garet Bold"/>
              </a:rPr>
              <a:t>Milestone 1: Data Discovery</a:t>
            </a:r>
          </a:p>
          <a:p>
            <a:pPr marL="523239" lvl="1" indent="-285750"/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Telegraf"/>
                <a:ea typeface="Telegraf"/>
                <a:cs typeface="Telegraf"/>
                <a:sym typeface="Telegraf"/>
              </a:rPr>
              <a:t>Collected raw datasets from </a:t>
            </a:r>
            <a:r>
              <a:rPr 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Telegraf Bold"/>
                <a:ea typeface="Telegraf Bold"/>
                <a:cs typeface="Telegraf Bold"/>
                <a:sym typeface="Telegraf Bold"/>
              </a:rPr>
              <a:t>Kaggle</a:t>
            </a: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Telegraf"/>
                <a:ea typeface="Telegraf"/>
                <a:cs typeface="Telegraf"/>
                <a:sym typeface="Telegraf"/>
              </a:rPr>
              <a:t> and performed extensive cleaning.</a:t>
            </a:r>
          </a:p>
          <a:p>
            <a:pPr marL="523239" lvl="1" indent="-285750"/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Telegraf"/>
                <a:ea typeface="Telegraf"/>
                <a:cs typeface="Telegraf"/>
                <a:sym typeface="Telegraf"/>
              </a:rPr>
              <a:t>Created technical documentation for all preprocessing steps (handling nulls in ratings, fixing date formats, and normalizing text).</a:t>
            </a:r>
          </a:p>
          <a:p>
            <a:endParaRPr lang="en-US" sz="500" b="1" dirty="0">
              <a:solidFill>
                <a:schemeClr val="accent1">
                  <a:lumMod val="40000"/>
                  <a:lumOff val="60000"/>
                </a:schemeClr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endParaRPr lang="en-US" sz="5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F493B9-CFDA-6E0A-E941-728FD67E0606}"/>
              </a:ext>
            </a:extLst>
          </p:cNvPr>
          <p:cNvSpPr txBox="1"/>
          <p:nvPr/>
        </p:nvSpPr>
        <p:spPr>
          <a:xfrm>
            <a:off x="5948217" y="1428281"/>
            <a:ext cx="463896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7489" lvl="1"/>
            <a:r>
              <a:rPr lang="en-US" sz="2000" b="1" dirty="0">
                <a:solidFill>
                  <a:schemeClr val="bg1"/>
                </a:solidFill>
                <a:latin typeface="Telegraf Bold"/>
                <a:ea typeface="Telegraf Bold"/>
                <a:cs typeface="Telegraf Bold"/>
                <a:sym typeface="Telegraf Bold"/>
              </a:rPr>
              <a:t>Milestone 3: Deep Dive</a:t>
            </a:r>
          </a:p>
          <a:p>
            <a:pPr marL="237489" lvl="1"/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5232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Telegraf"/>
                <a:ea typeface="Telegraf"/>
                <a:cs typeface="Telegraf"/>
                <a:sym typeface="Telegraf"/>
              </a:rPr>
              <a:t>Added Menu Analysis and Sentiment Analysis pages.</a:t>
            </a:r>
          </a:p>
          <a:p>
            <a:pPr marL="5232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5232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Telegraf"/>
                <a:ea typeface="Telegraf"/>
                <a:cs typeface="Telegraf"/>
                <a:sym typeface="Telegraf"/>
              </a:rPr>
              <a:t>Updated documentation to include new DAX measures for product performance</a:t>
            </a:r>
          </a:p>
          <a:p>
            <a:pPr marL="237489" lvl="1"/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275387-3C37-2E97-A645-A0B61EBDE851}"/>
              </a:ext>
            </a:extLst>
          </p:cNvPr>
          <p:cNvSpPr txBox="1"/>
          <p:nvPr/>
        </p:nvSpPr>
        <p:spPr>
          <a:xfrm>
            <a:off x="-14434" y="4356752"/>
            <a:ext cx="5449455" cy="1819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7489" lvl="1">
              <a:lnSpc>
                <a:spcPts val="3079"/>
              </a:lnSpc>
            </a:pPr>
            <a:r>
              <a:rPr lang="en-US" b="1" dirty="0">
                <a:solidFill>
                  <a:schemeClr val="bg1"/>
                </a:solidFill>
                <a:latin typeface="Telegraf Bold"/>
                <a:ea typeface="Telegraf Bold"/>
                <a:cs typeface="Telegraf Bold"/>
                <a:sym typeface="Telegraf Bold"/>
              </a:rPr>
              <a:t>Milestone 2: Core Analysis </a:t>
            </a:r>
          </a:p>
          <a:p>
            <a:pPr marL="474979" lvl="1" indent="-237490">
              <a:buFont typeface="Arial"/>
              <a:buChar char="•"/>
            </a:pP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Telegraf"/>
                <a:ea typeface="Telegraf"/>
                <a:cs typeface="Telegraf"/>
                <a:sym typeface="Telegraf"/>
              </a:rPr>
              <a:t>Built foundational views:</a:t>
            </a: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Telegraf Bold"/>
                <a:ea typeface="Telegraf Bold"/>
                <a:cs typeface="Telegraf Bold"/>
                <a:sym typeface="Telegraf Bold"/>
              </a:rPr>
              <a:t> Market Demand, Customer Segments, and Service Qualit</a:t>
            </a: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Telegraf"/>
                <a:ea typeface="Telegraf"/>
                <a:cs typeface="Telegraf"/>
                <a:sym typeface="Telegraf"/>
              </a:rPr>
              <a:t>y.</a:t>
            </a:r>
          </a:p>
          <a:p>
            <a:pPr marL="474979" lvl="1" indent="-237490">
              <a:buFont typeface="Arial"/>
              <a:buChar char="•"/>
            </a:pP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Telegraf"/>
                <a:ea typeface="Telegraf"/>
                <a:cs typeface="Telegraf"/>
                <a:sym typeface="Telegraf"/>
              </a:rPr>
              <a:t>Completed first set of Team and Individual documentation to track design choices</a:t>
            </a:r>
          </a:p>
          <a:p>
            <a:pPr marL="237489" lvl="1">
              <a:lnSpc>
                <a:spcPts val="3079"/>
              </a:lnSpc>
            </a:pPr>
            <a:endParaRPr lang="en-US" sz="1600" dirty="0">
              <a:solidFill>
                <a:schemeClr val="accent2">
                  <a:lumMod val="40000"/>
                  <a:lumOff val="60000"/>
                </a:schemeClr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7971FD-2BD5-0EA8-5244-BDAFFF6883DD}"/>
              </a:ext>
            </a:extLst>
          </p:cNvPr>
          <p:cNvSpPr txBox="1"/>
          <p:nvPr/>
        </p:nvSpPr>
        <p:spPr>
          <a:xfrm>
            <a:off x="5948217" y="4356752"/>
            <a:ext cx="5449454" cy="2225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7489" lvl="1">
              <a:lnSpc>
                <a:spcPts val="3079"/>
              </a:lnSpc>
            </a:pPr>
            <a:r>
              <a:rPr lang="en-US" b="1" dirty="0">
                <a:solidFill>
                  <a:schemeClr val="bg1"/>
                </a:solidFill>
                <a:latin typeface="Garet Bold"/>
                <a:ea typeface="Garet Bold"/>
                <a:cs typeface="Garet Bold"/>
                <a:sym typeface="Garet Bold"/>
              </a:rPr>
              <a:t>Milestone 4: Advanced Strategy</a:t>
            </a:r>
          </a:p>
          <a:p>
            <a:pPr marL="474979" lvl="1" indent="-237490">
              <a:buFont typeface="Arial"/>
              <a:buChar char="•"/>
            </a:pP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Telegraf"/>
                <a:cs typeface="Telegraf"/>
                <a:sym typeface="Telegraf"/>
              </a:rPr>
              <a:t>Developed the final complex pages: 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Telegraf Bold"/>
                <a:cs typeface="Telegraf Bold"/>
                <a:sym typeface="Telegraf Bold"/>
              </a:rPr>
              <a:t>Operational Efficiency and Growth &amp; Loyalty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Telegraf"/>
                <a:cs typeface="Telegraf"/>
                <a:sym typeface="Telegraf"/>
              </a:rPr>
              <a:t>.</a:t>
            </a:r>
          </a:p>
          <a:p>
            <a:pPr marL="474979" lvl="1" indent="-237490">
              <a:buFont typeface="Arial"/>
              <a:buChar char="•"/>
            </a:pP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Telegraf"/>
                <a:cs typeface="Telegraf"/>
                <a:sym typeface="Telegraf"/>
              </a:rPr>
              <a:t>Finalized all project docs, including individual analysis of business "friction points</a:t>
            </a:r>
            <a:endParaRPr lang="en-US" b="1" dirty="0">
              <a:solidFill>
                <a:schemeClr val="accent1">
                  <a:lumMod val="40000"/>
                  <a:lumOff val="60000"/>
                </a:schemeClr>
              </a:solidFill>
              <a:latin typeface="+mj-lt"/>
              <a:ea typeface="Garet Bold"/>
              <a:cs typeface="Garet Bold"/>
              <a:sym typeface="Garet Bold"/>
            </a:endParaRPr>
          </a:p>
          <a:p>
            <a:pPr marL="237489" lvl="1" algn="l">
              <a:lnSpc>
                <a:spcPts val="3079"/>
              </a:lnSpc>
            </a:pPr>
            <a:endParaRPr lang="en-US" sz="1800" dirty="0">
              <a:solidFill>
                <a:srgbClr val="343434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8143AED-6AC6-8642-1C03-14E9938A9642}"/>
              </a:ext>
            </a:extLst>
          </p:cNvPr>
          <p:cNvCxnSpPr/>
          <p:nvPr/>
        </p:nvCxnSpPr>
        <p:spPr>
          <a:xfrm>
            <a:off x="241300" y="3980452"/>
            <a:ext cx="10984345" cy="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74659C3-4EEF-EBF3-C37A-822EF6238594}"/>
              </a:ext>
            </a:extLst>
          </p:cNvPr>
          <p:cNvSpPr/>
          <p:nvPr/>
        </p:nvSpPr>
        <p:spPr>
          <a:xfrm>
            <a:off x="3845214" y="3837673"/>
            <a:ext cx="461818" cy="37867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7D787F-D129-5A86-3E63-CCFFD164D13A}"/>
              </a:ext>
            </a:extLst>
          </p:cNvPr>
          <p:cNvSpPr/>
          <p:nvPr/>
        </p:nvSpPr>
        <p:spPr>
          <a:xfrm>
            <a:off x="1604819" y="3830390"/>
            <a:ext cx="461818" cy="37867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5CD97F1-5AEE-6D26-451A-BD9F15CAACB1}"/>
              </a:ext>
            </a:extLst>
          </p:cNvPr>
          <p:cNvSpPr/>
          <p:nvPr/>
        </p:nvSpPr>
        <p:spPr>
          <a:xfrm>
            <a:off x="8835160" y="3791114"/>
            <a:ext cx="461818" cy="37867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9807CA0-FAAD-AE88-37E7-8806142D75C4}"/>
              </a:ext>
            </a:extLst>
          </p:cNvPr>
          <p:cNvSpPr/>
          <p:nvPr/>
        </p:nvSpPr>
        <p:spPr>
          <a:xfrm>
            <a:off x="6201643" y="3830390"/>
            <a:ext cx="461818" cy="37867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1200329"/>
          </a:xfrm>
        </p:spPr>
        <p:txBody>
          <a:bodyPr/>
          <a:lstStyle/>
          <a:p>
            <a:r>
              <a:rPr lang="en-US" sz="4000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TOP VISUALISATIONS USED</a:t>
            </a:r>
            <a:br>
              <a:rPr lang="en-US" sz="4000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</a:br>
            <a:endParaRPr lang="en-US" sz="4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4126B4-1E6C-4FFF-9282-40E18A85A07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algn="l"/>
            <a:r>
              <a:rPr lang="en-US" dirty="0">
                <a:latin typeface="Telegraf Bold"/>
                <a:ea typeface="Telegraf Bold"/>
                <a:cs typeface="Telegraf Bold"/>
                <a:sym typeface="Telegraf Bold"/>
              </a:rPr>
              <a:t>Operational Stress Test (Line &amp; Column Chart):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C87788-476B-4620-8002-A5C1177AD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598824" cy="823912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Telegraf Bold"/>
                <a:ea typeface="Telegraf Bold"/>
                <a:cs typeface="Telegraf Bold"/>
                <a:sym typeface="Telegraf Bold"/>
              </a:rPr>
              <a:t>Service Friction Map (Bubble Chart):</a:t>
            </a:r>
          </a:p>
          <a:p>
            <a:pPr algn="l"/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Telegraf"/>
                <a:ea typeface="Telegraf"/>
                <a:cs typeface="Telegraf"/>
                <a:sym typeface="Telegraf"/>
              </a:rPr>
              <a:t>Purpose: To identify the exact time when delivery speed "breaks" due to high order volume.</a:t>
            </a:r>
          </a:p>
          <a:p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0A9570-5EF6-4AFB-9FCA-7C8998E3FEB1}"/>
              </a:ext>
            </a:extLst>
          </p:cNvPr>
          <p:cNvSpPr>
            <a:spLocks noGrp="1"/>
          </p:cNvSpPr>
          <p:nvPr>
            <p:ph type="body" sz="quarter" idx="4"/>
          </p:nvPr>
        </p:nvSpPr>
        <p:spPr>
          <a:xfrm>
            <a:off x="6500812" y="2139950"/>
            <a:ext cx="5183188" cy="3684588"/>
          </a:xfrm>
        </p:spPr>
        <p:txBody>
          <a:bodyPr/>
          <a:lstStyle/>
          <a:p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  <a:latin typeface="Telegraf"/>
              <a:ea typeface="Telegraf"/>
              <a:cs typeface="Telegraf"/>
              <a:sym typeface="Telegraf"/>
            </a:endParaRP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Telegraf"/>
                <a:ea typeface="Telegraf"/>
                <a:cs typeface="Telegraf"/>
                <a:sym typeface="Telegraf"/>
              </a:rPr>
              <a:t>Purpose: To map the relationship between distance and delivery time to find our "Maximum Service Radius."</a:t>
            </a:r>
          </a:p>
          <a:p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EB12189C-4F83-6F45-07F3-1B4E2F0DE7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2253749"/>
              </p:ext>
            </p:extLst>
          </p:nvPr>
        </p:nvGraphicFramePr>
        <p:xfrm>
          <a:off x="840508" y="3266896"/>
          <a:ext cx="3749965" cy="22010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9DB45040-A0CA-10A0-1A94-0DE0676523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5062844"/>
              </p:ext>
            </p:extLst>
          </p:nvPr>
        </p:nvGraphicFramePr>
        <p:xfrm>
          <a:off x="6973454" y="3643313"/>
          <a:ext cx="4378037" cy="2181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1089529"/>
          </a:xfrm>
        </p:spPr>
        <p:txBody>
          <a:bodyPr/>
          <a:lstStyle/>
          <a:p>
            <a:r>
              <a:rPr lang="en-US" sz="3600" dirty="0">
                <a:latin typeface="Garet Bold"/>
                <a:ea typeface="Garet Bold"/>
                <a:cs typeface="Garet Bold"/>
                <a:sym typeface="Garet Bold"/>
              </a:rPr>
              <a:t>DASHBOARD SHOWCASE</a:t>
            </a:r>
            <a:br>
              <a:rPr lang="en-US" sz="3600" dirty="0">
                <a:latin typeface="Garet Bold"/>
                <a:ea typeface="Garet Bold"/>
                <a:cs typeface="Garet Bold"/>
                <a:sym typeface="Garet Bold"/>
              </a:rPr>
            </a:br>
            <a:endParaRPr lang="en-US" sz="36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1F11E7-EDE5-4119-BA64-4FC57C28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DF21D056-04F6-D7EE-8199-8B84E6D43CC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412010" y="1394692"/>
            <a:ext cx="2955636" cy="2392218"/>
          </a:xfrm>
          <a:custGeom>
            <a:avLst/>
            <a:gdLst/>
            <a:ahLst/>
            <a:cxnLst/>
            <a:rect l="l" t="t" r="r" b="b"/>
            <a:pathLst>
              <a:path w="4449141" h="2514282">
                <a:moveTo>
                  <a:pt x="0" y="0"/>
                </a:moveTo>
                <a:lnTo>
                  <a:pt x="4449141" y="0"/>
                </a:lnTo>
                <a:lnTo>
                  <a:pt x="4449141" y="2514282"/>
                </a:lnTo>
                <a:lnTo>
                  <a:pt x="0" y="25142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F1604E8B-106C-0104-7C98-BC93A456DE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56546" y="1403928"/>
            <a:ext cx="3278908" cy="2392218"/>
          </a:xfrm>
          <a:custGeom>
            <a:avLst/>
            <a:gdLst/>
            <a:ahLst/>
            <a:cxnLst/>
            <a:rect l="l" t="t" r="r" b="b"/>
            <a:pathLst>
              <a:path w="4569242" h="2514282">
                <a:moveTo>
                  <a:pt x="0" y="0"/>
                </a:moveTo>
                <a:lnTo>
                  <a:pt x="4569242" y="0"/>
                </a:lnTo>
                <a:lnTo>
                  <a:pt x="4569242" y="2514282"/>
                </a:lnTo>
                <a:lnTo>
                  <a:pt x="0" y="25142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575" b="-1575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F524B21D-9D18-084B-66A2-170E06338A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24354" y="1403928"/>
            <a:ext cx="3084944" cy="2299854"/>
          </a:xfrm>
          <a:custGeom>
            <a:avLst/>
            <a:gdLst/>
            <a:ahLst/>
            <a:cxnLst/>
            <a:rect l="l" t="t" r="r" b="b"/>
            <a:pathLst>
              <a:path w="4815747" h="2514282">
                <a:moveTo>
                  <a:pt x="0" y="0"/>
                </a:moveTo>
                <a:lnTo>
                  <a:pt x="4815747" y="0"/>
                </a:lnTo>
                <a:lnTo>
                  <a:pt x="4815747" y="2514282"/>
                </a:lnTo>
                <a:lnTo>
                  <a:pt x="0" y="2514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669" b="-3669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562F7095-1EC1-1AB9-04FD-28B6398B6D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4500" y="3927875"/>
            <a:ext cx="2336800" cy="2272147"/>
          </a:xfrm>
          <a:custGeom>
            <a:avLst/>
            <a:gdLst/>
            <a:ahLst/>
            <a:cxnLst/>
            <a:rect l="l" t="t" r="r" b="b"/>
            <a:pathLst>
              <a:path w="4449141" h="2333084">
                <a:moveTo>
                  <a:pt x="0" y="0"/>
                </a:moveTo>
                <a:lnTo>
                  <a:pt x="4449141" y="0"/>
                </a:lnTo>
                <a:lnTo>
                  <a:pt x="4449141" y="2333084"/>
                </a:lnTo>
                <a:lnTo>
                  <a:pt x="0" y="23330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501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8" name="Freeform 12">
            <a:extLst>
              <a:ext uri="{FF2B5EF4-FFF2-40B4-BE49-F238E27FC236}">
                <a16:creationId xmlns:a16="http://schemas.microsoft.com/office/drawing/2014/main" id="{EB2357AA-C9BA-9037-8576-2ED5D88AD1C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89828" y="3927874"/>
            <a:ext cx="2955636" cy="2272147"/>
          </a:xfrm>
          <a:custGeom>
            <a:avLst/>
            <a:gdLst/>
            <a:ahLst/>
            <a:cxnLst/>
            <a:rect l="l" t="t" r="r" b="b"/>
            <a:pathLst>
              <a:path w="4569242" h="2333084">
                <a:moveTo>
                  <a:pt x="0" y="0"/>
                </a:moveTo>
                <a:lnTo>
                  <a:pt x="4569242" y="0"/>
                </a:lnTo>
                <a:lnTo>
                  <a:pt x="4569242" y="2333084"/>
                </a:lnTo>
                <a:lnTo>
                  <a:pt x="0" y="23330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4662" b="-466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0" name="Freeform 13">
            <a:extLst>
              <a:ext uri="{FF2B5EF4-FFF2-40B4-BE49-F238E27FC236}">
                <a16:creationId xmlns:a16="http://schemas.microsoft.com/office/drawing/2014/main" id="{8CCAFBAD-AFCD-6771-7694-64B14C5D1AFF}"/>
              </a:ext>
            </a:extLst>
          </p:cNvPr>
          <p:cNvSpPr/>
          <p:nvPr/>
        </p:nvSpPr>
        <p:spPr>
          <a:xfrm>
            <a:off x="5845464" y="3937110"/>
            <a:ext cx="2845954" cy="2262911"/>
          </a:xfrm>
          <a:custGeom>
            <a:avLst/>
            <a:gdLst/>
            <a:ahLst/>
            <a:cxnLst/>
            <a:rect l="l" t="t" r="r" b="b"/>
            <a:pathLst>
              <a:path w="4815747" h="2333084">
                <a:moveTo>
                  <a:pt x="0" y="0"/>
                </a:moveTo>
                <a:lnTo>
                  <a:pt x="4815747" y="0"/>
                </a:lnTo>
                <a:lnTo>
                  <a:pt x="4815747" y="2333084"/>
                </a:lnTo>
                <a:lnTo>
                  <a:pt x="0" y="23330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8991" b="-8991"/>
            </a:stretch>
          </a:blipFill>
        </p:spPr>
      </p:sp>
      <p:sp>
        <p:nvSpPr>
          <p:cNvPr id="32" name="Freeform 14">
            <a:extLst>
              <a:ext uri="{FF2B5EF4-FFF2-40B4-BE49-F238E27FC236}">
                <a16:creationId xmlns:a16="http://schemas.microsoft.com/office/drawing/2014/main" id="{7D43C946-4657-829D-20A0-36190474C85E}"/>
              </a:ext>
            </a:extLst>
          </p:cNvPr>
          <p:cNvSpPr/>
          <p:nvPr/>
        </p:nvSpPr>
        <p:spPr>
          <a:xfrm>
            <a:off x="8662556" y="3937110"/>
            <a:ext cx="3084944" cy="2299854"/>
          </a:xfrm>
          <a:custGeom>
            <a:avLst/>
            <a:gdLst/>
            <a:ahLst/>
            <a:cxnLst/>
            <a:rect l="l" t="t" r="r" b="b"/>
            <a:pathLst>
              <a:path w="5022628" h="2858777">
                <a:moveTo>
                  <a:pt x="0" y="0"/>
                </a:moveTo>
                <a:lnTo>
                  <a:pt x="5022628" y="0"/>
                </a:lnTo>
                <a:lnTo>
                  <a:pt x="5022628" y="2858776"/>
                </a:lnTo>
                <a:lnTo>
                  <a:pt x="0" y="28587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3982"/>
            </a:stretch>
          </a:blipFill>
        </p:spPr>
      </p:sp>
    </p:spTree>
    <p:extLst>
      <p:ext uri="{BB962C8B-B14F-4D97-AF65-F5344CB8AC3E}">
        <p14:creationId xmlns:p14="http://schemas.microsoft.com/office/powerpoint/2010/main" val="389213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1089529"/>
          </a:xfrm>
        </p:spPr>
        <p:txBody>
          <a:bodyPr/>
          <a:lstStyle/>
          <a:p>
            <a:r>
              <a:rPr lang="en-US" sz="3600" dirty="0">
                <a:latin typeface="Garet Bold"/>
                <a:ea typeface="Garet Bold"/>
                <a:cs typeface="Garet Bold"/>
                <a:sym typeface="Garet Bold"/>
              </a:rPr>
              <a:t>CHALLENGES &amp; RESOLUTIONS</a:t>
            </a:r>
            <a:br>
              <a:rPr lang="en-US" sz="3600" dirty="0">
                <a:latin typeface="Garet Bold"/>
                <a:ea typeface="Garet Bold"/>
                <a:cs typeface="Garet Bold"/>
                <a:sym typeface="Garet Bold"/>
              </a:rPr>
            </a:br>
            <a:endParaRPr lang="en-US" sz="3600" dirty="0"/>
          </a:p>
        </p:txBody>
      </p:sp>
      <p:pic>
        <p:nvPicPr>
          <p:cNvPr id="20" name="Picture Placeholder 19" descr="Triangular pattern design with dimension">
            <a:extLst>
              <a:ext uri="{FF2B5EF4-FFF2-40B4-BE49-F238E27FC236}">
                <a16:creationId xmlns:a16="http://schemas.microsoft.com/office/drawing/2014/main" id="{3DCA2B8E-64D3-7645-8DEB-688ED5756F52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2" y="1334103"/>
            <a:ext cx="12192002" cy="2289897"/>
          </a:xfr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82206B1-586F-4254-9B36-D06C4E294A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3400" y="1514951"/>
            <a:ext cx="5422936" cy="4313194"/>
          </a:xfrm>
        </p:spPr>
        <p:txBody>
          <a:bodyPr/>
          <a:lstStyle/>
          <a:p>
            <a:r>
              <a:rPr lang="en-US" sz="2400" b="1" dirty="0">
                <a:latin typeface="Petrona Bold"/>
                <a:ea typeface="Petrona Bold"/>
                <a:cs typeface="Petrona Bold"/>
                <a:sym typeface="Petrona Bold"/>
              </a:rPr>
              <a:t>Challenge 1: Visual Performance Lag</a:t>
            </a:r>
          </a:p>
          <a:p>
            <a:r>
              <a:rPr lang="en-US" sz="2400" dirty="0">
                <a:latin typeface="Inter"/>
                <a:ea typeface="Inter"/>
                <a:cs typeface="Inter"/>
                <a:sym typeface="Inter"/>
              </a:rPr>
              <a:t>Plotting 138k individual points on a Scatter Plot caused system crashes.</a:t>
            </a:r>
          </a:p>
          <a:p>
            <a:endParaRPr lang="en-US" sz="1800" b="1" dirty="0">
              <a:latin typeface="Petrona Bold"/>
              <a:ea typeface="Petrona Bold"/>
              <a:cs typeface="Petrona Bold"/>
              <a:sym typeface="Petrona Bold"/>
            </a:endParaRPr>
          </a:p>
          <a:p>
            <a:r>
              <a:rPr lang="en-US" sz="2800" b="1" dirty="0">
                <a:latin typeface="Petrona Bold"/>
                <a:ea typeface="Petrona Bold"/>
                <a:cs typeface="Petrona Bold"/>
                <a:sym typeface="Petrona Bold"/>
              </a:rPr>
              <a:t>Resolution:</a:t>
            </a:r>
          </a:p>
          <a:p>
            <a:endParaRPr lang="en-US" sz="2000" dirty="0">
              <a:latin typeface="Inter"/>
              <a:ea typeface="Inter"/>
              <a:cs typeface="Inter"/>
              <a:sym typeface="Inter"/>
            </a:endParaRPr>
          </a:p>
          <a:p>
            <a:r>
              <a:rPr lang="en-US" sz="2000" dirty="0">
                <a:latin typeface="Inter"/>
                <a:ea typeface="Inter"/>
                <a:cs typeface="Inter"/>
                <a:sym typeface="Inter"/>
              </a:rPr>
              <a:t>Aggregated the data by "Restaurant Name" to </a:t>
            </a:r>
            <a:r>
              <a:rPr lang="en-US" sz="2000" dirty="0" err="1">
                <a:latin typeface="Inter"/>
                <a:ea typeface="Inter"/>
                <a:cs typeface="Inter"/>
                <a:sym typeface="Inter"/>
              </a:rPr>
              <a:t>optimise</a:t>
            </a:r>
            <a:r>
              <a:rPr lang="en-US" sz="2000" dirty="0">
                <a:latin typeface="Inter"/>
                <a:ea typeface="Inter"/>
                <a:cs typeface="Inter"/>
                <a:sym typeface="Inter"/>
              </a:rPr>
              <a:t> rendering speed and maintain system stability.</a:t>
            </a:r>
          </a:p>
          <a:p>
            <a:endParaRPr lang="en-US" b="1" dirty="0">
              <a:solidFill>
                <a:srgbClr val="272525"/>
              </a:solidFill>
              <a:latin typeface="Petrona Bold"/>
              <a:ea typeface="Petrona Bold"/>
              <a:cs typeface="Petrona Bold"/>
              <a:sym typeface="Petrona Bold"/>
            </a:endParaRPr>
          </a:p>
          <a:p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B8F0371-4F69-4131-91BF-9AB99E6EE8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5666" y="1514950"/>
            <a:ext cx="5511834" cy="4470213"/>
          </a:xfrm>
        </p:spPr>
        <p:txBody>
          <a:bodyPr/>
          <a:lstStyle/>
          <a:p>
            <a:r>
              <a:rPr lang="en-US" sz="2400" b="1" dirty="0">
                <a:latin typeface="Petrona Bold"/>
                <a:ea typeface="Petrona Bold"/>
                <a:cs typeface="Petrona Bold"/>
                <a:sym typeface="Petrona Bold"/>
              </a:rPr>
              <a:t>Challenge 2: Inactive Relationships</a:t>
            </a:r>
          </a:p>
          <a:p>
            <a:r>
              <a:rPr lang="en-US" sz="2000" dirty="0">
                <a:latin typeface="Inter"/>
                <a:ea typeface="Inter"/>
                <a:cs typeface="Inter"/>
                <a:sym typeface="Inter"/>
              </a:rPr>
              <a:t>Revenue visuals flat-lined due to disconnected tables, leading to inaccurate reporting.</a:t>
            </a:r>
          </a:p>
          <a:p>
            <a:endParaRPr lang="en-US" sz="2400" b="1" dirty="0">
              <a:latin typeface="Petrona Bold"/>
              <a:ea typeface="Petrona Bold"/>
              <a:cs typeface="Petrona Bold"/>
              <a:sym typeface="Petrona Bold"/>
            </a:endParaRPr>
          </a:p>
          <a:p>
            <a:r>
              <a:rPr lang="en-US" sz="2400" b="1" dirty="0">
                <a:latin typeface="Petrona Bold"/>
                <a:ea typeface="Petrona Bold"/>
                <a:cs typeface="Petrona Bold"/>
                <a:sym typeface="Petrona Bold"/>
              </a:rPr>
              <a:t>Resolution:</a:t>
            </a:r>
          </a:p>
          <a:p>
            <a:endParaRPr lang="en-US" dirty="0">
              <a:latin typeface="Inter"/>
              <a:ea typeface="Inter"/>
              <a:cs typeface="Inter"/>
              <a:sym typeface="Inter"/>
            </a:endParaRPr>
          </a:p>
          <a:p>
            <a:r>
              <a:rPr lang="en-US" sz="1800" dirty="0">
                <a:latin typeface="Inter"/>
                <a:ea typeface="Inter"/>
                <a:cs typeface="Inter"/>
                <a:sym typeface="Inter"/>
              </a:rPr>
              <a:t>Rebuilt the Star Schema to ensure proper cross-filtering between Dimensions and Facts, restoring data integrity</a:t>
            </a:r>
            <a:r>
              <a:rPr lang="en-US" dirty="0"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endParaRPr lang="en-US" b="1" dirty="0">
              <a:solidFill>
                <a:srgbClr val="272525"/>
              </a:solidFill>
              <a:latin typeface="Petrona Bold"/>
              <a:ea typeface="Petrona Bold"/>
              <a:cs typeface="Petrona Bold"/>
              <a:sym typeface="Petrona Bold"/>
            </a:endParaRP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478C69-0A1D-45FF-8600-ED903803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18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59157-3368-7485-2CB9-A0A11A006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91" y="332509"/>
            <a:ext cx="11483109" cy="1615827"/>
          </a:xfrm>
        </p:spPr>
        <p:txBody>
          <a:bodyPr/>
          <a:lstStyle/>
          <a:p>
            <a:r>
              <a:rPr lang="en-US" sz="3600" dirty="0">
                <a:latin typeface="Garet Bold"/>
                <a:ea typeface="Garet Bold"/>
                <a:cs typeface="Garet Bold"/>
                <a:sym typeface="Garet Bold"/>
              </a:rPr>
              <a:t>TECHNOLOGIES &amp; SKILLS GAINED</a:t>
            </a:r>
            <a:br>
              <a:rPr lang="en-US" dirty="0">
                <a:latin typeface="Garet Bold"/>
                <a:ea typeface="Garet Bold"/>
                <a:cs typeface="Garet Bold"/>
                <a:sym typeface="Garet Bold"/>
              </a:rPr>
            </a:br>
            <a:r>
              <a:rPr lang="en-US" sz="1400" dirty="0">
                <a:latin typeface="Inter"/>
                <a:ea typeface="Inter"/>
                <a:cs typeface="Inter"/>
                <a:sym typeface="Inter"/>
              </a:rPr>
              <a:t>This internship provided an invaluable opportunity to apply and enhance a diverse set of technical skills, </a:t>
            </a:r>
            <a:r>
              <a:rPr lang="en-US" sz="1400" dirty="0" err="1">
                <a:latin typeface="Inter"/>
                <a:ea typeface="Inter"/>
                <a:cs typeface="Inter"/>
                <a:sym typeface="Inter"/>
              </a:rPr>
              <a:t>utilising</a:t>
            </a:r>
            <a:r>
              <a:rPr lang="en-US" sz="1400" dirty="0">
                <a:latin typeface="Inter"/>
                <a:ea typeface="Inter"/>
                <a:cs typeface="Inter"/>
                <a:sym typeface="Inter"/>
              </a:rPr>
              <a:t> industry-standard tools to deliver a robust analytics solution.</a:t>
            </a:r>
            <a:br>
              <a:rPr lang="en-US" sz="1400" dirty="0">
                <a:latin typeface="Inter"/>
                <a:ea typeface="Inter"/>
                <a:cs typeface="Inter"/>
                <a:sym typeface="Inter"/>
              </a:rPr>
            </a:br>
            <a:br>
              <a:rPr lang="en-US" sz="1400" dirty="0">
                <a:latin typeface="Garet Bold"/>
                <a:ea typeface="Garet Bold"/>
                <a:cs typeface="Garet Bold"/>
                <a:sym typeface="Garet Bold"/>
              </a:rPr>
            </a:b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A0DE48-67E0-DFBE-0015-26B4C8FEC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0076C6-4380-F057-B50A-383FC5BEBC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Garet Bold"/>
                <a:ea typeface="Garet Bold"/>
                <a:cs typeface="Garet Bold"/>
                <a:sym typeface="Garet Bold"/>
              </a:rPr>
              <a:t>Core Tech Stack</a:t>
            </a:r>
          </a:p>
          <a:p>
            <a:r>
              <a:rPr lang="en-US" b="1" dirty="0">
                <a:solidFill>
                  <a:srgbClr val="FFFFFF"/>
                </a:solidFill>
                <a:latin typeface="Petrona Bold"/>
                <a:ea typeface="Petrona Bold"/>
                <a:cs typeface="Petrona Bold"/>
                <a:sym typeface="Petrona Bold"/>
              </a:rPr>
              <a:t>Power BI Desktop</a:t>
            </a: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Primary tool for data </a:t>
            </a:r>
            <a:r>
              <a:rPr lang="en-US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visualisation</a:t>
            </a:r>
            <a:r>
              <a:rPr lang="en-US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and report creation.</a:t>
            </a:r>
          </a:p>
          <a:p>
            <a:endParaRPr lang="en-US" b="1" dirty="0">
              <a:solidFill>
                <a:srgbClr val="FFFFFF"/>
              </a:solidFill>
              <a:latin typeface="Petrona Bold"/>
              <a:ea typeface="Petrona Bold"/>
              <a:cs typeface="Petrona Bold"/>
              <a:sym typeface="Petrona Bold"/>
            </a:endParaRPr>
          </a:p>
          <a:p>
            <a:r>
              <a:rPr lang="en-US" b="1" dirty="0">
                <a:solidFill>
                  <a:srgbClr val="FFFFFF"/>
                </a:solidFill>
                <a:latin typeface="Petrona Bold"/>
                <a:ea typeface="Petrona Bold"/>
                <a:cs typeface="Petrona Bold"/>
                <a:sym typeface="Petrona Bold"/>
              </a:rPr>
              <a:t>Power Query Editor</a:t>
            </a: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Essential for data extraction, transformation, and loading processes.</a:t>
            </a:r>
          </a:p>
          <a:p>
            <a:endParaRPr lang="en-US" b="1" dirty="0">
              <a:solidFill>
                <a:srgbClr val="FFFFFF"/>
              </a:solidFill>
              <a:latin typeface="Petrona Bold"/>
              <a:ea typeface="Petrona Bold"/>
              <a:cs typeface="Petrona Bold"/>
              <a:sym typeface="Petrona Bold"/>
            </a:endParaRPr>
          </a:p>
          <a:p>
            <a:r>
              <a:rPr lang="en-US" b="1" dirty="0">
                <a:solidFill>
                  <a:srgbClr val="FFFFFF"/>
                </a:solidFill>
                <a:latin typeface="Petrona Bold"/>
                <a:ea typeface="Petrona Bold"/>
                <a:cs typeface="Petrona Bold"/>
                <a:sym typeface="Petrona Bold"/>
              </a:rPr>
              <a:t>DAX</a:t>
            </a: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 Analysis Expressions for complex calculations and measures.</a:t>
            </a:r>
          </a:p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3D4A16-0CFE-3FC4-5FDE-52F6177712D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Garet Bold"/>
                <a:ea typeface="Garet Bold"/>
                <a:cs typeface="Garet Bold"/>
                <a:sym typeface="Garet Bold"/>
              </a:rPr>
              <a:t>Key Skills Gained</a:t>
            </a:r>
          </a:p>
          <a:p>
            <a:r>
              <a:rPr lang="en-US" b="1" dirty="0">
                <a:latin typeface="Petrona Bold"/>
                <a:ea typeface="Petrona Bold"/>
                <a:cs typeface="Petrona Bold"/>
                <a:sym typeface="Petrona Bold"/>
              </a:rPr>
              <a:t>Data Modelling</a:t>
            </a:r>
          </a:p>
          <a:p>
            <a:pPr marL="0" indent="0">
              <a:buNone/>
            </a:pPr>
            <a:r>
              <a:rPr lang="en-US" dirty="0">
                <a:latin typeface="Inter"/>
                <a:ea typeface="Inter"/>
                <a:cs typeface="Inter"/>
                <a:sym typeface="Inter"/>
              </a:rPr>
              <a:t>Mastery in designing efficient Star Schema relationships for optimal performance</a:t>
            </a:r>
          </a:p>
          <a:p>
            <a:endParaRPr lang="en-US" sz="2400" b="1" dirty="0">
              <a:latin typeface="Petrona Bold"/>
              <a:ea typeface="Petrona Bold"/>
              <a:cs typeface="Petrona Bold"/>
              <a:sym typeface="Petrona Bold"/>
            </a:endParaRPr>
          </a:p>
          <a:p>
            <a:r>
              <a:rPr lang="en-US" b="1" dirty="0">
                <a:latin typeface="Petrona Bold"/>
                <a:ea typeface="Petrona Bold"/>
                <a:cs typeface="Petrona Bold"/>
                <a:sym typeface="Petrona Bold"/>
              </a:rPr>
              <a:t>Advanced Analytics</a:t>
            </a:r>
          </a:p>
          <a:p>
            <a:pPr marL="0" indent="0">
              <a:buNone/>
            </a:pPr>
            <a:r>
              <a:rPr lang="en-US" dirty="0">
                <a:latin typeface="Inter"/>
                <a:ea typeface="Inter"/>
                <a:cs typeface="Inter"/>
                <a:sym typeface="Inter"/>
              </a:rPr>
              <a:t>Ability to create dynamic measures for SLA Adherence and Customer Retention metrics.</a:t>
            </a:r>
          </a:p>
          <a:p>
            <a:pPr marL="0" indent="0">
              <a:buNone/>
            </a:pPr>
            <a:endParaRPr lang="en-US" dirty="0">
              <a:latin typeface="Inter"/>
              <a:ea typeface="Inter"/>
              <a:cs typeface="Inter"/>
              <a:sym typeface="Inter"/>
            </a:endParaRPr>
          </a:p>
          <a:p>
            <a:r>
              <a:rPr lang="en-US" b="1" dirty="0">
                <a:latin typeface="Petrona Bold"/>
                <a:ea typeface="Petrona Bold"/>
                <a:cs typeface="Petrona Bold"/>
                <a:sym typeface="Petrona Bold"/>
              </a:rPr>
              <a:t>Soft Skills Development</a:t>
            </a:r>
          </a:p>
          <a:p>
            <a:pPr marL="0" indent="0">
              <a:buNone/>
            </a:pPr>
            <a:r>
              <a:rPr lang="en-US" dirty="0">
                <a:latin typeface="Inter"/>
                <a:ea typeface="Inter"/>
                <a:cs typeface="Inter"/>
                <a:sym typeface="Inter"/>
              </a:rPr>
              <a:t>Developed critical Data Storytelling abilities to present complex insights effectively to stakeholders and drive action.</a:t>
            </a:r>
          </a:p>
          <a:p>
            <a:pPr marL="0" indent="0">
              <a:buNone/>
            </a:pPr>
            <a:endParaRPr lang="en-US" dirty="0">
              <a:latin typeface="Inter"/>
              <a:ea typeface="Inter"/>
              <a:cs typeface="Inter"/>
              <a:sym typeface="Inter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965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7C50BD-D584-D89F-EEA9-D44506422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AFC1BD-2F32-1F36-17E3-92BF5B5693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803564"/>
            <a:ext cx="5184437" cy="537339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400" b="1" dirty="0">
                <a:latin typeface="Garet Bold"/>
                <a:ea typeface="Garet Bold"/>
                <a:cs typeface="Garet Bold"/>
                <a:sym typeface="Garet Bold"/>
              </a:rPr>
              <a:t>KEY BUSINESS INSIGHTS:</a:t>
            </a:r>
          </a:p>
          <a:p>
            <a:pPr marL="329902" lvl="1" indent="-164951" algn="just">
              <a:lnSpc>
                <a:spcPct val="170000"/>
              </a:lnSpc>
              <a:buFont typeface="Arial"/>
              <a:buChar char="•"/>
            </a:pPr>
            <a:endParaRPr lang="en-US" sz="2187" b="1" dirty="0">
              <a:solidFill>
                <a:schemeClr val="accent1">
                  <a:lumMod val="40000"/>
                  <a:lumOff val="60000"/>
                </a:schemeClr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329902" lvl="1" indent="-164951" algn="just">
              <a:lnSpc>
                <a:spcPct val="170000"/>
              </a:lnSpc>
              <a:buFont typeface="Arial"/>
              <a:buChar char="•"/>
            </a:pPr>
            <a:r>
              <a:rPr lang="en-US" sz="2300" b="1" u="sng" dirty="0">
                <a:solidFill>
                  <a:schemeClr val="accent1">
                    <a:lumMod val="40000"/>
                    <a:lumOff val="60000"/>
                  </a:schemeClr>
                </a:solidFill>
                <a:latin typeface="Inter Bold"/>
                <a:ea typeface="Inter Bold"/>
                <a:cs typeface="Inter Bold"/>
                <a:sym typeface="Inter Bold"/>
              </a:rPr>
              <a:t>Logistics is the Bottleneck:</a:t>
            </a:r>
            <a:r>
              <a:rPr lang="en-US" sz="2300" u="sng" dirty="0">
                <a:solidFill>
                  <a:schemeClr val="accent1">
                    <a:lumMod val="40000"/>
                    <a:lumOff val="6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87" dirty="0">
                <a:solidFill>
                  <a:schemeClr val="accent1">
                    <a:lumMod val="40000"/>
                    <a:lumOff val="6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The 39% On-Time Delivery Rate is a critical operational failure. Immediate fleet expansion is required in Hyderabad and Mumbai to stop customer churn.</a:t>
            </a:r>
          </a:p>
          <a:p>
            <a:pPr marL="329902" lvl="1" indent="-164951" algn="just">
              <a:lnSpc>
                <a:spcPct val="170000"/>
              </a:lnSpc>
              <a:buFont typeface="Arial"/>
              <a:buChar char="•"/>
            </a:pPr>
            <a:r>
              <a:rPr lang="en-US" sz="2300" b="1" u="sng" dirty="0">
                <a:solidFill>
                  <a:schemeClr val="accent1">
                    <a:lumMod val="40000"/>
                    <a:lumOff val="60000"/>
                  </a:schemeClr>
                </a:solidFill>
                <a:latin typeface="Inter Bold"/>
                <a:ea typeface="Inter Bold"/>
                <a:cs typeface="Inter Bold"/>
                <a:sym typeface="Inter Bold"/>
              </a:rPr>
              <a:t>The "Organic" Engine:</a:t>
            </a:r>
            <a:r>
              <a:rPr lang="en-US" sz="2300" u="sng" dirty="0">
                <a:solidFill>
                  <a:schemeClr val="accent1">
                    <a:lumMod val="40000"/>
                    <a:lumOff val="6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87" dirty="0">
                <a:solidFill>
                  <a:schemeClr val="accent1">
                    <a:lumMod val="40000"/>
                    <a:lumOff val="6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Organic users make up 52% of the customer base and show higher retention. Shift marketing to "Retention Rewards" for this loyal segment.</a:t>
            </a:r>
          </a:p>
          <a:p>
            <a:pPr marL="329902" lvl="1" indent="-164951" algn="just">
              <a:lnSpc>
                <a:spcPct val="170000"/>
              </a:lnSpc>
              <a:buFont typeface="Arial"/>
              <a:buChar char="•"/>
            </a:pPr>
            <a:r>
              <a:rPr lang="en-US" sz="2300" b="1" u="sng" dirty="0">
                <a:solidFill>
                  <a:schemeClr val="accent1">
                    <a:lumMod val="40000"/>
                    <a:lumOff val="60000"/>
                  </a:schemeClr>
                </a:solidFill>
                <a:latin typeface="Inter Bold"/>
                <a:ea typeface="Inter Bold"/>
                <a:cs typeface="Inter Bold"/>
                <a:sym typeface="Inter Bold"/>
              </a:rPr>
              <a:t>The Volume Trap:</a:t>
            </a:r>
            <a:r>
              <a:rPr lang="en-US" sz="2300" u="sng" dirty="0">
                <a:solidFill>
                  <a:schemeClr val="accent1">
                    <a:lumMod val="40000"/>
                    <a:lumOff val="6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87" dirty="0">
                <a:solidFill>
                  <a:schemeClr val="accent1">
                    <a:lumMod val="40000"/>
                    <a:lumOff val="6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"Beverages" have low individual profit margins despite high volume. Implement "Combo Meals" to increase Average Order Value (AOV).</a:t>
            </a:r>
          </a:p>
          <a:p>
            <a:endParaRPr lang="en-IN" sz="2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8B1D64-C9EA-4FD1-5F7E-1AF4D7FB3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803564"/>
            <a:ext cx="5184437" cy="523913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400" b="1" dirty="0">
                <a:latin typeface="Garet Bold"/>
                <a:ea typeface="Garet Bold"/>
                <a:cs typeface="Garet Bold"/>
                <a:sym typeface="Garet Bold"/>
              </a:rPr>
              <a:t>FUTURE ENHANCEMENTS:</a:t>
            </a:r>
          </a:p>
          <a:p>
            <a:pPr marL="329902" lvl="1" indent="-164951" algn="just">
              <a:lnSpc>
                <a:spcPct val="170000"/>
              </a:lnSpc>
              <a:buFont typeface="Arial"/>
              <a:buChar char="•"/>
            </a:pPr>
            <a:endParaRPr lang="en-US" sz="2187" b="1" dirty="0">
              <a:solidFill>
                <a:schemeClr val="accent1">
                  <a:lumMod val="40000"/>
                  <a:lumOff val="60000"/>
                </a:schemeClr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329902" lvl="1" indent="-164951" algn="just">
              <a:lnSpc>
                <a:spcPct val="170000"/>
              </a:lnSpc>
              <a:buFont typeface="Arial"/>
              <a:buChar char="•"/>
            </a:pPr>
            <a:r>
              <a:rPr lang="en-US" sz="2300" b="1" u="sng" dirty="0">
                <a:solidFill>
                  <a:schemeClr val="accent1">
                    <a:lumMod val="40000"/>
                    <a:lumOff val="60000"/>
                  </a:schemeClr>
                </a:solidFill>
                <a:latin typeface="Inter Bold"/>
                <a:ea typeface="Inter Bold"/>
                <a:cs typeface="Inter Bold"/>
                <a:sym typeface="Inter Bold"/>
              </a:rPr>
              <a:t>Row-Level Security (RLS):</a:t>
            </a:r>
            <a:r>
              <a:rPr lang="en-US" sz="2300" u="sng" dirty="0">
                <a:solidFill>
                  <a:schemeClr val="accent1">
                    <a:lumMod val="40000"/>
                    <a:lumOff val="6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87" dirty="0">
                <a:solidFill>
                  <a:schemeClr val="accent1">
                    <a:lumMod val="40000"/>
                    <a:lumOff val="6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Implement security roles to restrict access, allowing Branch Managers to view only their specific City's data.</a:t>
            </a:r>
          </a:p>
          <a:p>
            <a:pPr marL="329902" lvl="1" indent="-164951" algn="just">
              <a:lnSpc>
                <a:spcPct val="170000"/>
              </a:lnSpc>
              <a:buFont typeface="Arial"/>
              <a:buChar char="•"/>
            </a:pPr>
            <a:r>
              <a:rPr lang="en-US" sz="2300" b="1" u="sng" dirty="0">
                <a:solidFill>
                  <a:schemeClr val="accent1">
                    <a:lumMod val="40000"/>
                    <a:lumOff val="60000"/>
                  </a:schemeClr>
                </a:solidFill>
                <a:latin typeface="Inter Bold"/>
                <a:ea typeface="Inter Bold"/>
                <a:cs typeface="Inter Bold"/>
                <a:sym typeface="Inter Bold"/>
              </a:rPr>
              <a:t>What-If Parameters:</a:t>
            </a:r>
            <a:r>
              <a:rPr lang="en-US" sz="2300" u="sng" dirty="0">
                <a:solidFill>
                  <a:schemeClr val="accent1">
                    <a:lumMod val="40000"/>
                    <a:lumOff val="6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87" dirty="0">
                <a:solidFill>
                  <a:schemeClr val="accent1">
                    <a:lumMod val="40000"/>
                    <a:lumOff val="6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Add interactive sliders to simulate business scenarios (e.g., "If we discount Biryani by 10%, how much will Revenue increase?").</a:t>
            </a:r>
          </a:p>
          <a:p>
            <a:pPr marL="329902" lvl="1" indent="-164951" algn="just">
              <a:lnSpc>
                <a:spcPct val="170000"/>
              </a:lnSpc>
              <a:buFont typeface="Arial"/>
              <a:buChar char="•"/>
            </a:pPr>
            <a:r>
              <a:rPr lang="en-US" sz="2300" b="1" u="sng" dirty="0">
                <a:solidFill>
                  <a:schemeClr val="accent1">
                    <a:lumMod val="40000"/>
                    <a:lumOff val="60000"/>
                  </a:schemeClr>
                </a:solidFill>
                <a:latin typeface="Inter Bold"/>
                <a:ea typeface="Inter Bold"/>
                <a:cs typeface="Inter Bold"/>
                <a:sym typeface="Inter Bold"/>
              </a:rPr>
              <a:t>Mobile Layout </a:t>
            </a:r>
            <a:r>
              <a:rPr lang="en-US" sz="2300" b="1" u="sng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Inter Bold"/>
                <a:ea typeface="Inter Bold"/>
                <a:cs typeface="Inter Bold"/>
                <a:sym typeface="Inter Bold"/>
              </a:rPr>
              <a:t>Optimisation</a:t>
            </a:r>
            <a:r>
              <a:rPr lang="en-US" sz="23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Inter Bold"/>
                <a:ea typeface="Inter Bold"/>
                <a:cs typeface="Inter Bold"/>
                <a:sym typeface="Inter Bold"/>
              </a:rPr>
              <a:t>:</a:t>
            </a:r>
            <a:r>
              <a:rPr lang="en-US" sz="2300" dirty="0">
                <a:solidFill>
                  <a:schemeClr val="accent1">
                    <a:lumMod val="40000"/>
                    <a:lumOff val="6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87" dirty="0">
                <a:solidFill>
                  <a:schemeClr val="accent1">
                    <a:lumMod val="40000"/>
                    <a:lumOff val="6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Design a specific "Mobile View" of the Logistics Dashboard for Area Managers to monitor live fleet performance on their smartphones.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40198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7C041-D16C-F964-3EC8-EAB7303C4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978729"/>
          </a:xfrm>
        </p:spPr>
        <p:txBody>
          <a:bodyPr/>
          <a:lstStyle/>
          <a:p>
            <a:r>
              <a:rPr lang="en-US" dirty="0">
                <a:latin typeface="Garet Bold"/>
                <a:ea typeface="Garet Bold"/>
                <a:cs typeface="Garet Bold"/>
                <a:sym typeface="Garet Bold"/>
              </a:rPr>
              <a:t>CONCLUSION, ACKNOWLEDGEMENT &amp; REFERENCES</a:t>
            </a:r>
            <a:br>
              <a:rPr lang="en-US" dirty="0">
                <a:latin typeface="Garet Bold"/>
                <a:ea typeface="Garet Bold"/>
                <a:cs typeface="Garet Bold"/>
                <a:sym typeface="Garet Bold"/>
              </a:rPr>
            </a:b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21D43E-7F6A-B8C4-31CF-10142373C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6FBF15-3827-F58A-2C78-E236E5B1EF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Garet Bold"/>
                <a:ea typeface="Garet Bold"/>
                <a:cs typeface="Garet Bold"/>
                <a:sym typeface="Garet Bold"/>
              </a:rPr>
              <a:t>Conclusion:</a:t>
            </a:r>
          </a:p>
          <a:p>
            <a:pPr marL="0" indent="0">
              <a:buNone/>
            </a:pPr>
            <a:r>
              <a:rPr lang="en-US" sz="1800" dirty="0">
                <a:latin typeface="Inter"/>
                <a:ea typeface="Inter"/>
                <a:cs typeface="Inter"/>
                <a:sym typeface="Inter"/>
              </a:rPr>
              <a:t>The project successfully identified that whilst the Menu is profitable, Last-Mile Delivery requires restructuring. The data proves that speed is the strongest predictor of customer satisfaction</a:t>
            </a:r>
            <a:r>
              <a:rPr lang="en-US" sz="24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marL="0" indent="0">
              <a:buNone/>
            </a:pPr>
            <a:endParaRPr lang="en-US" sz="2400" b="1" dirty="0">
              <a:latin typeface="Garet Bold"/>
              <a:ea typeface="Garet Bold"/>
              <a:cs typeface="Garet Bold"/>
              <a:sym typeface="Garet Bold"/>
            </a:endParaRPr>
          </a:p>
          <a:p>
            <a:pPr marL="0" indent="0">
              <a:buNone/>
            </a:pPr>
            <a:r>
              <a:rPr lang="en-US" sz="2400" b="1" dirty="0">
                <a:latin typeface="Garet Bold"/>
                <a:ea typeface="Garet Bold"/>
                <a:cs typeface="Garet Bold"/>
                <a:sym typeface="Garet Bold"/>
              </a:rPr>
              <a:t>References:</a:t>
            </a:r>
          </a:p>
          <a:p>
            <a:pPr marL="404813" lvl="1" indent="-202406" algn="just">
              <a:lnSpc>
                <a:spcPct val="100000"/>
              </a:lnSpc>
              <a:buFont typeface="Arial"/>
              <a:buChar char="•"/>
            </a:pPr>
            <a:r>
              <a:rPr lang="en-US" sz="1875" dirty="0">
                <a:latin typeface="Inter"/>
                <a:ea typeface="Inter"/>
                <a:cs typeface="Inter"/>
                <a:sym typeface="Inter"/>
              </a:rPr>
              <a:t>Infosys Springboard Virtual Internship Course Materials.</a:t>
            </a:r>
          </a:p>
          <a:p>
            <a:pPr marL="404813" lvl="1" indent="-202406" algn="just">
              <a:lnSpc>
                <a:spcPct val="100000"/>
              </a:lnSpc>
              <a:buFont typeface="Arial"/>
              <a:buChar char="•"/>
            </a:pPr>
            <a:r>
              <a:rPr lang="en-US" sz="1875" dirty="0">
                <a:latin typeface="Inter"/>
                <a:ea typeface="Inter"/>
                <a:cs typeface="Inter"/>
                <a:sym typeface="Inter"/>
              </a:rPr>
              <a:t>Microsoft Power BI Documentation.</a:t>
            </a:r>
          </a:p>
          <a:p>
            <a:pPr marL="404813" lvl="1" indent="-202406" algn="just">
              <a:lnSpc>
                <a:spcPct val="100000"/>
              </a:lnSpc>
              <a:buFont typeface="Arial"/>
              <a:buChar char="•"/>
            </a:pPr>
            <a:r>
              <a:rPr lang="en-US" sz="1875" dirty="0">
                <a:latin typeface="Inter"/>
                <a:ea typeface="Inter"/>
                <a:cs typeface="Inter"/>
                <a:sym typeface="Inter"/>
              </a:rPr>
              <a:t>Food Industry Logistics Case Studies.</a:t>
            </a:r>
          </a:p>
          <a:p>
            <a:pPr marL="404813" lvl="1" indent="-202406" algn="just">
              <a:lnSpc>
                <a:spcPct val="100000"/>
              </a:lnSpc>
              <a:buFont typeface="Arial"/>
              <a:buChar char="•"/>
            </a:pPr>
            <a:r>
              <a:rPr lang="en-US" sz="1875" dirty="0">
                <a:latin typeface="Inter"/>
                <a:ea typeface="Inter"/>
                <a:cs typeface="Inter"/>
                <a:sym typeface="Inter"/>
              </a:rPr>
              <a:t>Kaggle Dataset: Zomato Food Delivery Data.</a:t>
            </a:r>
          </a:p>
          <a:p>
            <a:pPr marL="0" indent="0">
              <a:buNone/>
            </a:pPr>
            <a:endParaRPr lang="en-US" sz="2400" b="1" dirty="0">
              <a:latin typeface="Garet Bold"/>
              <a:ea typeface="Garet Bold"/>
              <a:cs typeface="Garet Bold"/>
              <a:sym typeface="Garet Bold"/>
            </a:endParaRPr>
          </a:p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42143E-26B4-E145-0115-0E822D4E55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sz="2400" b="1" dirty="0">
                <a:latin typeface="Garet Bold"/>
                <a:ea typeface="Garet Bold"/>
                <a:cs typeface="Garet Bold"/>
                <a:sym typeface="Garet Bold"/>
              </a:rPr>
              <a:t>Acknowledgement:</a:t>
            </a:r>
          </a:p>
          <a:p>
            <a:pPr algn="just">
              <a:lnSpc>
                <a:spcPct val="150000"/>
              </a:lnSpc>
            </a:pPr>
            <a:r>
              <a:rPr lang="en-US" sz="1875" dirty="0">
                <a:latin typeface="Inter"/>
                <a:ea typeface="Inter"/>
                <a:cs typeface="Inter"/>
                <a:sym typeface="Inter"/>
              </a:rPr>
              <a:t>I would like to express my heartfelt gratitude to:</a:t>
            </a:r>
          </a:p>
          <a:p>
            <a:pPr marL="800100" lvl="1" indent="-342900" algn="just">
              <a:lnSpc>
                <a:spcPct val="150000"/>
              </a:lnSpc>
            </a:pPr>
            <a:r>
              <a:rPr lang="en-US" sz="1875" dirty="0">
                <a:latin typeface="Inter"/>
                <a:ea typeface="Inter"/>
                <a:cs typeface="Inter"/>
                <a:sym typeface="Inter"/>
              </a:rPr>
              <a:t>Infosys Springboard Team for organizing this valuable internship opportunity. </a:t>
            </a:r>
          </a:p>
          <a:p>
            <a:pPr marL="800100" lvl="1" indent="-342900" algn="just">
              <a:lnSpc>
                <a:spcPct val="150000"/>
              </a:lnSpc>
            </a:pPr>
            <a:r>
              <a:rPr lang="en-US" sz="1875" dirty="0">
                <a:latin typeface="Inter"/>
                <a:ea typeface="Inter"/>
                <a:cs typeface="Inter"/>
                <a:sym typeface="Inter"/>
              </a:rPr>
              <a:t>My Mentor </a:t>
            </a:r>
            <a:r>
              <a:rPr lang="en-US" sz="2000" dirty="0"/>
              <a:t>(Nityasree Ma’am)</a:t>
            </a:r>
            <a:r>
              <a:rPr lang="en-US" sz="1875" dirty="0">
                <a:latin typeface="Inter"/>
                <a:ea typeface="Inter"/>
                <a:cs typeface="Inter"/>
                <a:sym typeface="Inter"/>
              </a:rPr>
              <a:t>– for her continuous support and feedback.</a:t>
            </a:r>
          </a:p>
          <a:p>
            <a:pPr marL="800100" lvl="1" indent="-342900" algn="just">
              <a:lnSpc>
                <a:spcPct val="150000"/>
              </a:lnSpc>
            </a:pPr>
            <a:r>
              <a:rPr lang="en-US" sz="1875" dirty="0">
                <a:latin typeface="Inter"/>
                <a:ea typeface="Inter"/>
                <a:cs typeface="Inter"/>
                <a:sym typeface="Inter"/>
              </a:rPr>
              <a:t>My Teammates </a:t>
            </a:r>
            <a:r>
              <a:rPr lang="en-US" sz="2000" dirty="0"/>
              <a:t>(</a:t>
            </a:r>
            <a:r>
              <a:rPr lang="en-US" sz="2000" dirty="0" err="1"/>
              <a:t>Shashank,Garvit</a:t>
            </a:r>
            <a:r>
              <a:rPr lang="en-US" sz="2000" dirty="0"/>
              <a:t>) </a:t>
            </a:r>
            <a:r>
              <a:rPr lang="en-US" sz="1875" dirty="0">
                <a:latin typeface="Inter"/>
                <a:ea typeface="Inter"/>
                <a:cs typeface="Inter"/>
                <a:sym typeface="Inter"/>
              </a:rPr>
              <a:t> – for collaboration, encouragement, and insights.</a:t>
            </a:r>
          </a:p>
          <a:p>
            <a:pPr algn="just">
              <a:lnSpc>
                <a:spcPct val="150000"/>
              </a:lnSpc>
            </a:pPr>
            <a:r>
              <a:rPr lang="en-US" sz="1875" dirty="0">
                <a:latin typeface="Inter"/>
                <a:ea typeface="Inter"/>
                <a:cs typeface="Inter"/>
                <a:sym typeface="Inter"/>
              </a:rPr>
              <a:t>This internship has been a significant step in my professional growth and technical journey.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04035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7133" y="1273971"/>
            <a:ext cx="5801740" cy="2365155"/>
          </a:xfrm>
        </p:spPr>
        <p:txBody>
          <a:bodyPr/>
          <a:lstStyle/>
          <a:p>
            <a:r>
              <a:rPr lang="en-US" sz="11500" dirty="0"/>
              <a:t>Thank You </a:t>
            </a:r>
            <a:br>
              <a:rPr lang="en-US" sz="11500"/>
            </a:br>
            <a:br>
              <a:rPr lang="en-US" sz="11500"/>
            </a:br>
            <a:r>
              <a:rPr lang="en-US" sz="2000"/>
              <a:t>vanshikawadhwa20</a:t>
            </a:r>
            <a:r>
              <a:rPr lang="en-US" sz="2000" dirty="0"/>
              <a:t>@gmail.com</a:t>
            </a:r>
            <a:endParaRPr lang="en-GB" sz="11500" dirty="0"/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83</TotalTime>
  <Words>884</Words>
  <Application>Microsoft Office PowerPoint</Application>
  <PresentationFormat>Widescreen</PresentationFormat>
  <Paragraphs>112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Arial</vt:lpstr>
      <vt:lpstr>Calibri</vt:lpstr>
      <vt:lpstr>Garet</vt:lpstr>
      <vt:lpstr>Garet Bold</vt:lpstr>
      <vt:lpstr>Inter</vt:lpstr>
      <vt:lpstr>Inter Bold</vt:lpstr>
      <vt:lpstr>Petrona Bold</vt:lpstr>
      <vt:lpstr>Telegraf</vt:lpstr>
      <vt:lpstr>Telegraf Bold</vt:lpstr>
      <vt:lpstr>Trade Gothic LT Pro</vt:lpstr>
      <vt:lpstr>Trebuchet MS</vt:lpstr>
      <vt:lpstr>Office Theme</vt:lpstr>
      <vt:lpstr>FOODTRENDS UNDERSTANDING CUSTOMER PREFERENCES IN FB </vt:lpstr>
      <vt:lpstr>PROJECT OBJECTIVE &amp; DESCRIPTION </vt:lpstr>
      <vt:lpstr>SYSTEM DESIGN &amp; WORKFLOW </vt:lpstr>
      <vt:lpstr>PROJECT EXECUTION MILESTONES </vt:lpstr>
      <vt:lpstr>TOP VISUALISATIONS USED </vt:lpstr>
      <vt:lpstr>DASHBOARD SHOWCASE </vt:lpstr>
      <vt:lpstr>CHALLENGES &amp; RESOLUTIONS </vt:lpstr>
      <vt:lpstr>TECHNOLOGIES &amp; SKILLS GAINED This internship provided an invaluable opportunity to apply and enhance a diverse set of technical skills, utilising industry-standard tools to deliver a robust analytics solution.  </vt:lpstr>
      <vt:lpstr>PowerPoint Presentation</vt:lpstr>
      <vt:lpstr>CONCLUSION, ACKNOWLEDGEMENT &amp; REFERENCES </vt:lpstr>
      <vt:lpstr>Thank You   vanshikawadhwa20@gmail.com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5</cp:revision>
  <dcterms:created xsi:type="dcterms:W3CDTF">2026-02-10T12:59:22Z</dcterms:created>
  <dcterms:modified xsi:type="dcterms:W3CDTF">2026-02-10T14:22:46Z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