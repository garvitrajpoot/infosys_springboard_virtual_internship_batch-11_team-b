
<file path=[Content_Types].xml><?xml version="1.0" encoding="utf-8"?>
<Types xmlns="http://schemas.openxmlformats.org/package/2006/content-types">
  <Default Extension="xml" ContentType="application/xml"/>
  <Default Extension="xlsx" ContentType="application/vnd.openxmlformats-officedocument.spreadsheetml.sheet"/>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handoutMasterIdLst>
    <p:handoutMasterId r:id="rId15"/>
  </p:handoutMasterIdLst>
  <p:sldIdLst>
    <p:sldId id="256" r:id="rId3"/>
    <p:sldId id="257" r:id="rId4"/>
    <p:sldId id="260" r:id="rId5"/>
    <p:sldId id="258" r:id="rId6"/>
    <p:sldId id="261" r:id="rId7"/>
    <p:sldId id="289" r:id="rId8"/>
    <p:sldId id="290" r:id="rId9"/>
    <p:sldId id="286" r:id="rId10"/>
    <p:sldId id="287" r:id="rId11"/>
    <p:sldId id="28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BDB39-391B-456A-95AD-4D09BD396613}">
          <p14:sldIdLst>
            <p14:sldId id="256"/>
            <p14:sldId id="257"/>
            <p14:sldId id="260"/>
          </p14:sldIdLst>
        </p14:section>
        <p14:section name="Untitled Section" id="{D7D7B786-FA45-4189-88D5-2B9BEC4A3156}">
          <p14:sldIdLst>
            <p14:sldId id="258"/>
            <p14:sldId id="261"/>
            <p14:sldId id="289"/>
            <p14:sldId id="290"/>
            <p14:sldId id="286"/>
            <p14:sldId id="287"/>
            <p14:sldId id="288"/>
          </p14:sldIdLst>
        </p14:section>
        <p14:section name="Untitled Section" id="{8930EC0D-2A33-4C68-B527-BFFC7283A3A0}">
          <p14:sldIdLst>
            <p14:sldId id="2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3A"/>
    <a:srgbClr val="103350"/>
    <a:srgbClr val="0C4360"/>
    <a:srgbClr val="1B6872"/>
    <a:srgbClr val="63B7C6"/>
    <a:srgbClr val="002136"/>
    <a:srgbClr val="0C75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3" d="100"/>
          <a:sy n="83" d="100"/>
        </p:scale>
        <p:origin x="686" y="8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76616633858268"/>
          <c:y val="0.249311184859746"/>
          <c:w val="0.892338336614173"/>
          <c:h val="0.674537560237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delete val="1"/>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spPr>
            <a:solidFill>
              <a:schemeClr val="accent2"/>
            </a:solidFill>
            <a:ln>
              <a:noFill/>
            </a:ln>
            <a:effectLst/>
          </c:spPr>
          <c:invertIfNegative val="0"/>
          <c:dLbls>
            <c:delete val="1"/>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c:v>
                </c:pt>
                <c:pt idx="2">
                  <c:v>1.8</c:v>
                </c:pt>
                <c:pt idx="3">
                  <c:v>2.8</c:v>
                </c:pt>
              </c:numCache>
            </c:numRef>
          </c:val>
        </c:ser>
        <c:dLbls>
          <c:showLegendKey val="0"/>
          <c:showVal val="0"/>
          <c:showCatName val="0"/>
          <c:showSerName val="0"/>
          <c:showPercent val="0"/>
          <c:showBubbleSize val="0"/>
        </c:dLbls>
        <c:gapWidth val="219"/>
        <c:overlap val="-27"/>
        <c:axId val="598401328"/>
        <c:axId val="598403248"/>
      </c:barChart>
      <c:lineChart>
        <c:grouping val="standard"/>
        <c:varyColors val="0"/>
        <c:ser>
          <c:idx val="2"/>
          <c:order val="2"/>
          <c:tx>
            <c:strRef>
              <c:f>Sheet1!$D$1</c:f>
              <c:strCache>
                <c:ptCount val="1"/>
                <c:pt idx="0">
                  <c:v>Series 3</c:v>
                </c:pt>
              </c:strCache>
            </c:strRef>
          </c:tx>
          <c:spPr>
            <a:ln w="28575" cap="rnd">
              <a:solidFill>
                <a:schemeClr val="accent3"/>
              </a:solidFill>
              <a:round/>
            </a:ln>
            <a:effectLst/>
          </c:spPr>
          <c:marker>
            <c:symbol val="none"/>
          </c:marker>
          <c:dLbls>
            <c:delete val="1"/>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ser>
        <c:dLbls>
          <c:showLegendKey val="0"/>
          <c:showVal val="0"/>
          <c:showCatName val="0"/>
          <c:showSerName val="0"/>
          <c:showPercent val="0"/>
          <c:showBubbleSize val="0"/>
        </c:dLbls>
        <c:marker val="0"/>
        <c:smooth val="0"/>
        <c:axId val="598401328"/>
        <c:axId val="598403248"/>
      </c:lineChart>
      <c:catAx>
        <c:axId val="598401328"/>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598403248"/>
        <c:crosses val="autoZero"/>
        <c:auto val="1"/>
        <c:lblAlgn val="ctr"/>
        <c:lblOffset val="100"/>
        <c:noMultiLvlLbl val="0"/>
      </c:catAx>
      <c:valAx>
        <c:axId val="598403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598401328"/>
        <c:crosses val="autoZero"/>
        <c:crossBetween val="between"/>
      </c:valAx>
      <c:spPr>
        <a:noFill/>
        <a:ln>
          <a:noFill/>
        </a:ln>
        <a:effectLst/>
      </c:spPr>
    </c:plotArea>
    <c:plotVisOnly val="1"/>
    <c:dispBlanksAs val="gap"/>
    <c:showDLblsOverMax val="0"/>
    <c:extLst>
      <c:ext uri="{0b15fc19-7d7d-44ad-8c2d-2c3a37ce22c3}">
        <chartProps xmlns="https://web.wps.cn/et/2018/main" chartId="{a6fe648e-baca-4855-96d7-33e1ca83a5c8}"/>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Sheet1!$B$1</c:f>
              <c:strCache>
                <c:ptCount val="1"/>
                <c:pt idx="0">
                  <c:v>Y-Values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lumMod val="75000"/>
                        <a:lumOff val="2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xVal>
            <c:numRef>
              <c:f>Sheet1!$A$2:$A$4</c:f>
              <c:numCache>
                <c:formatCode>General</c:formatCode>
                <c:ptCount val="3"/>
                <c:pt idx="0">
                  <c:v>0.7</c:v>
                </c:pt>
                <c:pt idx="1">
                  <c:v>1.8</c:v>
                </c:pt>
                <c:pt idx="2">
                  <c:v>2.6</c:v>
                </c:pt>
              </c:numCache>
            </c:numRef>
          </c:xVal>
          <c:yVal>
            <c:numRef>
              <c:f>Sheet1!$B$2:$B$4</c:f>
              <c:numCache>
                <c:formatCode>General</c:formatCode>
                <c:ptCount val="3"/>
                <c:pt idx="0">
                  <c:v>2.7</c:v>
                </c:pt>
                <c:pt idx="1">
                  <c:v>3.2</c:v>
                </c:pt>
                <c:pt idx="2">
                  <c:v>0.8</c:v>
                </c:pt>
              </c:numCache>
            </c:numRef>
          </c:yVal>
          <c:bubbleSize>
            <c:numRef>
              <c:f>Sheet1!$C$2:$C$4</c:f>
              <c:numCache>
                <c:formatCode>General</c:formatCode>
                <c:ptCount val="3"/>
                <c:pt idx="0">
                  <c:v>10</c:v>
                </c:pt>
                <c:pt idx="1">
                  <c:v>4</c:v>
                </c:pt>
                <c:pt idx="2">
                  <c:v>8</c:v>
                </c:pt>
              </c:numCache>
            </c:numRef>
          </c:bubbleSize>
          <c:bubble3D val="1"/>
        </c:ser>
        <c:dLbls>
          <c:showLegendKey val="0"/>
          <c:showVal val="1"/>
          <c:showCatName val="0"/>
          <c:showSerName val="0"/>
          <c:showPercent val="0"/>
          <c:showBubbleSize val="0"/>
        </c:dLbls>
        <c:bubbleScale val="100"/>
        <c:showNegBubbles val="0"/>
        <c:sizeRepresents val="area"/>
        <c:axId val="598412848"/>
        <c:axId val="598407088"/>
      </c:bubbleChart>
      <c:valAx>
        <c:axId val="5984128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598407088"/>
        <c:crosses val="autoZero"/>
        <c:crossBetween val="midCat"/>
      </c:valAx>
      <c:valAx>
        <c:axId val="598407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598412848"/>
        <c:crosses val="autoZero"/>
        <c:crossBetween val="midCat"/>
      </c:valAx>
      <c:spPr>
        <a:noFill/>
        <a:ln>
          <a:noFill/>
        </a:ln>
        <a:effectLst/>
      </c:spPr>
    </c:plotArea>
    <c:plotVisOnly val="1"/>
    <c:dispBlanksAs val="gap"/>
    <c:showDLblsOverMax val="0"/>
    <c:extLst>
      <c:ext uri="{0b15fc19-7d7d-44ad-8c2d-2c3a37ce22c3}">
        <chartProps xmlns="https://web.wps.cn/et/2018/main" chartId="{2e19e1af-85d1-4714-9781-acb0c6045ec7}"/>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p:cNvGrpSpPr/>
          <p:nvPr userDrawn="1"/>
        </p:nvGrpSpPr>
        <p:grpSpPr>
          <a:xfrm>
            <a:off x="-1604709" y="-3756"/>
            <a:ext cx="13796710" cy="6861756"/>
            <a:chOff x="-1604709" y="-3756"/>
            <a:chExt cx="13796710" cy="6861756"/>
          </a:xfrm>
        </p:grpSpPr>
        <p:grpSp>
          <p:nvGrpSpPr>
            <p:cNvPr id="8" name="Group 7"/>
            <p:cNvGrpSpPr/>
            <p:nvPr/>
          </p:nvGrpSpPr>
          <p:grpSpPr>
            <a:xfrm>
              <a:off x="-16298" y="0"/>
              <a:ext cx="12208299" cy="6858000"/>
              <a:chOff x="-16298" y="0"/>
              <a:chExt cx="12208299" cy="6858000"/>
            </a:xfrm>
          </p:grpSpPr>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p:cNvGrpSpPr/>
            <p:nvPr/>
          </p:nvGrpSpPr>
          <p:grpSpPr>
            <a:xfrm>
              <a:off x="-760406" y="4672937"/>
              <a:ext cx="1520812" cy="1520812"/>
              <a:chOff x="-1604709" y="3012880"/>
              <a:chExt cx="3211378" cy="3211378"/>
            </a:xfrm>
          </p:grpSpPr>
          <p:sp>
            <p:nvSpPr>
              <p:cNvPr id="13" name="Freeform: Shape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endParaRPr lang="en-US" noProof="0"/>
          </a:p>
        </p:txBody>
      </p:sp>
      <p:sp>
        <p:nvSpPr>
          <p:cNvPr id="3" name="Subtitle 2"/>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endParaRPr 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p:cNvGrpSpPr/>
          <p:nvPr userDrawn="1"/>
        </p:nvGrpSpPr>
        <p:grpSpPr>
          <a:xfrm rot="16200000">
            <a:off x="431651" y="-917359"/>
            <a:ext cx="1532001" cy="1826463"/>
            <a:chOff x="10800164" y="7142066"/>
            <a:chExt cx="2775293" cy="3308724"/>
          </a:xfrm>
        </p:grpSpPr>
        <p:sp>
          <p:nvSpPr>
            <p:cNvPr id="17" name="Freeform: Shape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p:cNvGrpSpPr/>
          <p:nvPr userDrawn="1"/>
        </p:nvGrpSpPr>
        <p:grpSpPr>
          <a:xfrm rot="16200000">
            <a:off x="1992859" y="-497210"/>
            <a:ext cx="818398" cy="986162"/>
            <a:chOff x="10945855" y="7317026"/>
            <a:chExt cx="2483924" cy="2993104"/>
          </a:xfrm>
        </p:grpSpPr>
        <p:sp>
          <p:nvSpPr>
            <p:cNvPr id="20" name="Freeform: Shape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endParaRPr lang="en-US" noProof="0"/>
          </a:p>
        </p:txBody>
      </p:sp>
      <p:sp>
        <p:nvSpPr>
          <p:cNvPr id="22"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3"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endParaRPr 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p:cNvGrpSpPr/>
          <p:nvPr userDrawn="1"/>
        </p:nvGrpSpPr>
        <p:grpSpPr>
          <a:xfrm>
            <a:off x="9776075" y="2057401"/>
            <a:ext cx="4413559" cy="3934444"/>
            <a:chOff x="9222437" y="1088097"/>
            <a:chExt cx="5433318" cy="4843502"/>
          </a:xfrm>
        </p:grpSpPr>
        <p:sp>
          <p:nvSpPr>
            <p:cNvPr id="27" name="Freeform: Shape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p:cNvGrpSpPr/>
          <p:nvPr userDrawn="1"/>
        </p:nvGrpSpPr>
        <p:grpSpPr>
          <a:xfrm rot="16200000" flipH="1">
            <a:off x="9913705" y="6257994"/>
            <a:ext cx="1052473" cy="1209445"/>
            <a:chOff x="10800165" y="7142066"/>
            <a:chExt cx="2775293" cy="3189215"/>
          </a:xfrm>
        </p:grpSpPr>
        <p:sp>
          <p:nvSpPr>
            <p:cNvPr id="32" name="Freeform: Shape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endParaRPr lang="en-US" noProof="0"/>
          </a:p>
        </p:txBody>
      </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endParaRPr lang="en-US" noProof="0"/>
          </a:p>
        </p:txBody>
      </p:sp>
      <p:sp>
        <p:nvSpPr>
          <p:cNvPr id="3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endParaRPr lang="en-US" sz="18400" noProof="0" dirty="0">
              <a:solidFill>
                <a:schemeClr val="accent1">
                  <a:lumMod val="60000"/>
                  <a:lumOff val="40000"/>
                </a:schemeClr>
              </a:solidFill>
              <a:latin typeface="+mj-lt"/>
            </a:endParaRPr>
          </a:p>
        </p:txBody>
      </p:sp>
      <p:sp>
        <p:nvSpPr>
          <p:cNvPr id="2" name="Title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endParaRPr lang="en-US" noProof="0"/>
          </a:p>
        </p:txBody>
      </p:sp>
      <p:sp>
        <p:nvSpPr>
          <p:cNvPr id="19"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7" name="Text Placeholder 6"/>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endParaRPr lang="en-U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0" name="Content Placeholder 2"/>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5" name="Text Placeholder 2"/>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26" name="Text Placeholder 4"/>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27" name="Content Placeholder 3"/>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8" name="Content Placeholder 5"/>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0" name="Content Placeholder 2"/>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1" name="Content Placeholder 3"/>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27" name="Text Placeholder 22"/>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28" name="Text Placeholder 22"/>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29" name="Text Placeholder 22"/>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30" name="Text Placeholder 22"/>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cxnSp>
        <p:nvCxnSpPr>
          <p:cNvPr id="7" name="Straight Connector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endParaRPr lang="en-US" noProof="0" dirty="0"/>
          </a:p>
        </p:txBody>
      </p:sp>
      <p:sp>
        <p:nvSpPr>
          <p:cNvPr id="36" name="Text Placeholder 22"/>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37" name="Text Placeholder 22"/>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endParaRPr lang="en-US" noProof="0"/>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0" name="Picture Placeholder 2"/>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endParaRPr lang="en-U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endParaRPr lang="en-US" noProof="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endParaRPr lang="en-US" noProof="0"/>
          </a:p>
        </p:txBody>
      </p:sp>
      <p:sp>
        <p:nvSpPr>
          <p:cNvPr id="22" name="Content Placeholder 2"/>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p:cNvGrpSpPr/>
          <p:nvPr userDrawn="1"/>
        </p:nvGrpSpPr>
        <p:grpSpPr>
          <a:xfrm rot="16200000">
            <a:off x="499388" y="-322655"/>
            <a:ext cx="535531" cy="645309"/>
            <a:chOff x="10945855" y="7317026"/>
            <a:chExt cx="2483924" cy="2993104"/>
          </a:xfrm>
        </p:grpSpPr>
        <p:sp>
          <p:nvSpPr>
            <p:cNvPr id="25"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fld>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p:cNvGrpSpPr/>
          <p:nvPr userDrawn="1"/>
        </p:nvGrpSpPr>
        <p:grpSpPr>
          <a:xfrm>
            <a:off x="0" y="0"/>
            <a:ext cx="6881966" cy="6858876"/>
            <a:chOff x="-5321" y="1096"/>
            <a:chExt cx="5924073" cy="5904197"/>
          </a:xfrm>
        </p:grpSpPr>
        <p:sp>
          <p:nvSpPr>
            <p:cNvPr id="17" name="Right Triangle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endParaRPr lang="en-US" noProof="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endParaRPr lang="en-US" noProof="0"/>
          </a:p>
        </p:txBody>
      </p:sp>
      <p:sp>
        <p:nvSpPr>
          <p:cNvPr id="35" name="Freeform: Shape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endParaRPr lang="en-US" noProof="0"/>
          </a:p>
        </p:txBody>
      </p:sp>
      <p:sp>
        <p:nvSpPr>
          <p:cNvPr id="3" name="Text Placeholder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Slide Number Placeholder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fld>
            <a:endParaRPr lang="en-US" noProof="0" dirty="0"/>
          </a:p>
        </p:txBody>
      </p:sp>
      <p:sp>
        <p:nvSpPr>
          <p:cNvPr id="5" name="Rectangle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endParaRPr lang="en-US" noProof="0" dirty="0">
              <a:latin typeface="+mj-lt"/>
            </a:endParaRPr>
          </a:p>
        </p:txBody>
      </p:sp>
      <p:grpSp>
        <p:nvGrpSpPr>
          <p:cNvPr id="12" name="Group 11"/>
          <p:cNvGrpSpPr/>
          <p:nvPr userDrawn="1"/>
        </p:nvGrpSpPr>
        <p:grpSpPr>
          <a:xfrm rot="16200000">
            <a:off x="499388" y="-322655"/>
            <a:ext cx="535531" cy="645309"/>
            <a:chOff x="10945855" y="7317026"/>
            <a:chExt cx="2483924" cy="2993104"/>
          </a:xfrm>
        </p:grpSpPr>
        <p:sp>
          <p:nvSpPr>
            <p:cNvPr id="13"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p:cNvGrpSpPr/>
          <p:nvPr userDrawn="1"/>
        </p:nvGrpSpPr>
        <p:grpSpPr>
          <a:xfrm>
            <a:off x="-1" y="1357409"/>
            <a:ext cx="12192001" cy="4846320"/>
            <a:chOff x="-1" y="1357409"/>
            <a:chExt cx="12192001" cy="4917518"/>
          </a:xfrm>
        </p:grpSpPr>
        <p:sp>
          <p:nvSpPr>
            <p:cNvPr id="16" name="Rectangle: Single Corner Snipped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7"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p:cNvSpPr txBox="1"/>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fld>
            <a:endParaRPr 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chart" Target="../charts/chart2.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1534" y="1545389"/>
            <a:ext cx="9087439" cy="5203198"/>
          </a:xfrm>
        </p:spPr>
        <p:txBody>
          <a:bodyPr/>
          <a:lstStyle/>
          <a:p>
            <a:r>
              <a:rPr lang="en-US" sz="6000" dirty="0">
                <a:solidFill>
                  <a:schemeClr val="bg1"/>
                </a:solidFill>
                <a:latin typeface="Garet Bold"/>
                <a:ea typeface="Garet Bold"/>
                <a:cs typeface="Garet Bold"/>
                <a:sym typeface="Garet Bold"/>
              </a:rPr>
              <a:t>INFOSYS SPRINGBOARD VIRTUAL INTERNSHIP 6.0</a:t>
            </a:r>
            <a:br>
              <a:rPr lang="en-US" sz="6000" dirty="0">
                <a:solidFill>
                  <a:srgbClr val="00B0F0"/>
                </a:solidFill>
                <a:latin typeface="Garet Bold"/>
                <a:ea typeface="Garet Bold"/>
                <a:cs typeface="Garet Bold"/>
                <a:sym typeface="Garet Bold"/>
              </a:rPr>
            </a:br>
            <a:br>
              <a:rPr lang="en-US" sz="4000" dirty="0">
                <a:solidFill>
                  <a:srgbClr val="00B0F0"/>
                </a:solidFill>
                <a:latin typeface="Garet Bold"/>
                <a:ea typeface="Garet Bold"/>
                <a:cs typeface="Garet Bold"/>
                <a:sym typeface="Garet Bold"/>
              </a:rPr>
            </a:br>
            <a:r>
              <a:rPr lang="en-US" sz="4000" dirty="0">
                <a:solidFill>
                  <a:srgbClr val="00B0F0"/>
                </a:solidFill>
                <a:latin typeface="Garet Bold"/>
                <a:ea typeface="Garet Bold"/>
                <a:cs typeface="Garet Bold"/>
                <a:sym typeface="Garet Bold"/>
              </a:rPr>
              <a:t>FOODTRENDS UNDERSTANDING CUSTOMER PREFERENCES IN FB</a:t>
            </a:r>
            <a:br>
              <a:rPr lang="en-US" sz="4800" dirty="0">
                <a:solidFill>
                  <a:srgbClr val="00B0F0"/>
                </a:solidFill>
                <a:latin typeface="Garet Bold"/>
                <a:ea typeface="Garet Bold"/>
                <a:cs typeface="Garet Bold"/>
                <a:sym typeface="Garet Bold"/>
              </a:rPr>
            </a:br>
            <a:r>
              <a:rPr lang="en-US" sz="4800" dirty="0">
                <a:solidFill>
                  <a:srgbClr val="00B0F0"/>
                </a:solidFill>
                <a:latin typeface="Garet Bold"/>
                <a:ea typeface="Garet Bold"/>
                <a:cs typeface="Garet Bold"/>
                <a:sym typeface="Garet Bold"/>
              </a:rPr>
              <a:t>	     </a:t>
            </a:r>
            <a:r>
              <a:rPr lang="en-US" sz="3600" dirty="0">
                <a:solidFill>
                  <a:schemeClr val="accent6">
                    <a:lumMod val="60000"/>
                    <a:lumOff val="40000"/>
                  </a:schemeClr>
                </a:solidFill>
                <a:latin typeface="Garet Bold"/>
                <a:ea typeface="Garet Bold"/>
                <a:cs typeface="Garet Bold"/>
                <a:sym typeface="Garet Bold"/>
              </a:rPr>
              <a:t>Group 1 – Batch 11</a:t>
            </a:r>
            <a:br>
              <a:rPr lang="en-US" sz="3600" dirty="0">
                <a:solidFill>
                  <a:schemeClr val="accent6">
                    <a:lumMod val="60000"/>
                    <a:lumOff val="40000"/>
                  </a:schemeClr>
                </a:solidFill>
                <a:latin typeface="Garet Bold"/>
                <a:ea typeface="Garet Bold"/>
                <a:cs typeface="Garet Bold"/>
                <a:sym typeface="Garet Bold"/>
              </a:rPr>
            </a:br>
            <a:r>
              <a:rPr lang="en-US" sz="3600" dirty="0">
                <a:solidFill>
                  <a:schemeClr val="accent6">
                    <a:lumMod val="60000"/>
                    <a:lumOff val="40000"/>
                  </a:schemeClr>
                </a:solidFill>
                <a:latin typeface="Garet Bold"/>
                <a:ea typeface="Garet Bold"/>
                <a:cs typeface="Garet Bold"/>
                <a:sym typeface="Garet Bold"/>
              </a:rPr>
              <a:t>	                TEAM B</a:t>
            </a:r>
            <a:endParaRPr lang="en-US" sz="4800" dirty="0">
              <a:solidFill>
                <a:schemeClr val="accent6">
                  <a:lumMod val="60000"/>
                  <a:lumOff val="40000"/>
                </a:schemeClr>
              </a:solidFill>
            </a:endParaRPr>
          </a:p>
        </p:txBody>
      </p:sp>
      <p:sp>
        <p:nvSpPr>
          <p:cNvPr id="3" name="Subtitle 2"/>
          <p:cNvSpPr>
            <a:spLocks noGrp="1"/>
          </p:cNvSpPr>
          <p:nvPr>
            <p:ph type="subTitle" idx="1"/>
          </p:nvPr>
        </p:nvSpPr>
        <p:spPr>
          <a:xfrm>
            <a:off x="7821465" y="5889790"/>
            <a:ext cx="7077456" cy="858797"/>
          </a:xfrm>
        </p:spPr>
        <p:txBody>
          <a:bodyPr>
            <a:normAutofit/>
          </a:bodyPr>
          <a:lstStyle/>
          <a:p>
            <a:r>
              <a:rPr lang="en-US" sz="2000" b="1" dirty="0">
                <a:latin typeface="Garet"/>
                <a:ea typeface="Garet"/>
                <a:cs typeface="Garet"/>
                <a:sym typeface="Garet"/>
              </a:rPr>
              <a:t>Submitted By: Vanshika</a:t>
            </a:r>
            <a:endParaRPr lang="en-US" sz="2000" b="1" dirty="0">
              <a:latin typeface="Garet"/>
              <a:ea typeface="Garet"/>
              <a:cs typeface="Garet"/>
              <a:sym typeface="Garet"/>
            </a:endParaRPr>
          </a:p>
          <a:p>
            <a:r>
              <a:rPr lang="en-US" sz="2000" b="1" dirty="0">
                <a:latin typeface="Garet"/>
                <a:ea typeface="Garet"/>
                <a:cs typeface="Garet"/>
                <a:sym typeface="Garet"/>
              </a:rPr>
              <a:t>Submitted To: Nityasree</a:t>
            </a:r>
            <a:endParaRPr lang="en-US" sz="2000" b="1" dirty="0"/>
          </a:p>
        </p:txBody>
      </p:sp>
      <p:grpSp>
        <p:nvGrpSpPr>
          <p:cNvPr id="4" name="Group 14"/>
          <p:cNvGrpSpPr/>
          <p:nvPr/>
        </p:nvGrpSpPr>
        <p:grpSpPr>
          <a:xfrm>
            <a:off x="9617710" y="212090"/>
            <a:ext cx="2428875" cy="2881630"/>
            <a:chOff x="42925" y="-174339"/>
            <a:chExt cx="812800" cy="812800"/>
          </a:xfrm>
        </p:grpSpPr>
        <p:sp>
          <p:nvSpPr>
            <p:cNvPr id="5" name="Freeform 15"/>
            <p:cNvSpPr/>
            <p:nvPr/>
          </p:nvSpPr>
          <p:spPr>
            <a:xfrm>
              <a:off x="42925" y="-174339"/>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1"/>
              <a:stretch>
                <a:fillRect l="-8250" r="-8250"/>
              </a:stretch>
            </a:blipFill>
            <a:ln w="76200" cap="sq">
              <a:solidFill>
                <a:srgbClr val="FFFFFF"/>
              </a:solidFill>
              <a:prstDash val="solid"/>
              <a:miter/>
            </a:ln>
          </p:spPr>
          <p:txBody>
            <a:bodyPr/>
            <a:lstStyle/>
            <a:p>
              <a:endParaRPr lang="en-IN" dirty="0"/>
            </a:p>
          </p:txBody>
        </p:sp>
      </p:gr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47782"/>
            <a:ext cx="10935024" cy="2025073"/>
          </a:xfrm>
        </p:spPr>
        <p:txBody>
          <a:bodyPr>
            <a:normAutofit/>
          </a:bodyPr>
          <a:lstStyle/>
          <a:p>
            <a:r>
              <a:rPr lang="en-US" sz="4400" dirty="0"/>
              <a:t>PROJECT OBJECTIVE &amp; DESCRIPTION</a:t>
            </a:r>
            <a:br>
              <a:rPr lang="en-US" sz="4400" dirty="0"/>
            </a:br>
            <a:endParaRPr lang="en-US" sz="4400" dirty="0"/>
          </a:p>
        </p:txBody>
      </p:sp>
      <p:sp>
        <p:nvSpPr>
          <p:cNvPr id="5" name="Text Placeholder 4"/>
          <p:cNvSpPr>
            <a:spLocks noGrp="1"/>
          </p:cNvSpPr>
          <p:nvPr>
            <p:ph type="body" idx="1"/>
          </p:nvPr>
        </p:nvSpPr>
        <p:spPr>
          <a:xfrm>
            <a:off x="83703" y="1426094"/>
            <a:ext cx="11664951" cy="5431906"/>
          </a:xfrm>
        </p:spPr>
        <p:txBody>
          <a:bodyPr>
            <a:normAutofit fontScale="92500" lnSpcReduction="10000"/>
          </a:bodyPr>
          <a:lstStyle/>
          <a:p>
            <a:r>
              <a:rPr lang="en-US" sz="3000" b="1" u="sng" dirty="0">
                <a:solidFill>
                  <a:schemeClr val="bg1"/>
                </a:solidFill>
              </a:rPr>
              <a:t>Objective:</a:t>
            </a:r>
            <a:endParaRPr lang="en-US" sz="3000" b="1" u="sng" dirty="0">
              <a:solidFill>
                <a:schemeClr val="bg1"/>
              </a:solidFill>
            </a:endParaRPr>
          </a:p>
          <a:p>
            <a:r>
              <a:rPr lang="en-US" sz="2400" dirty="0">
                <a:solidFill>
                  <a:schemeClr val="bg1"/>
                </a:solidFill>
              </a:rPr>
              <a:t>To analyze over 138,000 transaction records and transform raw data into a strategic decision-support system. The primary objective is to bridge the gap between Customer Demand and Operational Supply by moving beyond simple reporting to Root Cause Analysis. This involves pinpointing specific logistics bottlenecks, optimizing menu pricing strategies to boost Average Order Value (AOV), and identifying retention risks within the customer base to drive sustainable revenue growth.</a:t>
            </a:r>
            <a:endParaRPr lang="en-US" sz="2185" dirty="0">
              <a:solidFill>
                <a:schemeClr val="bg1"/>
              </a:solidFill>
              <a:latin typeface="Inter"/>
              <a:ea typeface="Inter"/>
              <a:cs typeface="Inter"/>
              <a:sym typeface="Inter"/>
            </a:endParaRPr>
          </a:p>
          <a:p>
            <a:endParaRPr lang="en-US" sz="2400" dirty="0"/>
          </a:p>
          <a:p>
            <a:r>
              <a:rPr lang="en-US" sz="2600" b="1" u="sng" dirty="0">
                <a:solidFill>
                  <a:schemeClr val="bg1"/>
                </a:solidFill>
                <a:latin typeface="Garet Bold"/>
                <a:ea typeface="Garet Bold"/>
                <a:cs typeface="Garet Bold"/>
                <a:sym typeface="Garet Bold"/>
              </a:rPr>
              <a:t>Description:</a:t>
            </a:r>
            <a:endParaRPr lang="en-US" sz="2600" b="1" u="sng" dirty="0">
              <a:solidFill>
                <a:schemeClr val="bg1"/>
              </a:solidFill>
              <a:latin typeface="Garet Bold"/>
              <a:ea typeface="Garet Bold"/>
              <a:cs typeface="Garet Bold"/>
              <a:sym typeface="Garet Bold"/>
            </a:endParaRPr>
          </a:p>
          <a:p>
            <a:r>
              <a:rPr lang="en-US" sz="1700" dirty="0">
                <a:solidFill>
                  <a:schemeClr val="bg1"/>
                </a:solidFill>
              </a:rPr>
              <a:t>In the competitive FB landscape, operational efficiency is directly tied to profitability. This project deploys Microsoft Power BI to engineer a full-scale analytical solution. Starting with raw data ingestion and ETL transformation, we constructed a Star Schema data model to simulate real-world business scenarios. The final dashboard ecosystem focuses on Menu Optimization (identifying "Cash Cows" vs. "Dogs"), Logistics Performance, and Customer Sentiment, providing stakeholders with the actionable intelligence needed to reduce churn and increase Average Order Value (AOV).</a:t>
            </a:r>
            <a:endParaRPr lang="en-US" sz="1700" dirty="0">
              <a:solidFill>
                <a:schemeClr val="bg1"/>
              </a:solidFill>
              <a:latin typeface="Inter"/>
              <a:ea typeface="Inter"/>
              <a:cs typeface="Inter"/>
              <a:sym typeface="Inter"/>
            </a:endParaRPr>
          </a:p>
          <a:p>
            <a:endParaRPr lang="en-US" dirty="0"/>
          </a:p>
          <a:p>
            <a:endParaRPr lang="en-US" dirty="0"/>
          </a:p>
        </p:txBody>
      </p:sp>
      <p:sp>
        <p:nvSpPr>
          <p:cNvPr id="2" name="Slide Number Placeholder 1"/>
          <p:cNvSpPr>
            <a:spLocks noGrp="1"/>
          </p:cNvSpPr>
          <p:nvPr>
            <p:ph type="sldNum" sz="quarter" idx="12"/>
          </p:nvPr>
        </p:nvSpPr>
        <p:spPr/>
        <p:txBody>
          <a:bodyPr/>
          <a:lstStyle/>
          <a:p>
            <a:fld id="{C263D6C4-4840-40CC-AC84-17E24B3B7BDE}"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849" y="727363"/>
            <a:ext cx="11221351" cy="859055"/>
          </a:xfrm>
        </p:spPr>
        <p:txBody>
          <a:bodyPr>
            <a:normAutofit fontScale="90000"/>
          </a:bodyPr>
          <a:lstStyle/>
          <a:p>
            <a:r>
              <a:rPr lang="en-US" dirty="0">
                <a:latin typeface="Garet Bold"/>
                <a:ea typeface="Garet Bold"/>
                <a:cs typeface="Garet Bold"/>
                <a:sym typeface="Garet Bold"/>
              </a:rPr>
              <a:t>SYSTEM DESIGN &amp; WORKFLOW</a:t>
            </a:r>
            <a:br>
              <a:rPr lang="en-US" dirty="0">
                <a:latin typeface="Garet Bold"/>
                <a:ea typeface="Garet Bold"/>
                <a:cs typeface="Garet Bold"/>
                <a:sym typeface="Garet Bold"/>
              </a:rPr>
            </a:br>
            <a:endParaRPr lang="en-US" dirty="0"/>
          </a:p>
        </p:txBody>
      </p:sp>
      <p:sp>
        <p:nvSpPr>
          <p:cNvPr id="5" name="Text Placeholder 4"/>
          <p:cNvSpPr>
            <a:spLocks noGrp="1"/>
          </p:cNvSpPr>
          <p:nvPr>
            <p:ph type="body" idx="1"/>
          </p:nvPr>
        </p:nvSpPr>
        <p:spPr>
          <a:xfrm>
            <a:off x="166254" y="2747042"/>
            <a:ext cx="9504218" cy="4962236"/>
          </a:xfrm>
        </p:spPr>
        <p:txBody>
          <a:bodyPr>
            <a:normAutofit/>
          </a:bodyPr>
          <a:lstStyle/>
          <a:p>
            <a:r>
              <a:rPr lang="en-US" sz="2000" b="1" u="sng" dirty="0">
                <a:solidFill>
                  <a:schemeClr val="bg1"/>
                </a:solidFill>
                <a:latin typeface="Garet Bold"/>
                <a:ea typeface="Garet Bold"/>
                <a:cs typeface="Garet Bold"/>
                <a:sym typeface="Garet Bold"/>
              </a:rPr>
              <a:t>Business Understanding:</a:t>
            </a:r>
            <a:endParaRPr lang="en-US" sz="2000" b="1" u="sng" dirty="0">
              <a:solidFill>
                <a:schemeClr val="bg1"/>
              </a:solidFill>
              <a:latin typeface="Garet Bold"/>
              <a:ea typeface="Garet Bold"/>
              <a:cs typeface="Garet Bold"/>
              <a:sym typeface="Garet Bold"/>
            </a:endParaRPr>
          </a:p>
          <a:p>
            <a:r>
              <a:rPr lang="en-US" b="1" dirty="0">
                <a:solidFill>
                  <a:schemeClr val="accent2">
                    <a:lumMod val="40000"/>
                    <a:lumOff val="60000"/>
                  </a:schemeClr>
                </a:solidFill>
                <a:ea typeface="Garet Bold"/>
                <a:sym typeface="Garet Bold"/>
              </a:rPr>
              <a:t>Implemented a Star Schema Data Model connecting a central </a:t>
            </a:r>
            <a:r>
              <a:rPr lang="en-US" b="1" dirty="0" err="1">
                <a:solidFill>
                  <a:schemeClr val="accent2">
                    <a:lumMod val="40000"/>
                    <a:lumOff val="60000"/>
                  </a:schemeClr>
                </a:solidFill>
                <a:ea typeface="Garet Bold"/>
                <a:sym typeface="Garet Bold"/>
              </a:rPr>
              <a:t>Fact_Orders</a:t>
            </a:r>
            <a:r>
              <a:rPr lang="en-US" b="1" dirty="0">
                <a:solidFill>
                  <a:schemeClr val="accent2">
                    <a:lumMod val="40000"/>
                    <a:lumOff val="60000"/>
                  </a:schemeClr>
                </a:solidFill>
                <a:ea typeface="Garet Bold"/>
                <a:sym typeface="Garet Bold"/>
              </a:rPr>
              <a:t> table to 5 Dimension tables (Dim_Customer, </a:t>
            </a:r>
            <a:r>
              <a:rPr lang="en-US" b="1" dirty="0" err="1">
                <a:solidFill>
                  <a:schemeClr val="accent2">
                    <a:lumMod val="40000"/>
                    <a:lumOff val="60000"/>
                  </a:schemeClr>
                </a:solidFill>
                <a:ea typeface="Garet Bold"/>
                <a:sym typeface="Garet Bold"/>
              </a:rPr>
              <a:t>Dim_Restaurant</a:t>
            </a:r>
            <a:r>
              <a:rPr lang="en-US" b="1" dirty="0">
                <a:solidFill>
                  <a:schemeClr val="accent2">
                    <a:lumMod val="40000"/>
                    <a:lumOff val="60000"/>
                  </a:schemeClr>
                </a:solidFill>
                <a:ea typeface="Garet Bold"/>
                <a:sym typeface="Garet Bold"/>
              </a:rPr>
              <a:t>, etc.).</a:t>
            </a:r>
            <a:endParaRPr lang="en-US" sz="1800" b="1" dirty="0">
              <a:solidFill>
                <a:schemeClr val="bg1"/>
              </a:solidFill>
              <a:latin typeface="Garet Bold"/>
              <a:ea typeface="Garet Bold"/>
              <a:cs typeface="Garet Bold"/>
              <a:sym typeface="Garet Bold"/>
            </a:endParaRPr>
          </a:p>
          <a:p>
            <a:r>
              <a:rPr lang="en-US" sz="2000" b="1" u="sng" dirty="0">
                <a:solidFill>
                  <a:schemeClr val="bg1"/>
                </a:solidFill>
                <a:latin typeface="Garet Bold"/>
                <a:ea typeface="Garet Bold"/>
                <a:cs typeface="Garet Bold"/>
                <a:sym typeface="Garet Bold"/>
              </a:rPr>
              <a:t>Data Collection &amp; pre-processing:</a:t>
            </a:r>
            <a:endParaRPr lang="en-US" sz="2000" b="1" u="sng" dirty="0">
              <a:solidFill>
                <a:schemeClr val="bg1"/>
              </a:solidFill>
              <a:latin typeface="Garet Bold"/>
              <a:ea typeface="Garet Bold"/>
              <a:cs typeface="Garet Bold"/>
              <a:sym typeface="Garet Bold"/>
            </a:endParaRPr>
          </a:p>
          <a:p>
            <a:r>
              <a:rPr lang="en-US" b="1" dirty="0">
                <a:solidFill>
                  <a:schemeClr val="accent2">
                    <a:lumMod val="40000"/>
                    <a:lumOff val="60000"/>
                  </a:schemeClr>
                </a:solidFill>
                <a:ea typeface="Garet Bold"/>
                <a:cs typeface="Garet Bold"/>
                <a:sym typeface="Garet Bold"/>
              </a:rPr>
              <a:t>Cleaned null ratings and </a:t>
            </a:r>
            <a:r>
              <a:rPr lang="en-US" b="1" dirty="0" err="1">
                <a:solidFill>
                  <a:schemeClr val="accent2">
                    <a:lumMod val="40000"/>
                    <a:lumOff val="60000"/>
                  </a:schemeClr>
                </a:solidFill>
                <a:ea typeface="Garet Bold"/>
                <a:cs typeface="Garet Bold"/>
                <a:sym typeface="Garet Bold"/>
              </a:rPr>
              <a:t>standardised</a:t>
            </a:r>
            <a:r>
              <a:rPr lang="en-US" b="1" dirty="0">
                <a:solidFill>
                  <a:schemeClr val="accent2">
                    <a:lumMod val="40000"/>
                    <a:lumOff val="60000"/>
                  </a:schemeClr>
                </a:solidFill>
                <a:ea typeface="Garet Bold"/>
                <a:cs typeface="Garet Bold"/>
                <a:sym typeface="Garet Bold"/>
              </a:rPr>
              <a:t> city names using Power Query to ensure data integrity.</a:t>
            </a:r>
            <a:endParaRPr lang="en-US" sz="1800" b="1" dirty="0">
              <a:solidFill>
                <a:schemeClr val="bg1"/>
              </a:solidFill>
              <a:latin typeface="Garet Bold"/>
              <a:ea typeface="Garet Bold"/>
              <a:cs typeface="Garet Bold"/>
              <a:sym typeface="Garet Bold"/>
            </a:endParaRPr>
          </a:p>
          <a:p>
            <a:r>
              <a:rPr lang="en-US" sz="2000" b="1" u="sng" dirty="0">
                <a:solidFill>
                  <a:schemeClr val="bg1"/>
                </a:solidFill>
                <a:latin typeface="Garet Bold"/>
                <a:ea typeface="Garet Bold"/>
                <a:cs typeface="Garet Bold"/>
                <a:sym typeface="Garet Bold"/>
              </a:rPr>
              <a:t>Modelling:</a:t>
            </a:r>
            <a:endParaRPr lang="en-US" sz="2000" b="1" u="sng" dirty="0">
              <a:solidFill>
                <a:schemeClr val="bg1"/>
              </a:solidFill>
              <a:latin typeface="Garet Bold"/>
              <a:ea typeface="Garet Bold"/>
              <a:cs typeface="Garet Bold"/>
              <a:sym typeface="Garet Bold"/>
            </a:endParaRPr>
          </a:p>
          <a:p>
            <a:r>
              <a:rPr lang="en-US" b="1" dirty="0">
                <a:solidFill>
                  <a:schemeClr val="accent2">
                    <a:lumMod val="40000"/>
                    <a:lumOff val="60000"/>
                  </a:schemeClr>
                </a:solidFill>
                <a:latin typeface="Arial" panose="020B0604020202020204" pitchFamily="34" charset="0"/>
                <a:ea typeface="Garet Bold"/>
                <a:sym typeface="Garet Bold"/>
              </a:rPr>
              <a:t>Established active One-to-Many relationships for accurate filtering and robust data analysis.</a:t>
            </a:r>
            <a:endParaRPr lang="en-US" sz="1800" b="1" dirty="0">
              <a:solidFill>
                <a:schemeClr val="bg1"/>
              </a:solidFill>
              <a:latin typeface="Garet Bold"/>
              <a:ea typeface="Garet Bold"/>
              <a:cs typeface="Garet Bold"/>
              <a:sym typeface="Garet Bold"/>
            </a:endParaRPr>
          </a:p>
          <a:p>
            <a:r>
              <a:rPr lang="en-US" sz="2000" b="1" u="sng" dirty="0" err="1">
                <a:solidFill>
                  <a:schemeClr val="bg1"/>
                </a:solidFill>
                <a:latin typeface="Garet Bold"/>
                <a:ea typeface="Garet Bold"/>
                <a:cs typeface="Garet Bold"/>
                <a:sym typeface="Garet Bold"/>
              </a:rPr>
              <a:t>Visualisation</a:t>
            </a:r>
            <a:r>
              <a:rPr lang="en-US" sz="2000" b="1" u="sng" dirty="0">
                <a:solidFill>
                  <a:schemeClr val="bg1"/>
                </a:solidFill>
                <a:latin typeface="Garet Bold"/>
                <a:ea typeface="Garet Bold"/>
                <a:cs typeface="Garet Bold"/>
                <a:sym typeface="Garet Bold"/>
              </a:rPr>
              <a:t>:</a:t>
            </a:r>
            <a:endParaRPr lang="en-US" sz="2000" b="1" u="sng" dirty="0">
              <a:solidFill>
                <a:schemeClr val="bg1"/>
              </a:solidFill>
              <a:latin typeface="Garet Bold"/>
              <a:ea typeface="Garet Bold"/>
              <a:cs typeface="Garet Bold"/>
              <a:sym typeface="Garet Bold"/>
            </a:endParaRPr>
          </a:p>
          <a:p>
            <a:r>
              <a:rPr lang="en-US" b="1" dirty="0">
                <a:solidFill>
                  <a:schemeClr val="accent2">
                    <a:lumMod val="40000"/>
                    <a:lumOff val="60000"/>
                  </a:schemeClr>
                </a:solidFill>
                <a:ea typeface="Garet Bold"/>
                <a:cs typeface="Garet Bold"/>
                <a:sym typeface="Garet Bold"/>
              </a:rPr>
              <a:t>Built 7 interactive dashboards for end-to-end analysis, providing comprehensive insights.</a:t>
            </a:r>
            <a:endParaRPr lang="en-US" b="1" dirty="0">
              <a:solidFill>
                <a:schemeClr val="accent2">
                  <a:lumMod val="40000"/>
                  <a:lumOff val="60000"/>
                </a:schemeClr>
              </a:solidFill>
              <a:ea typeface="Garet Bold"/>
              <a:cs typeface="Garet Bold"/>
              <a:sym typeface="Garet Bold"/>
            </a:endParaRPr>
          </a:p>
          <a:p>
            <a:endParaRPr lang="en-US" b="1" dirty="0">
              <a:solidFill>
                <a:schemeClr val="accent2">
                  <a:lumMod val="40000"/>
                  <a:lumOff val="60000"/>
                </a:schemeClr>
              </a:solidFill>
              <a:latin typeface="Garet Bold"/>
              <a:ea typeface="Garet Bold"/>
              <a:cs typeface="Garet Bold"/>
              <a:sym typeface="Garet Bold"/>
            </a:endParaRPr>
          </a:p>
          <a:p>
            <a:endParaRPr lang="en-US" b="1" dirty="0">
              <a:solidFill>
                <a:schemeClr val="accent2">
                  <a:lumMod val="40000"/>
                  <a:lumOff val="60000"/>
                </a:schemeClr>
              </a:solidFill>
              <a:latin typeface="Garet Bold"/>
              <a:ea typeface="Garet Bold"/>
              <a:cs typeface="Garet Bold"/>
              <a:sym typeface="Garet Bold"/>
            </a:endParaRPr>
          </a:p>
          <a:p>
            <a:endParaRPr lang="en-US" dirty="0">
              <a:solidFill>
                <a:schemeClr val="accent2">
                  <a:lumMod val="40000"/>
                  <a:lumOff val="60000"/>
                </a:schemeClr>
              </a:solidFill>
            </a:endParaRPr>
          </a:p>
        </p:txBody>
      </p:sp>
      <p:sp>
        <p:nvSpPr>
          <p:cNvPr id="2" name="Slide Number Placeholder 1"/>
          <p:cNvSpPr>
            <a:spLocks noGrp="1"/>
          </p:cNvSpPr>
          <p:nvPr>
            <p:ph type="sldNum" sz="quarter" idx="12"/>
          </p:nvPr>
        </p:nvSpPr>
        <p:spPr/>
        <p:txBody>
          <a:bodyPr/>
          <a:lstStyle/>
          <a:p>
            <a:fld id="{C263D6C4-4840-40CC-AC84-17E24B3B7BDE}" type="slidenum">
              <a:rPr lang="en-US" smtClean="0"/>
            </a:fld>
            <a:endParaRPr lang="en-US" dirty="0"/>
          </a:p>
        </p:txBody>
      </p:sp>
      <p:sp>
        <p:nvSpPr>
          <p:cNvPr id="17" name="Oval 16"/>
          <p:cNvSpPr/>
          <p:nvPr/>
        </p:nvSpPr>
        <p:spPr>
          <a:xfrm>
            <a:off x="382445" y="912161"/>
            <a:ext cx="1720156" cy="17294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8" name="Oval 17"/>
          <p:cNvSpPr/>
          <p:nvPr/>
        </p:nvSpPr>
        <p:spPr>
          <a:xfrm>
            <a:off x="2759145" y="912161"/>
            <a:ext cx="1707295" cy="17294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9" name="Oval 18"/>
          <p:cNvSpPr/>
          <p:nvPr/>
        </p:nvSpPr>
        <p:spPr>
          <a:xfrm>
            <a:off x="5404924" y="912161"/>
            <a:ext cx="1736515" cy="17294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1" name="Oval 20"/>
          <p:cNvSpPr/>
          <p:nvPr/>
        </p:nvSpPr>
        <p:spPr>
          <a:xfrm>
            <a:off x="8091828" y="911546"/>
            <a:ext cx="1809500" cy="180879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Arrow: Right 21"/>
          <p:cNvSpPr/>
          <p:nvPr/>
        </p:nvSpPr>
        <p:spPr>
          <a:xfrm>
            <a:off x="2161364" y="1586418"/>
            <a:ext cx="535709" cy="3070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p:cNvSpPr/>
          <p:nvPr/>
        </p:nvSpPr>
        <p:spPr>
          <a:xfrm>
            <a:off x="7267486" y="1583598"/>
            <a:ext cx="535709" cy="3070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p:cNvSpPr/>
          <p:nvPr/>
        </p:nvSpPr>
        <p:spPr>
          <a:xfrm>
            <a:off x="4749439" y="1583049"/>
            <a:ext cx="535709" cy="3070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TextBox 25"/>
          <p:cNvSpPr txBox="1"/>
          <p:nvPr/>
        </p:nvSpPr>
        <p:spPr>
          <a:xfrm>
            <a:off x="359410" y="1285875"/>
            <a:ext cx="1642745" cy="645160"/>
          </a:xfrm>
          <a:prstGeom prst="rect">
            <a:avLst/>
          </a:prstGeom>
          <a:noFill/>
        </p:spPr>
        <p:txBody>
          <a:bodyPr wrap="square" rtlCol="0">
            <a:spAutoFit/>
          </a:bodyPr>
          <a:lstStyle/>
          <a:p>
            <a:pPr algn="ctr"/>
            <a:r>
              <a:rPr lang="en-US" altLang="en-US" b="1" dirty="0">
                <a:solidFill>
                  <a:srgbClr val="00243A"/>
                </a:solidFill>
                <a:latin typeface="Arial Black" panose="020B0A04020102020204" pitchFamily="34" charset="0"/>
              </a:rPr>
              <a:t>Business understand </a:t>
            </a:r>
            <a:endParaRPr lang="en-US" altLang="en-US" b="1" dirty="0">
              <a:solidFill>
                <a:srgbClr val="00243A"/>
              </a:solidFill>
              <a:latin typeface="Arial Black" panose="020B0A04020102020204" pitchFamily="34" charset="0"/>
            </a:endParaRPr>
          </a:p>
        </p:txBody>
      </p:sp>
      <p:sp>
        <p:nvSpPr>
          <p:cNvPr id="28" name="TextBox 27"/>
          <p:cNvSpPr txBox="1"/>
          <p:nvPr/>
        </p:nvSpPr>
        <p:spPr>
          <a:xfrm>
            <a:off x="2518410" y="1076325"/>
            <a:ext cx="2165350" cy="1419225"/>
          </a:xfrm>
          <a:prstGeom prst="rect">
            <a:avLst/>
          </a:prstGeom>
          <a:noFill/>
        </p:spPr>
        <p:txBody>
          <a:bodyPr wrap="square" rtlCol="0">
            <a:noAutofit/>
          </a:bodyPr>
          <a:lstStyle/>
          <a:p>
            <a:pPr algn="ctr"/>
            <a:r>
              <a:rPr lang="en-US" altLang="en-US" b="1" dirty="0">
                <a:solidFill>
                  <a:srgbClr val="00243A"/>
                </a:solidFill>
                <a:latin typeface="Arial Black" panose="020B0A04020102020204" pitchFamily="34" charset="0"/>
              </a:rPr>
              <a:t>Data </a:t>
            </a:r>
            <a:endParaRPr lang="en-US" altLang="en-US" b="1" dirty="0">
              <a:solidFill>
                <a:srgbClr val="00243A"/>
              </a:solidFill>
              <a:latin typeface="Arial Black" panose="020B0A04020102020204" pitchFamily="34" charset="0"/>
            </a:endParaRPr>
          </a:p>
          <a:p>
            <a:pPr algn="ctr"/>
            <a:r>
              <a:rPr lang="en-US" altLang="en-US" b="1" dirty="0">
                <a:solidFill>
                  <a:srgbClr val="00243A"/>
                </a:solidFill>
                <a:latin typeface="Arial Black" panose="020B0A04020102020204" pitchFamily="34" charset="0"/>
              </a:rPr>
              <a:t>collection &amp; pre-</a:t>
            </a:r>
            <a:endParaRPr lang="en-US" altLang="en-US" b="1" dirty="0">
              <a:solidFill>
                <a:srgbClr val="00243A"/>
              </a:solidFill>
              <a:latin typeface="Arial Black" panose="020B0A04020102020204" pitchFamily="34" charset="0"/>
            </a:endParaRPr>
          </a:p>
          <a:p>
            <a:pPr algn="ctr"/>
            <a:r>
              <a:rPr lang="en-US" altLang="en-US" b="1" dirty="0">
                <a:solidFill>
                  <a:srgbClr val="00243A"/>
                </a:solidFill>
                <a:latin typeface="Arial Black" panose="020B0A04020102020204" pitchFamily="34" charset="0"/>
              </a:rPr>
              <a:t>processing</a:t>
            </a:r>
            <a:endParaRPr lang="en-US" altLang="en-US" b="1" dirty="0">
              <a:solidFill>
                <a:srgbClr val="00243A"/>
              </a:solidFill>
              <a:latin typeface="Arial Black" panose="020B0A04020102020204" pitchFamily="34" charset="0"/>
            </a:endParaRPr>
          </a:p>
        </p:txBody>
      </p:sp>
      <p:sp>
        <p:nvSpPr>
          <p:cNvPr id="29" name="TextBox 28"/>
          <p:cNvSpPr txBox="1"/>
          <p:nvPr/>
        </p:nvSpPr>
        <p:spPr>
          <a:xfrm>
            <a:off x="5579866" y="1251083"/>
            <a:ext cx="1398770" cy="645160"/>
          </a:xfrm>
          <a:prstGeom prst="rect">
            <a:avLst/>
          </a:prstGeom>
          <a:noFill/>
        </p:spPr>
        <p:txBody>
          <a:bodyPr wrap="square" rtlCol="0">
            <a:spAutoFit/>
          </a:bodyPr>
          <a:lstStyle/>
          <a:p>
            <a:pPr algn="ctr"/>
            <a:r>
              <a:rPr lang="en-US" dirty="0">
                <a:solidFill>
                  <a:srgbClr val="00243A"/>
                </a:solidFill>
                <a:latin typeface="Arial Black" panose="020B0A04020102020204" pitchFamily="34" charset="0"/>
              </a:rPr>
              <a:t>Data Modeling</a:t>
            </a:r>
            <a:endParaRPr lang="en-IN" dirty="0">
              <a:solidFill>
                <a:srgbClr val="00243A"/>
              </a:solidFill>
              <a:latin typeface="Arial Black" panose="020B0A04020102020204" pitchFamily="34" charset="0"/>
            </a:endParaRPr>
          </a:p>
        </p:txBody>
      </p:sp>
      <p:sp>
        <p:nvSpPr>
          <p:cNvPr id="31" name="TextBox 30"/>
          <p:cNvSpPr txBox="1"/>
          <p:nvPr/>
        </p:nvSpPr>
        <p:spPr>
          <a:xfrm>
            <a:off x="8091985" y="1076379"/>
            <a:ext cx="1809500" cy="922020"/>
          </a:xfrm>
          <a:prstGeom prst="rect">
            <a:avLst/>
          </a:prstGeom>
          <a:noFill/>
        </p:spPr>
        <p:txBody>
          <a:bodyPr wrap="square" rtlCol="0">
            <a:spAutoFit/>
          </a:bodyPr>
          <a:lstStyle/>
          <a:p>
            <a:pPr algn="ctr"/>
            <a:endParaRPr lang="en-US" dirty="0" err="1">
              <a:solidFill>
                <a:srgbClr val="00243A"/>
              </a:solidFill>
              <a:latin typeface="Arial Black" panose="020B0A04020102020204" pitchFamily="34" charset="0"/>
            </a:endParaRPr>
          </a:p>
          <a:p>
            <a:pPr algn="ctr"/>
            <a:r>
              <a:rPr lang="en-US" dirty="0" err="1">
                <a:solidFill>
                  <a:srgbClr val="00243A"/>
                </a:solidFill>
                <a:latin typeface="Arial Black" panose="020B0A04020102020204" pitchFamily="34" charset="0"/>
              </a:rPr>
              <a:t>Visulaization</a:t>
            </a:r>
            <a:r>
              <a:rPr lang="en-US" dirty="0">
                <a:solidFill>
                  <a:srgbClr val="00243A"/>
                </a:solidFill>
                <a:latin typeface="Arial Black" panose="020B0A04020102020204" pitchFamily="34" charset="0"/>
              </a:rPr>
              <a:t> and Insights</a:t>
            </a:r>
            <a:endParaRPr lang="en-IN" dirty="0">
              <a:solidFill>
                <a:srgbClr val="00243A"/>
              </a:solidFill>
              <a:latin typeface="Arial Black" panose="020B0A040201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44500" y="542925"/>
            <a:ext cx="11214100" cy="1311128"/>
          </a:xfrm>
        </p:spPr>
        <p:txBody>
          <a:bodyPr/>
          <a:lstStyle/>
          <a:p>
            <a:r>
              <a:rPr lang="en-US" sz="4400" dirty="0"/>
              <a:t>PROJECT EXECUTION MILESTONES</a:t>
            </a:r>
            <a:br>
              <a:rPr lang="en-US" sz="4400" dirty="0"/>
            </a:br>
            <a:endParaRPr lang="en-US" sz="4400" dirty="0"/>
          </a:p>
        </p:txBody>
      </p:sp>
      <p:sp>
        <p:nvSpPr>
          <p:cNvPr id="10" name="Text Placeholder 9"/>
          <p:cNvSpPr>
            <a:spLocks noGrp="1"/>
          </p:cNvSpPr>
          <p:nvPr>
            <p:ph type="body" sz="quarter" idx="13"/>
          </p:nvPr>
        </p:nvSpPr>
        <p:spPr>
          <a:xfrm>
            <a:off x="203490" y="1626920"/>
            <a:ext cx="5032664" cy="1958323"/>
          </a:xfrm>
        </p:spPr>
        <p:txBody>
          <a:bodyPr/>
          <a:lstStyle/>
          <a:p>
            <a:pPr marL="0" indent="0">
              <a:buNone/>
            </a:pPr>
            <a:r>
              <a:rPr lang="en-US" sz="1800" b="1" dirty="0">
                <a:latin typeface="Garet Bold"/>
                <a:ea typeface="Garet Bold"/>
                <a:cs typeface="Garet Bold"/>
                <a:sym typeface="Garet Bold"/>
              </a:rPr>
              <a:t>Milestone 1: Data Discovery</a:t>
            </a:r>
            <a:endParaRPr lang="en-US" sz="1800" b="1" dirty="0">
              <a:latin typeface="Garet Bold"/>
              <a:ea typeface="Garet Bold"/>
              <a:cs typeface="Garet Bold"/>
              <a:sym typeface="Garet Bold"/>
            </a:endParaRPr>
          </a:p>
          <a:p>
            <a:pPr marL="523240" lvl="1" indent="-285750"/>
            <a:r>
              <a:rPr lang="en-US" sz="1600" dirty="0">
                <a:solidFill>
                  <a:schemeClr val="accent1">
                    <a:lumMod val="40000"/>
                    <a:lumOff val="60000"/>
                  </a:schemeClr>
                </a:solidFill>
                <a:latin typeface="Telegraf"/>
                <a:ea typeface="Telegraf"/>
                <a:cs typeface="Telegraf"/>
                <a:sym typeface="Telegraf"/>
              </a:rPr>
              <a:t>Collected raw datasets from </a:t>
            </a:r>
            <a:r>
              <a:rPr lang="en-US" sz="1600" b="1" dirty="0">
                <a:solidFill>
                  <a:schemeClr val="accent1">
                    <a:lumMod val="40000"/>
                    <a:lumOff val="60000"/>
                  </a:schemeClr>
                </a:solidFill>
                <a:latin typeface="Telegraf Bold"/>
                <a:ea typeface="Telegraf Bold"/>
                <a:cs typeface="Telegraf Bold"/>
                <a:sym typeface="Telegraf Bold"/>
              </a:rPr>
              <a:t>Kaggle</a:t>
            </a:r>
            <a:r>
              <a:rPr lang="en-US" sz="1600" dirty="0">
                <a:solidFill>
                  <a:schemeClr val="accent1">
                    <a:lumMod val="40000"/>
                    <a:lumOff val="60000"/>
                  </a:schemeClr>
                </a:solidFill>
                <a:latin typeface="Telegraf"/>
                <a:ea typeface="Telegraf"/>
                <a:cs typeface="Telegraf"/>
                <a:sym typeface="Telegraf"/>
              </a:rPr>
              <a:t> and performed extensive cleaning.</a:t>
            </a:r>
            <a:endParaRPr lang="en-US" sz="1600" dirty="0">
              <a:solidFill>
                <a:schemeClr val="accent1">
                  <a:lumMod val="40000"/>
                  <a:lumOff val="60000"/>
                </a:schemeClr>
              </a:solidFill>
              <a:latin typeface="Telegraf"/>
              <a:ea typeface="Telegraf"/>
              <a:cs typeface="Telegraf"/>
              <a:sym typeface="Telegraf"/>
            </a:endParaRPr>
          </a:p>
          <a:p>
            <a:pPr marL="523240" lvl="1" indent="-285750"/>
            <a:r>
              <a:rPr lang="en-US" sz="1600" dirty="0">
                <a:solidFill>
                  <a:schemeClr val="accent1">
                    <a:lumMod val="40000"/>
                    <a:lumOff val="60000"/>
                  </a:schemeClr>
                </a:solidFill>
                <a:latin typeface="Telegraf"/>
                <a:ea typeface="Telegraf"/>
                <a:cs typeface="Telegraf"/>
                <a:sym typeface="Telegraf"/>
              </a:rPr>
              <a:t>Created technical documentation for all preprocessing steps (handling nulls in ratings, fixing date formats, and normalizing text).</a:t>
            </a:r>
            <a:endParaRPr lang="en-US" sz="1600" dirty="0">
              <a:solidFill>
                <a:schemeClr val="accent1">
                  <a:lumMod val="40000"/>
                  <a:lumOff val="60000"/>
                </a:schemeClr>
              </a:solidFill>
              <a:latin typeface="Telegraf"/>
              <a:ea typeface="Telegraf"/>
              <a:cs typeface="Telegraf"/>
              <a:sym typeface="Telegraf"/>
            </a:endParaRPr>
          </a:p>
          <a:p>
            <a:endParaRPr lang="en-US" sz="500" b="1" dirty="0">
              <a:solidFill>
                <a:schemeClr val="accent1">
                  <a:lumMod val="40000"/>
                  <a:lumOff val="60000"/>
                </a:schemeClr>
              </a:solidFill>
              <a:latin typeface="Garet Bold"/>
              <a:ea typeface="Garet Bold"/>
              <a:cs typeface="Garet Bold"/>
              <a:sym typeface="Garet Bold"/>
            </a:endParaRPr>
          </a:p>
          <a:p>
            <a:endParaRPr lang="en-US" sz="500" dirty="0">
              <a:solidFill>
                <a:schemeClr val="accent1">
                  <a:lumMod val="40000"/>
                  <a:lumOff val="60000"/>
                </a:schemeClr>
              </a:solidFill>
            </a:endParaRPr>
          </a:p>
        </p:txBody>
      </p:sp>
      <p:sp>
        <p:nvSpPr>
          <p:cNvPr id="2" name="Slide Number Placeholder 1"/>
          <p:cNvSpPr>
            <a:spLocks noGrp="1"/>
          </p:cNvSpPr>
          <p:nvPr>
            <p:ph type="sldNum" sz="quarter" idx="12"/>
          </p:nvPr>
        </p:nvSpPr>
        <p:spPr/>
        <p:txBody>
          <a:bodyPr/>
          <a:lstStyle/>
          <a:p>
            <a:fld id="{C263D6C4-4840-40CC-AC84-17E24B3B7BDE}" type="slidenum">
              <a:rPr lang="en-US" smtClean="0"/>
            </a:fld>
            <a:endParaRPr lang="en-US" dirty="0"/>
          </a:p>
        </p:txBody>
      </p:sp>
      <p:sp>
        <p:nvSpPr>
          <p:cNvPr id="9" name="TextBox 8"/>
          <p:cNvSpPr txBox="1"/>
          <p:nvPr/>
        </p:nvSpPr>
        <p:spPr>
          <a:xfrm>
            <a:off x="5948217" y="1428281"/>
            <a:ext cx="4638964" cy="2554545"/>
          </a:xfrm>
          <a:prstGeom prst="rect">
            <a:avLst/>
          </a:prstGeom>
          <a:noFill/>
        </p:spPr>
        <p:txBody>
          <a:bodyPr wrap="square">
            <a:spAutoFit/>
          </a:bodyPr>
          <a:lstStyle/>
          <a:p>
            <a:pPr marL="237490" lvl="1"/>
            <a:r>
              <a:rPr lang="en-US" sz="2000" b="1" dirty="0">
                <a:solidFill>
                  <a:schemeClr val="bg1"/>
                </a:solidFill>
                <a:latin typeface="Telegraf Bold"/>
                <a:ea typeface="Telegraf Bold"/>
                <a:cs typeface="Telegraf Bold"/>
                <a:sym typeface="Telegraf Bold"/>
              </a:rPr>
              <a:t>Milestone 3: Deep Dive</a:t>
            </a:r>
            <a:endParaRPr lang="en-US" sz="2000" b="1" dirty="0">
              <a:solidFill>
                <a:schemeClr val="bg1"/>
              </a:solidFill>
              <a:latin typeface="Telegraf Bold"/>
              <a:ea typeface="Telegraf Bold"/>
              <a:cs typeface="Telegraf Bold"/>
              <a:sym typeface="Telegraf Bold"/>
            </a:endParaRPr>
          </a:p>
          <a:p>
            <a:pPr marL="237490" lvl="1"/>
            <a:endParaRPr lang="en-US" sz="1600" dirty="0">
              <a:solidFill>
                <a:schemeClr val="accent1">
                  <a:lumMod val="40000"/>
                  <a:lumOff val="60000"/>
                </a:schemeClr>
              </a:solidFill>
              <a:latin typeface="Telegraf"/>
              <a:ea typeface="Telegraf"/>
              <a:cs typeface="Telegraf"/>
              <a:sym typeface="Telegraf"/>
            </a:endParaRPr>
          </a:p>
          <a:p>
            <a:pPr marL="523240" lvl="1" indent="-285750">
              <a:buFont typeface="Arial" panose="020B0604020202020204" pitchFamily="34" charset="0"/>
              <a:buChar char="•"/>
            </a:pPr>
            <a:r>
              <a:rPr lang="en-US" dirty="0">
                <a:solidFill>
                  <a:schemeClr val="accent1">
                    <a:lumMod val="40000"/>
                    <a:lumOff val="60000"/>
                  </a:schemeClr>
                </a:solidFill>
                <a:latin typeface="Telegraf"/>
                <a:ea typeface="Telegraf"/>
                <a:cs typeface="Telegraf"/>
                <a:sym typeface="Telegraf"/>
              </a:rPr>
              <a:t>Added Menu Analysis and Sentiment Analysis pages.</a:t>
            </a:r>
            <a:endParaRPr lang="en-US" dirty="0">
              <a:solidFill>
                <a:schemeClr val="accent1">
                  <a:lumMod val="40000"/>
                  <a:lumOff val="60000"/>
                </a:schemeClr>
              </a:solidFill>
              <a:latin typeface="Telegraf"/>
              <a:ea typeface="Telegraf"/>
              <a:cs typeface="Telegraf"/>
              <a:sym typeface="Telegraf"/>
            </a:endParaRPr>
          </a:p>
          <a:p>
            <a:pPr marL="523240" lvl="1" indent="-285750">
              <a:buFont typeface="Arial" panose="020B0604020202020204" pitchFamily="34" charset="0"/>
              <a:buChar char="•"/>
            </a:pPr>
            <a:endParaRPr lang="en-US" dirty="0">
              <a:solidFill>
                <a:schemeClr val="accent1">
                  <a:lumMod val="40000"/>
                  <a:lumOff val="60000"/>
                </a:schemeClr>
              </a:solidFill>
              <a:latin typeface="Telegraf"/>
              <a:ea typeface="Telegraf"/>
              <a:cs typeface="Telegraf"/>
              <a:sym typeface="Telegraf"/>
            </a:endParaRPr>
          </a:p>
          <a:p>
            <a:pPr marL="523240" lvl="1" indent="-285750">
              <a:buFont typeface="Arial" panose="020B0604020202020204" pitchFamily="34" charset="0"/>
              <a:buChar char="•"/>
            </a:pPr>
            <a:r>
              <a:rPr lang="en-US" dirty="0">
                <a:solidFill>
                  <a:schemeClr val="accent1">
                    <a:lumMod val="40000"/>
                    <a:lumOff val="60000"/>
                  </a:schemeClr>
                </a:solidFill>
                <a:latin typeface="Telegraf"/>
                <a:ea typeface="Telegraf"/>
                <a:cs typeface="Telegraf"/>
                <a:sym typeface="Telegraf"/>
              </a:rPr>
              <a:t>Updated documentation to include new DAX measures for product performance</a:t>
            </a:r>
            <a:endParaRPr lang="en-US" dirty="0">
              <a:solidFill>
                <a:schemeClr val="accent1">
                  <a:lumMod val="40000"/>
                  <a:lumOff val="60000"/>
                </a:schemeClr>
              </a:solidFill>
              <a:latin typeface="Telegraf"/>
              <a:ea typeface="Telegraf"/>
              <a:cs typeface="Telegraf"/>
              <a:sym typeface="Telegraf"/>
            </a:endParaRPr>
          </a:p>
          <a:p>
            <a:pPr marL="237490" lvl="1"/>
            <a:endParaRPr lang="en-US" sz="1600" dirty="0">
              <a:solidFill>
                <a:schemeClr val="accent1">
                  <a:lumMod val="40000"/>
                  <a:lumOff val="60000"/>
                </a:schemeClr>
              </a:solidFill>
              <a:latin typeface="Telegraf"/>
              <a:ea typeface="Telegraf"/>
              <a:cs typeface="Telegraf"/>
              <a:sym typeface="Telegraf"/>
            </a:endParaRPr>
          </a:p>
        </p:txBody>
      </p:sp>
      <p:sp>
        <p:nvSpPr>
          <p:cNvPr id="12" name="TextBox 11"/>
          <p:cNvSpPr txBox="1"/>
          <p:nvPr/>
        </p:nvSpPr>
        <p:spPr>
          <a:xfrm>
            <a:off x="-14434" y="4356752"/>
            <a:ext cx="5449455" cy="1819601"/>
          </a:xfrm>
          <a:prstGeom prst="rect">
            <a:avLst/>
          </a:prstGeom>
          <a:noFill/>
        </p:spPr>
        <p:txBody>
          <a:bodyPr wrap="square">
            <a:spAutoFit/>
          </a:bodyPr>
          <a:lstStyle/>
          <a:p>
            <a:pPr marL="237490" lvl="1">
              <a:lnSpc>
                <a:spcPts val="3080"/>
              </a:lnSpc>
            </a:pPr>
            <a:r>
              <a:rPr lang="en-US" b="1" dirty="0">
                <a:solidFill>
                  <a:schemeClr val="bg1"/>
                </a:solidFill>
                <a:latin typeface="Telegraf Bold"/>
                <a:ea typeface="Telegraf Bold"/>
                <a:cs typeface="Telegraf Bold"/>
                <a:sym typeface="Telegraf Bold"/>
              </a:rPr>
              <a:t>Milestone 2: Core Analysis </a:t>
            </a:r>
            <a:endParaRPr lang="en-US" b="1" dirty="0">
              <a:solidFill>
                <a:schemeClr val="bg1"/>
              </a:solidFill>
              <a:latin typeface="Telegraf Bold"/>
              <a:ea typeface="Telegraf Bold"/>
              <a:cs typeface="Telegraf Bold"/>
              <a:sym typeface="Telegraf Bold"/>
            </a:endParaRPr>
          </a:p>
          <a:p>
            <a:pPr marL="474980" lvl="1" indent="-237490">
              <a:buFont typeface="Arial" panose="020B0604020202020204"/>
              <a:buChar char="•"/>
            </a:pPr>
            <a:r>
              <a:rPr lang="en-US" sz="1600" dirty="0">
                <a:solidFill>
                  <a:schemeClr val="accent1">
                    <a:lumMod val="40000"/>
                    <a:lumOff val="60000"/>
                  </a:schemeClr>
                </a:solidFill>
                <a:latin typeface="Telegraf"/>
                <a:ea typeface="Telegraf"/>
                <a:cs typeface="Telegraf"/>
                <a:sym typeface="Telegraf"/>
              </a:rPr>
              <a:t>Built foundational views:</a:t>
            </a:r>
            <a:r>
              <a:rPr lang="en-US" sz="1600" dirty="0">
                <a:solidFill>
                  <a:schemeClr val="accent1">
                    <a:lumMod val="40000"/>
                    <a:lumOff val="60000"/>
                  </a:schemeClr>
                </a:solidFill>
                <a:latin typeface="Telegraf Bold"/>
                <a:ea typeface="Telegraf Bold"/>
                <a:cs typeface="Telegraf Bold"/>
                <a:sym typeface="Telegraf Bold"/>
              </a:rPr>
              <a:t> Market Demand, Customer Segments, and Service Qualit</a:t>
            </a:r>
            <a:r>
              <a:rPr lang="en-US" sz="1600" dirty="0">
                <a:solidFill>
                  <a:schemeClr val="accent1">
                    <a:lumMod val="40000"/>
                    <a:lumOff val="60000"/>
                  </a:schemeClr>
                </a:solidFill>
                <a:latin typeface="Telegraf"/>
                <a:ea typeface="Telegraf"/>
                <a:cs typeface="Telegraf"/>
                <a:sym typeface="Telegraf"/>
              </a:rPr>
              <a:t>y.</a:t>
            </a:r>
            <a:endParaRPr lang="en-US" sz="1600" dirty="0">
              <a:solidFill>
                <a:schemeClr val="accent1">
                  <a:lumMod val="40000"/>
                  <a:lumOff val="60000"/>
                </a:schemeClr>
              </a:solidFill>
              <a:latin typeface="Telegraf"/>
              <a:ea typeface="Telegraf"/>
              <a:cs typeface="Telegraf"/>
              <a:sym typeface="Telegraf"/>
            </a:endParaRPr>
          </a:p>
          <a:p>
            <a:pPr marL="474980" lvl="1" indent="-237490">
              <a:buFont typeface="Arial" panose="020B0604020202020204"/>
              <a:buChar char="•"/>
            </a:pPr>
            <a:r>
              <a:rPr lang="en-US" sz="1600" dirty="0">
                <a:solidFill>
                  <a:schemeClr val="accent1">
                    <a:lumMod val="40000"/>
                    <a:lumOff val="60000"/>
                  </a:schemeClr>
                </a:solidFill>
                <a:latin typeface="Telegraf"/>
                <a:ea typeface="Telegraf"/>
                <a:cs typeface="Telegraf"/>
                <a:sym typeface="Telegraf"/>
              </a:rPr>
              <a:t>Completed first set of Team and Individual documentation to track design choices</a:t>
            </a:r>
            <a:endParaRPr lang="en-US" sz="1600" dirty="0">
              <a:solidFill>
                <a:schemeClr val="accent1">
                  <a:lumMod val="40000"/>
                  <a:lumOff val="60000"/>
                </a:schemeClr>
              </a:solidFill>
              <a:latin typeface="Telegraf"/>
              <a:ea typeface="Telegraf"/>
              <a:cs typeface="Telegraf"/>
              <a:sym typeface="Telegraf"/>
            </a:endParaRPr>
          </a:p>
          <a:p>
            <a:pPr marL="237490" lvl="1">
              <a:lnSpc>
                <a:spcPts val="3080"/>
              </a:lnSpc>
            </a:pPr>
            <a:endParaRPr lang="en-US" sz="1600" dirty="0">
              <a:solidFill>
                <a:schemeClr val="accent2">
                  <a:lumMod val="40000"/>
                  <a:lumOff val="60000"/>
                </a:schemeClr>
              </a:solidFill>
              <a:latin typeface="Telegraf"/>
              <a:ea typeface="Telegraf"/>
              <a:cs typeface="Telegraf"/>
              <a:sym typeface="Telegraf"/>
            </a:endParaRPr>
          </a:p>
        </p:txBody>
      </p:sp>
      <p:sp>
        <p:nvSpPr>
          <p:cNvPr id="14" name="TextBox 13"/>
          <p:cNvSpPr txBox="1"/>
          <p:nvPr/>
        </p:nvSpPr>
        <p:spPr>
          <a:xfrm>
            <a:off x="5948217" y="4356752"/>
            <a:ext cx="5449454" cy="2225609"/>
          </a:xfrm>
          <a:prstGeom prst="rect">
            <a:avLst/>
          </a:prstGeom>
          <a:noFill/>
        </p:spPr>
        <p:txBody>
          <a:bodyPr wrap="square">
            <a:spAutoFit/>
          </a:bodyPr>
          <a:lstStyle/>
          <a:p>
            <a:pPr marL="237490" lvl="1">
              <a:lnSpc>
                <a:spcPts val="3080"/>
              </a:lnSpc>
            </a:pPr>
            <a:r>
              <a:rPr lang="en-US" b="1" dirty="0">
                <a:solidFill>
                  <a:schemeClr val="bg1"/>
                </a:solidFill>
                <a:latin typeface="Garet Bold"/>
                <a:ea typeface="Garet Bold"/>
                <a:cs typeface="Garet Bold"/>
                <a:sym typeface="Garet Bold"/>
              </a:rPr>
              <a:t>Milestone 4: Advanced Strategy</a:t>
            </a:r>
            <a:endParaRPr lang="en-US" b="1" dirty="0">
              <a:solidFill>
                <a:schemeClr val="bg1"/>
              </a:solidFill>
              <a:latin typeface="Garet Bold"/>
              <a:ea typeface="Garet Bold"/>
              <a:cs typeface="Garet Bold"/>
              <a:sym typeface="Garet Bold"/>
            </a:endParaRPr>
          </a:p>
          <a:p>
            <a:pPr marL="474980" lvl="1" indent="-237490">
              <a:buFont typeface="Arial" panose="020B0604020202020204"/>
              <a:buChar char="•"/>
            </a:pPr>
            <a:r>
              <a:rPr lang="en-US" dirty="0">
                <a:solidFill>
                  <a:schemeClr val="accent1">
                    <a:lumMod val="40000"/>
                    <a:lumOff val="60000"/>
                  </a:schemeClr>
                </a:solidFill>
                <a:latin typeface="+mj-lt"/>
                <a:ea typeface="Telegraf"/>
                <a:cs typeface="Telegraf"/>
                <a:sym typeface="Telegraf"/>
              </a:rPr>
              <a:t>Developed the final complex pages: </a:t>
            </a:r>
            <a:r>
              <a:rPr lang="en-US" b="1" dirty="0">
                <a:solidFill>
                  <a:schemeClr val="accent1">
                    <a:lumMod val="40000"/>
                    <a:lumOff val="60000"/>
                  </a:schemeClr>
                </a:solidFill>
                <a:latin typeface="+mj-lt"/>
                <a:ea typeface="Telegraf Bold"/>
                <a:cs typeface="Telegraf Bold"/>
                <a:sym typeface="Telegraf Bold"/>
              </a:rPr>
              <a:t>Operational Efficiency and Growth &amp; Loyalty</a:t>
            </a:r>
            <a:r>
              <a:rPr lang="en-US" dirty="0">
                <a:solidFill>
                  <a:schemeClr val="accent1">
                    <a:lumMod val="40000"/>
                    <a:lumOff val="60000"/>
                  </a:schemeClr>
                </a:solidFill>
                <a:latin typeface="+mj-lt"/>
                <a:ea typeface="Telegraf"/>
                <a:cs typeface="Telegraf"/>
                <a:sym typeface="Telegraf"/>
              </a:rPr>
              <a:t>.</a:t>
            </a:r>
            <a:endParaRPr lang="en-US" dirty="0">
              <a:solidFill>
                <a:schemeClr val="accent1">
                  <a:lumMod val="40000"/>
                  <a:lumOff val="60000"/>
                </a:schemeClr>
              </a:solidFill>
              <a:latin typeface="+mj-lt"/>
              <a:ea typeface="Telegraf"/>
              <a:cs typeface="Telegraf"/>
              <a:sym typeface="Telegraf"/>
            </a:endParaRPr>
          </a:p>
          <a:p>
            <a:pPr marL="474980" lvl="1" indent="-237490">
              <a:buFont typeface="Arial" panose="020B0604020202020204"/>
              <a:buChar char="•"/>
            </a:pPr>
            <a:r>
              <a:rPr lang="en-US" dirty="0">
                <a:solidFill>
                  <a:schemeClr val="accent1">
                    <a:lumMod val="40000"/>
                    <a:lumOff val="60000"/>
                  </a:schemeClr>
                </a:solidFill>
                <a:latin typeface="+mj-lt"/>
                <a:ea typeface="Telegraf"/>
                <a:cs typeface="Telegraf"/>
                <a:sym typeface="Telegraf"/>
              </a:rPr>
              <a:t>Finalized all project docs, including individual analysis of business "friction points</a:t>
            </a:r>
            <a:endParaRPr lang="en-US" b="1" dirty="0">
              <a:solidFill>
                <a:schemeClr val="accent1">
                  <a:lumMod val="40000"/>
                  <a:lumOff val="60000"/>
                </a:schemeClr>
              </a:solidFill>
              <a:latin typeface="+mj-lt"/>
              <a:ea typeface="Garet Bold"/>
              <a:cs typeface="Garet Bold"/>
              <a:sym typeface="Garet Bold"/>
            </a:endParaRPr>
          </a:p>
          <a:p>
            <a:pPr marL="237490" lvl="1" algn="l">
              <a:lnSpc>
                <a:spcPts val="3080"/>
              </a:lnSpc>
            </a:pPr>
            <a:endParaRPr lang="en-US" sz="1800" dirty="0">
              <a:solidFill>
                <a:srgbClr val="343434"/>
              </a:solidFill>
              <a:latin typeface="Telegraf"/>
              <a:ea typeface="Telegraf"/>
              <a:cs typeface="Telegraf"/>
              <a:sym typeface="Telegraf"/>
            </a:endParaRPr>
          </a:p>
        </p:txBody>
      </p:sp>
      <p:cxnSp>
        <p:nvCxnSpPr>
          <p:cNvPr id="22" name="Straight Connector 21"/>
          <p:cNvCxnSpPr/>
          <p:nvPr/>
        </p:nvCxnSpPr>
        <p:spPr>
          <a:xfrm>
            <a:off x="241300" y="3980452"/>
            <a:ext cx="10984345"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Rectangle 23"/>
          <p:cNvSpPr/>
          <p:nvPr/>
        </p:nvSpPr>
        <p:spPr>
          <a:xfrm>
            <a:off x="3845214" y="3837673"/>
            <a:ext cx="461818" cy="37867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6" name="Rectangle 25"/>
          <p:cNvSpPr/>
          <p:nvPr/>
        </p:nvSpPr>
        <p:spPr>
          <a:xfrm>
            <a:off x="1604819" y="3830390"/>
            <a:ext cx="461818" cy="37867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7" name="Rectangle 26"/>
          <p:cNvSpPr/>
          <p:nvPr/>
        </p:nvSpPr>
        <p:spPr>
          <a:xfrm>
            <a:off x="8835160" y="3791114"/>
            <a:ext cx="461818" cy="37867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8" name="Rectangle 27"/>
          <p:cNvSpPr/>
          <p:nvPr/>
        </p:nvSpPr>
        <p:spPr>
          <a:xfrm>
            <a:off x="6201643" y="3830390"/>
            <a:ext cx="461818" cy="37867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4500" y="542925"/>
            <a:ext cx="11214100" cy="1200329"/>
          </a:xfrm>
        </p:spPr>
        <p:txBody>
          <a:bodyPr/>
          <a:lstStyle/>
          <a:p>
            <a:r>
              <a:rPr lang="en-US" sz="4000" dirty="0">
                <a:solidFill>
                  <a:srgbClr val="FFFFFF"/>
                </a:solidFill>
                <a:latin typeface="Garet Bold"/>
                <a:ea typeface="Garet Bold"/>
                <a:cs typeface="Garet Bold"/>
                <a:sym typeface="Garet Bold"/>
              </a:rPr>
              <a:t>TOP VISUALISATIONS USED</a:t>
            </a:r>
            <a:br>
              <a:rPr lang="en-US" sz="4000" dirty="0">
                <a:solidFill>
                  <a:srgbClr val="FFFFFF"/>
                </a:solidFill>
                <a:latin typeface="Garet Bold"/>
                <a:ea typeface="Garet Bold"/>
                <a:cs typeface="Garet Bold"/>
                <a:sym typeface="Garet Bold"/>
              </a:rPr>
            </a:br>
            <a:endParaRPr lang="en-US" sz="4000" dirty="0"/>
          </a:p>
        </p:txBody>
      </p:sp>
      <p:sp>
        <p:nvSpPr>
          <p:cNvPr id="2" name="Slide Number Placeholder 1"/>
          <p:cNvSpPr>
            <a:spLocks noGrp="1"/>
          </p:cNvSpPr>
          <p:nvPr>
            <p:ph type="sldNum" sz="quarter" idx="12"/>
          </p:nvPr>
        </p:nvSpPr>
        <p:spPr/>
        <p:txBody>
          <a:bodyPr/>
          <a:lstStyle/>
          <a:p>
            <a:fld id="{C263D6C4-4840-40CC-AC84-17E24B3B7BDE}" type="slidenum">
              <a:rPr lang="en-US" smtClean="0"/>
            </a:fld>
            <a:endParaRPr lang="en-US" dirty="0"/>
          </a:p>
        </p:txBody>
      </p:sp>
      <p:sp>
        <p:nvSpPr>
          <p:cNvPr id="7" name="Text Placeholder 6"/>
          <p:cNvSpPr>
            <a:spLocks noGrp="1"/>
          </p:cNvSpPr>
          <p:nvPr>
            <p:ph type="body" sz="quarter" idx="1"/>
          </p:nvPr>
        </p:nvSpPr>
        <p:spPr/>
        <p:txBody>
          <a:bodyPr/>
          <a:lstStyle/>
          <a:p>
            <a:pPr algn="l"/>
            <a:r>
              <a:rPr lang="en-US" dirty="0">
                <a:latin typeface="Telegraf Bold"/>
                <a:ea typeface="Telegraf Bold"/>
                <a:cs typeface="Telegraf Bold"/>
                <a:sym typeface="Telegraf Bold"/>
              </a:rPr>
              <a:t>Operational Stress Test (Line &amp; Column Chart):</a:t>
            </a:r>
            <a:endParaRPr lang="en-US" dirty="0">
              <a:latin typeface="Telegraf Bold"/>
              <a:ea typeface="Telegraf Bold"/>
              <a:cs typeface="Telegraf Bold"/>
              <a:sym typeface="Telegraf Bold"/>
            </a:endParaRPr>
          </a:p>
          <a:p>
            <a:endParaRPr lang="en-US" dirty="0"/>
          </a:p>
        </p:txBody>
      </p:sp>
      <p:sp>
        <p:nvSpPr>
          <p:cNvPr id="5" name="Text Placeholder 4"/>
          <p:cNvSpPr>
            <a:spLocks noGrp="1"/>
          </p:cNvSpPr>
          <p:nvPr>
            <p:ph type="body" sz="quarter" idx="3"/>
          </p:nvPr>
        </p:nvSpPr>
        <p:spPr>
          <a:xfrm>
            <a:off x="6500812" y="1681163"/>
            <a:ext cx="5598824" cy="823912"/>
          </a:xfrm>
        </p:spPr>
        <p:txBody>
          <a:bodyPr>
            <a:normAutofit/>
          </a:bodyPr>
          <a:lstStyle/>
          <a:p>
            <a:pPr algn="l"/>
            <a:r>
              <a:rPr lang="en-US" dirty="0">
                <a:latin typeface="Telegraf Bold"/>
                <a:ea typeface="Telegraf Bold"/>
                <a:cs typeface="Telegraf Bold"/>
                <a:sym typeface="Telegraf Bold"/>
              </a:rPr>
              <a:t>Service Friction Map (Bubble Chart):</a:t>
            </a:r>
            <a:endParaRPr lang="en-US" dirty="0">
              <a:latin typeface="Telegraf Bold"/>
              <a:ea typeface="Telegraf Bold"/>
              <a:cs typeface="Telegraf Bold"/>
              <a:sym typeface="Telegraf Bold"/>
            </a:endParaRPr>
          </a:p>
          <a:p>
            <a:pPr algn="l"/>
            <a:endParaRPr lang="en-US" dirty="0"/>
          </a:p>
        </p:txBody>
      </p:sp>
      <p:sp>
        <p:nvSpPr>
          <p:cNvPr id="8" name="Text Placeholder 7"/>
          <p:cNvSpPr>
            <a:spLocks noGrp="1"/>
          </p:cNvSpPr>
          <p:nvPr>
            <p:ph type="body" sz="quarter" idx="2"/>
          </p:nvPr>
        </p:nvSpPr>
        <p:spPr/>
        <p:txBody>
          <a:bodyPr/>
          <a:lstStyle/>
          <a:p>
            <a:r>
              <a:rPr lang="en-US" dirty="0">
                <a:solidFill>
                  <a:schemeClr val="accent1">
                    <a:lumMod val="40000"/>
                    <a:lumOff val="60000"/>
                  </a:schemeClr>
                </a:solidFill>
                <a:latin typeface="Telegraf"/>
                <a:ea typeface="Telegraf"/>
                <a:cs typeface="Telegraf"/>
                <a:sym typeface="Telegraf"/>
              </a:rPr>
              <a:t>Purpose: To identify the exact time when delivery speed "breaks" due to high order volume.</a:t>
            </a:r>
            <a:endParaRPr lang="en-US" dirty="0">
              <a:solidFill>
                <a:schemeClr val="accent1">
                  <a:lumMod val="40000"/>
                  <a:lumOff val="60000"/>
                </a:schemeClr>
              </a:solidFill>
              <a:latin typeface="Telegraf"/>
              <a:ea typeface="Telegraf"/>
              <a:cs typeface="Telegraf"/>
              <a:sym typeface="Telegraf"/>
            </a:endParaRPr>
          </a:p>
          <a:p>
            <a:endParaRPr lang="en-US" dirty="0">
              <a:solidFill>
                <a:schemeClr val="accent1">
                  <a:lumMod val="40000"/>
                  <a:lumOff val="60000"/>
                </a:schemeClr>
              </a:solidFill>
            </a:endParaRPr>
          </a:p>
        </p:txBody>
      </p:sp>
      <p:sp>
        <p:nvSpPr>
          <p:cNvPr id="6" name="Text Placeholder 5"/>
          <p:cNvSpPr>
            <a:spLocks noGrp="1"/>
          </p:cNvSpPr>
          <p:nvPr>
            <p:ph type="body" sz="quarter" idx="4"/>
          </p:nvPr>
        </p:nvSpPr>
        <p:spPr>
          <a:xfrm>
            <a:off x="6500812" y="2139950"/>
            <a:ext cx="5183188" cy="3684588"/>
          </a:xfrm>
        </p:spPr>
        <p:txBody>
          <a:bodyPr/>
          <a:lstStyle/>
          <a:p>
            <a:endParaRPr lang="en-US" dirty="0">
              <a:solidFill>
                <a:schemeClr val="accent1">
                  <a:lumMod val="40000"/>
                  <a:lumOff val="60000"/>
                </a:schemeClr>
              </a:solidFill>
              <a:latin typeface="Telegraf"/>
              <a:ea typeface="Telegraf"/>
              <a:cs typeface="Telegraf"/>
              <a:sym typeface="Telegraf"/>
            </a:endParaRPr>
          </a:p>
          <a:p>
            <a:r>
              <a:rPr lang="en-US" dirty="0">
                <a:solidFill>
                  <a:schemeClr val="accent1">
                    <a:lumMod val="40000"/>
                    <a:lumOff val="60000"/>
                  </a:schemeClr>
                </a:solidFill>
                <a:latin typeface="Telegraf"/>
                <a:ea typeface="Telegraf"/>
                <a:cs typeface="Telegraf"/>
                <a:sym typeface="Telegraf"/>
              </a:rPr>
              <a:t>Purpose: To map the relationship between distance and delivery time to find our "Maximum Service Radius."</a:t>
            </a:r>
            <a:endParaRPr lang="en-US" dirty="0">
              <a:solidFill>
                <a:schemeClr val="accent1">
                  <a:lumMod val="40000"/>
                  <a:lumOff val="60000"/>
                </a:schemeClr>
              </a:solidFill>
              <a:latin typeface="Telegraf"/>
              <a:ea typeface="Telegraf"/>
              <a:cs typeface="Telegraf"/>
              <a:sym typeface="Telegraf"/>
            </a:endParaRPr>
          </a:p>
          <a:p>
            <a:endParaRPr lang="en-US" dirty="0">
              <a:solidFill>
                <a:schemeClr val="accent1">
                  <a:lumMod val="40000"/>
                  <a:lumOff val="60000"/>
                </a:schemeClr>
              </a:solidFill>
            </a:endParaRPr>
          </a:p>
        </p:txBody>
      </p:sp>
      <p:graphicFrame>
        <p:nvGraphicFramePr>
          <p:cNvPr id="11" name="Chart 10"/>
          <p:cNvGraphicFramePr/>
          <p:nvPr/>
        </p:nvGraphicFramePr>
        <p:xfrm>
          <a:off x="840508" y="3266896"/>
          <a:ext cx="3749965" cy="2201031"/>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7" name="Chart 16"/>
          <p:cNvGraphicFramePr/>
          <p:nvPr/>
        </p:nvGraphicFramePr>
        <p:xfrm>
          <a:off x="6973454" y="3643313"/>
          <a:ext cx="4378037" cy="218122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978729"/>
          </a:xfrm>
        </p:spPr>
        <p:txBody>
          <a:bodyPr/>
          <a:lstStyle/>
          <a:p>
            <a:r>
              <a:rPr lang="en-US" dirty="0">
                <a:latin typeface="Garet Bold"/>
                <a:ea typeface="Garet Bold"/>
                <a:cs typeface="Garet Bold"/>
                <a:sym typeface="Garet Bold"/>
              </a:rPr>
              <a:t>DASHBOARD SHOWCASE</a:t>
            </a:r>
            <a:br>
              <a:rPr lang="en-US" dirty="0">
                <a:latin typeface="Garet Bold"/>
                <a:ea typeface="Garet Bold"/>
                <a:cs typeface="Garet Bold"/>
                <a:sym typeface="Garet Bold"/>
              </a:rPr>
            </a:b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fld>
            <a:endParaRPr lang="en-US" noProof="0" dirty="0"/>
          </a:p>
        </p:txBody>
      </p:sp>
      <p:pic>
        <p:nvPicPr>
          <p:cNvPr id="19" name="Picture 18"/>
          <p:cNvPicPr>
            <a:picLocks noChangeAspect="1"/>
          </p:cNvPicPr>
          <p:nvPr/>
        </p:nvPicPr>
        <p:blipFill>
          <a:blip r:embed="rId1"/>
          <a:stretch>
            <a:fillRect/>
          </a:stretch>
        </p:blipFill>
        <p:spPr>
          <a:xfrm>
            <a:off x="1941597" y="1450109"/>
            <a:ext cx="3455563" cy="1960406"/>
          </a:xfrm>
          <a:prstGeom prst="rect">
            <a:avLst/>
          </a:prstGeom>
        </p:spPr>
      </p:pic>
      <p:pic>
        <p:nvPicPr>
          <p:cNvPr id="21" name="Picture 20"/>
          <p:cNvPicPr>
            <a:picLocks noChangeAspect="1"/>
          </p:cNvPicPr>
          <p:nvPr/>
        </p:nvPicPr>
        <p:blipFill>
          <a:blip r:embed="rId2"/>
          <a:stretch>
            <a:fillRect/>
          </a:stretch>
        </p:blipFill>
        <p:spPr>
          <a:xfrm>
            <a:off x="5955145" y="1450109"/>
            <a:ext cx="3370910" cy="1919064"/>
          </a:xfrm>
          <a:prstGeom prst="rect">
            <a:avLst/>
          </a:prstGeom>
        </p:spPr>
      </p:pic>
      <p:pic>
        <p:nvPicPr>
          <p:cNvPr id="23" name="Picture 22"/>
          <p:cNvPicPr>
            <a:picLocks noChangeAspect="1"/>
          </p:cNvPicPr>
          <p:nvPr/>
        </p:nvPicPr>
        <p:blipFill>
          <a:blip r:embed="rId3"/>
          <a:stretch>
            <a:fillRect/>
          </a:stretch>
        </p:blipFill>
        <p:spPr>
          <a:xfrm>
            <a:off x="2104001" y="5126147"/>
            <a:ext cx="3135677" cy="1731853"/>
          </a:xfrm>
          <a:prstGeom prst="rect">
            <a:avLst/>
          </a:prstGeom>
        </p:spPr>
      </p:pic>
      <p:pic>
        <p:nvPicPr>
          <p:cNvPr id="25" name="Picture 24"/>
          <p:cNvPicPr>
            <a:picLocks noChangeAspect="1"/>
          </p:cNvPicPr>
          <p:nvPr/>
        </p:nvPicPr>
        <p:blipFill>
          <a:blip r:embed="rId4"/>
          <a:stretch>
            <a:fillRect/>
          </a:stretch>
        </p:blipFill>
        <p:spPr>
          <a:xfrm>
            <a:off x="927954" y="3369173"/>
            <a:ext cx="3119951" cy="1771073"/>
          </a:xfrm>
          <a:prstGeom prst="rect">
            <a:avLst/>
          </a:prstGeom>
        </p:spPr>
      </p:pic>
      <p:pic>
        <p:nvPicPr>
          <p:cNvPr id="27" name="Picture 26"/>
          <p:cNvPicPr>
            <a:picLocks noChangeAspect="1"/>
          </p:cNvPicPr>
          <p:nvPr/>
        </p:nvPicPr>
        <p:blipFill>
          <a:blip r:embed="rId5"/>
          <a:stretch>
            <a:fillRect/>
          </a:stretch>
        </p:blipFill>
        <p:spPr>
          <a:xfrm>
            <a:off x="4489785" y="3342588"/>
            <a:ext cx="3123530" cy="1771073"/>
          </a:xfrm>
          <a:prstGeom prst="rect">
            <a:avLst/>
          </a:prstGeom>
        </p:spPr>
      </p:pic>
      <p:pic>
        <p:nvPicPr>
          <p:cNvPr id="29" name="Picture 28"/>
          <p:cNvPicPr>
            <a:picLocks noChangeAspect="1"/>
          </p:cNvPicPr>
          <p:nvPr/>
        </p:nvPicPr>
        <p:blipFill>
          <a:blip r:embed="rId6"/>
          <a:stretch>
            <a:fillRect/>
          </a:stretch>
        </p:blipFill>
        <p:spPr>
          <a:xfrm>
            <a:off x="8074894" y="3342588"/>
            <a:ext cx="2949740" cy="1721630"/>
          </a:xfrm>
          <a:prstGeom prst="rect">
            <a:avLst/>
          </a:prstGeom>
        </p:spPr>
      </p:pic>
      <p:pic>
        <p:nvPicPr>
          <p:cNvPr id="31" name="Picture 30"/>
          <p:cNvPicPr>
            <a:picLocks noChangeAspect="1"/>
          </p:cNvPicPr>
          <p:nvPr/>
        </p:nvPicPr>
        <p:blipFill>
          <a:blip r:embed="rId7"/>
          <a:stretch>
            <a:fillRect/>
          </a:stretch>
        </p:blipFill>
        <p:spPr>
          <a:xfrm>
            <a:off x="6188364" y="5064219"/>
            <a:ext cx="3233996" cy="1826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535531"/>
          </a:xfrm>
        </p:spPr>
        <p:txBody>
          <a:bodyPr/>
          <a:lstStyle/>
          <a:p>
            <a:r>
              <a:rPr lang="en-US" dirty="0">
                <a:latin typeface="Garet Bold"/>
                <a:ea typeface="Garet Bold"/>
                <a:cs typeface="Garet Bold"/>
                <a:sym typeface="Garet Bold"/>
              </a:rPr>
              <a:t>CHALLENGES &amp; RESOLUTIONS</a:t>
            </a: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fld>
            <a:endParaRPr lang="en-US" noProof="0" dirty="0"/>
          </a:p>
        </p:txBody>
      </p:sp>
      <p:sp>
        <p:nvSpPr>
          <p:cNvPr id="4" name="Content Placeholder 3"/>
          <p:cNvSpPr>
            <a:spLocks noGrp="1"/>
          </p:cNvSpPr>
          <p:nvPr>
            <p:ph sz="half" idx="1"/>
          </p:nvPr>
        </p:nvSpPr>
        <p:spPr/>
        <p:txBody>
          <a:bodyPr/>
          <a:lstStyle/>
          <a:p>
            <a:r>
              <a:rPr lang="en-US" sz="2800" b="1" dirty="0">
                <a:latin typeface="Petrona Bold"/>
                <a:ea typeface="Petrona Bold"/>
                <a:cs typeface="Petrona Bold"/>
                <a:sym typeface="Petrona Bold"/>
              </a:rPr>
              <a:t>Challenge 1: Visual Performance Lag</a:t>
            </a:r>
            <a:endParaRPr lang="en-US" sz="2800" b="1" dirty="0">
              <a:latin typeface="Petrona Bold"/>
              <a:ea typeface="Petrona Bold"/>
              <a:cs typeface="Petrona Bold"/>
              <a:sym typeface="Petrona Bold"/>
            </a:endParaRPr>
          </a:p>
          <a:p>
            <a:pPr marL="0" indent="0">
              <a:buNone/>
            </a:pPr>
            <a:r>
              <a:rPr lang="en-US" sz="2400" dirty="0">
                <a:latin typeface="Inter"/>
                <a:ea typeface="Inter"/>
                <a:cs typeface="Inter"/>
                <a:sym typeface="Inter"/>
              </a:rPr>
              <a:t>Plotting 138k individual points on a Scatter Plot caused system crashes.</a:t>
            </a:r>
            <a:endParaRPr lang="en-US" sz="2400" dirty="0">
              <a:latin typeface="Inter"/>
              <a:ea typeface="Inter"/>
              <a:cs typeface="Inter"/>
              <a:sym typeface="Inter"/>
            </a:endParaRPr>
          </a:p>
          <a:p>
            <a:endParaRPr lang="en-US" sz="1600" b="1" dirty="0">
              <a:latin typeface="Petrona Bold"/>
              <a:ea typeface="Petrona Bold"/>
              <a:cs typeface="Petrona Bold"/>
              <a:sym typeface="Petrona Bold"/>
            </a:endParaRPr>
          </a:p>
          <a:p>
            <a:r>
              <a:rPr lang="en-US" sz="3200" b="1" dirty="0">
                <a:latin typeface="Petrona Bold"/>
                <a:ea typeface="Petrona Bold"/>
                <a:cs typeface="Petrona Bold"/>
                <a:sym typeface="Petrona Bold"/>
              </a:rPr>
              <a:t>Resolution:</a:t>
            </a:r>
            <a:endParaRPr lang="en-US" sz="3200" b="1" dirty="0">
              <a:latin typeface="Petrona Bold"/>
              <a:ea typeface="Petrona Bold"/>
              <a:cs typeface="Petrona Bold"/>
              <a:sym typeface="Petrona Bold"/>
            </a:endParaRPr>
          </a:p>
          <a:p>
            <a:endParaRPr lang="en-US" sz="1800" dirty="0">
              <a:latin typeface="Inter"/>
              <a:ea typeface="Inter"/>
              <a:cs typeface="Inter"/>
              <a:sym typeface="Inter"/>
            </a:endParaRPr>
          </a:p>
          <a:p>
            <a:pPr marL="0" indent="0">
              <a:buNone/>
            </a:pPr>
            <a:r>
              <a:rPr lang="en-US" sz="1800" dirty="0">
                <a:latin typeface="Inter"/>
                <a:ea typeface="Inter"/>
                <a:cs typeface="Inter"/>
                <a:sym typeface="Inter"/>
              </a:rPr>
              <a:t>Aggregated the data by "Restaurant Name" to </a:t>
            </a:r>
            <a:r>
              <a:rPr lang="en-US" sz="1800" dirty="0" err="1">
                <a:latin typeface="Inter"/>
                <a:ea typeface="Inter"/>
                <a:cs typeface="Inter"/>
                <a:sym typeface="Inter"/>
              </a:rPr>
              <a:t>optimise</a:t>
            </a:r>
            <a:r>
              <a:rPr lang="en-US" sz="1800" dirty="0">
                <a:latin typeface="Inter"/>
                <a:ea typeface="Inter"/>
                <a:cs typeface="Inter"/>
                <a:sym typeface="Inter"/>
              </a:rPr>
              <a:t> rendering speed and maintain system stability.</a:t>
            </a:r>
            <a:endParaRPr lang="en-US" sz="1800" dirty="0">
              <a:latin typeface="Inter"/>
              <a:ea typeface="Inter"/>
              <a:cs typeface="Inter"/>
              <a:sym typeface="Inter"/>
            </a:endParaRPr>
          </a:p>
          <a:p>
            <a:endParaRPr lang="en-IN" dirty="0"/>
          </a:p>
        </p:txBody>
      </p:sp>
      <p:sp>
        <p:nvSpPr>
          <p:cNvPr id="5" name="Content Placeholder 4"/>
          <p:cNvSpPr>
            <a:spLocks noGrp="1"/>
          </p:cNvSpPr>
          <p:nvPr>
            <p:ph sz="half" idx="2"/>
          </p:nvPr>
        </p:nvSpPr>
        <p:spPr/>
        <p:txBody>
          <a:bodyPr/>
          <a:lstStyle/>
          <a:p>
            <a:r>
              <a:rPr lang="en-US" sz="2800" b="1" dirty="0">
                <a:latin typeface="Petrona Bold"/>
                <a:ea typeface="Petrona Bold"/>
                <a:cs typeface="Petrona Bold"/>
                <a:sym typeface="Petrona Bold"/>
              </a:rPr>
              <a:t>Challenge 2: Inactive Relationships</a:t>
            </a:r>
            <a:endParaRPr lang="en-US" sz="2800" b="1" dirty="0">
              <a:latin typeface="Petrona Bold"/>
              <a:ea typeface="Petrona Bold"/>
              <a:cs typeface="Petrona Bold"/>
              <a:sym typeface="Petrona Bold"/>
            </a:endParaRPr>
          </a:p>
          <a:p>
            <a:pPr marL="0" indent="0">
              <a:buNone/>
            </a:pPr>
            <a:r>
              <a:rPr lang="en-US" sz="2400" dirty="0">
                <a:latin typeface="Inter"/>
                <a:ea typeface="Inter"/>
                <a:cs typeface="Inter"/>
                <a:sym typeface="Inter"/>
              </a:rPr>
              <a:t>Revenue visuals flat-lined due to disconnected tables, leading to inaccurate reporting.</a:t>
            </a:r>
            <a:endParaRPr lang="en-US" sz="2400" dirty="0">
              <a:latin typeface="Inter"/>
              <a:ea typeface="Inter"/>
              <a:cs typeface="Inter"/>
              <a:sym typeface="Inter"/>
            </a:endParaRPr>
          </a:p>
          <a:p>
            <a:pPr marL="0" indent="0">
              <a:buNone/>
            </a:pPr>
            <a:endParaRPr lang="en-US" sz="2800" b="1" dirty="0">
              <a:latin typeface="Petrona Bold"/>
              <a:ea typeface="Petrona Bold"/>
              <a:cs typeface="Petrona Bold"/>
              <a:sym typeface="Petrona Bold"/>
            </a:endParaRPr>
          </a:p>
          <a:p>
            <a:r>
              <a:rPr lang="en-US" sz="2800" b="1" dirty="0">
                <a:latin typeface="Petrona Bold"/>
                <a:ea typeface="Petrona Bold"/>
                <a:cs typeface="Petrona Bold"/>
                <a:sym typeface="Petrona Bold"/>
              </a:rPr>
              <a:t>Resolution:</a:t>
            </a:r>
            <a:endParaRPr lang="en-US" sz="2800" b="1" dirty="0">
              <a:latin typeface="Petrona Bold"/>
              <a:ea typeface="Petrona Bold"/>
              <a:cs typeface="Petrona Bold"/>
              <a:sym typeface="Petrona Bold"/>
            </a:endParaRPr>
          </a:p>
          <a:p>
            <a:pPr marL="0" indent="0">
              <a:buNone/>
            </a:pPr>
            <a:r>
              <a:rPr lang="en-US" dirty="0">
                <a:latin typeface="Inter"/>
                <a:ea typeface="Inter"/>
                <a:cs typeface="Inter"/>
                <a:sym typeface="Inter"/>
              </a:rPr>
              <a:t>Rebuilt the Star Schema to ensure proper cross-filtering between Dimensions and Facts, restoring data integrity.</a:t>
            </a:r>
            <a:endParaRPr lang="en-US" dirty="0">
              <a:latin typeface="Inter"/>
              <a:ea typeface="Inter"/>
              <a:cs typeface="Inter"/>
              <a:sym typeface="Inter"/>
            </a:endParaRPr>
          </a:p>
          <a:p>
            <a:endParaRPr lang="en-US" b="1" dirty="0">
              <a:solidFill>
                <a:srgbClr val="272525"/>
              </a:solidFill>
              <a:latin typeface="Petrona Bold"/>
              <a:ea typeface="Petrona Bold"/>
              <a:cs typeface="Petrona Bold"/>
              <a:sym typeface="Petrona Bold"/>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491" y="332509"/>
            <a:ext cx="11483109" cy="1615827"/>
          </a:xfrm>
        </p:spPr>
        <p:txBody>
          <a:bodyPr/>
          <a:lstStyle/>
          <a:p>
            <a:r>
              <a:rPr lang="en-US" sz="3600" dirty="0">
                <a:latin typeface="Garet Bold"/>
                <a:ea typeface="Garet Bold"/>
                <a:cs typeface="Garet Bold"/>
                <a:sym typeface="Garet Bold"/>
              </a:rPr>
              <a:t>TECHNOLOGIES &amp; SKILLS GAINED</a:t>
            </a:r>
            <a:br>
              <a:rPr lang="en-US" dirty="0">
                <a:latin typeface="Garet Bold"/>
                <a:ea typeface="Garet Bold"/>
                <a:cs typeface="Garet Bold"/>
                <a:sym typeface="Garet Bold"/>
              </a:rPr>
            </a:br>
            <a:r>
              <a:rPr lang="en-US" sz="1400" dirty="0">
                <a:latin typeface="Inter"/>
                <a:ea typeface="Inter"/>
                <a:cs typeface="Inter"/>
                <a:sym typeface="Inter"/>
              </a:rPr>
              <a:t>This internship provided an invaluable opportunity to apply and enhance a diverse set of technical skills, </a:t>
            </a:r>
            <a:r>
              <a:rPr lang="en-US" sz="1400" dirty="0" err="1">
                <a:latin typeface="Inter"/>
                <a:ea typeface="Inter"/>
                <a:cs typeface="Inter"/>
                <a:sym typeface="Inter"/>
              </a:rPr>
              <a:t>utilising</a:t>
            </a:r>
            <a:r>
              <a:rPr lang="en-US" sz="1400" dirty="0">
                <a:latin typeface="Inter"/>
                <a:ea typeface="Inter"/>
                <a:cs typeface="Inter"/>
                <a:sym typeface="Inter"/>
              </a:rPr>
              <a:t> industry-standard tools to deliver a robust analytics solution.</a:t>
            </a:r>
            <a:br>
              <a:rPr lang="en-US" sz="1400" dirty="0">
                <a:latin typeface="Inter"/>
                <a:ea typeface="Inter"/>
                <a:cs typeface="Inter"/>
                <a:sym typeface="Inter"/>
              </a:rPr>
            </a:br>
            <a:br>
              <a:rPr lang="en-US" sz="1400" dirty="0">
                <a:latin typeface="Garet Bold"/>
                <a:ea typeface="Garet Bold"/>
                <a:cs typeface="Garet Bold"/>
                <a:sym typeface="Garet Bold"/>
              </a:rPr>
            </a:b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fld>
            <a:endParaRPr lang="en-US" noProof="0" dirty="0"/>
          </a:p>
        </p:txBody>
      </p:sp>
      <p:sp>
        <p:nvSpPr>
          <p:cNvPr id="4" name="Content Placeholder 3"/>
          <p:cNvSpPr>
            <a:spLocks noGrp="1"/>
          </p:cNvSpPr>
          <p:nvPr>
            <p:ph sz="half" idx="1"/>
          </p:nvPr>
        </p:nvSpPr>
        <p:spPr>
          <a:xfrm>
            <a:off x="443365" y="1517715"/>
            <a:ext cx="5184437" cy="5007776"/>
          </a:xfrm>
        </p:spPr>
        <p:txBody>
          <a:bodyPr>
            <a:normAutofit/>
          </a:bodyPr>
          <a:lstStyle/>
          <a:p>
            <a:pPr marL="0" indent="0">
              <a:buNone/>
            </a:pPr>
            <a:r>
              <a:rPr lang="en-US" sz="3200" b="1" dirty="0">
                <a:solidFill>
                  <a:schemeClr val="accent1">
                    <a:lumMod val="40000"/>
                    <a:lumOff val="60000"/>
                  </a:schemeClr>
                </a:solidFill>
                <a:latin typeface="Garet Bold"/>
                <a:ea typeface="Garet Bold"/>
                <a:cs typeface="Garet Bold"/>
                <a:sym typeface="Garet Bold"/>
              </a:rPr>
              <a:t>Core Tech Stack</a:t>
            </a:r>
            <a:endParaRPr lang="en-US" sz="3200" b="1" dirty="0">
              <a:solidFill>
                <a:schemeClr val="accent1">
                  <a:lumMod val="40000"/>
                  <a:lumOff val="60000"/>
                </a:schemeClr>
              </a:solidFill>
              <a:latin typeface="Garet Bold"/>
              <a:ea typeface="Garet Bold"/>
              <a:cs typeface="Garet Bold"/>
              <a:sym typeface="Garet Bold"/>
            </a:endParaRPr>
          </a:p>
          <a:p>
            <a:r>
              <a:rPr lang="en-US" b="1" dirty="0">
                <a:solidFill>
                  <a:srgbClr val="FFFFFF"/>
                </a:solidFill>
                <a:latin typeface="Petrona Bold"/>
                <a:ea typeface="Petrona Bold"/>
                <a:cs typeface="Petrona Bold"/>
                <a:sym typeface="Petrona Bold"/>
              </a:rPr>
              <a:t>Power BI Desktop</a:t>
            </a:r>
            <a:endParaRPr lang="en-US" b="1" dirty="0">
              <a:solidFill>
                <a:srgbClr val="FFFFFF"/>
              </a:solidFill>
              <a:latin typeface="Petrona Bold"/>
              <a:ea typeface="Petrona Bold"/>
              <a:cs typeface="Petrona Bold"/>
              <a:sym typeface="Petrona Bold"/>
            </a:endParaRPr>
          </a:p>
          <a:p>
            <a:pPr marL="0" indent="0">
              <a:buNone/>
            </a:pPr>
            <a:r>
              <a:rPr lang="en-US" dirty="0">
                <a:solidFill>
                  <a:srgbClr val="FFFFFF"/>
                </a:solidFill>
                <a:latin typeface="Inter"/>
                <a:ea typeface="Inter"/>
                <a:cs typeface="Inter"/>
                <a:sym typeface="Inter"/>
              </a:rPr>
              <a:t>Primary tool for data </a:t>
            </a:r>
            <a:r>
              <a:rPr lang="en-US" dirty="0" err="1">
                <a:solidFill>
                  <a:srgbClr val="FFFFFF"/>
                </a:solidFill>
                <a:latin typeface="Inter"/>
                <a:ea typeface="Inter"/>
                <a:cs typeface="Inter"/>
                <a:sym typeface="Inter"/>
              </a:rPr>
              <a:t>visualisation</a:t>
            </a:r>
            <a:r>
              <a:rPr lang="en-US" dirty="0">
                <a:solidFill>
                  <a:srgbClr val="FFFFFF"/>
                </a:solidFill>
                <a:latin typeface="Inter"/>
                <a:ea typeface="Inter"/>
                <a:cs typeface="Inter"/>
                <a:sym typeface="Inter"/>
              </a:rPr>
              <a:t> and report creation.</a:t>
            </a:r>
            <a:endParaRPr lang="en-US" dirty="0">
              <a:solidFill>
                <a:srgbClr val="FFFFFF"/>
              </a:solidFill>
              <a:latin typeface="Inter"/>
              <a:ea typeface="Inter"/>
              <a:cs typeface="Inter"/>
              <a:sym typeface="Inter"/>
            </a:endParaRPr>
          </a:p>
          <a:p>
            <a:endParaRPr lang="en-US" b="1" dirty="0">
              <a:solidFill>
                <a:srgbClr val="FFFFFF"/>
              </a:solidFill>
              <a:latin typeface="Petrona Bold"/>
              <a:ea typeface="Petrona Bold"/>
              <a:cs typeface="Petrona Bold"/>
              <a:sym typeface="Petrona Bold"/>
            </a:endParaRPr>
          </a:p>
          <a:p>
            <a:r>
              <a:rPr lang="en-US" b="1" dirty="0">
                <a:solidFill>
                  <a:srgbClr val="FFFFFF"/>
                </a:solidFill>
                <a:latin typeface="Petrona Bold"/>
                <a:ea typeface="Petrona Bold"/>
                <a:cs typeface="Petrona Bold"/>
                <a:sym typeface="Petrona Bold"/>
              </a:rPr>
              <a:t>Power Query Editor</a:t>
            </a:r>
            <a:endParaRPr lang="en-US" b="1" dirty="0">
              <a:solidFill>
                <a:srgbClr val="FFFFFF"/>
              </a:solidFill>
              <a:latin typeface="Petrona Bold"/>
              <a:ea typeface="Petrona Bold"/>
              <a:cs typeface="Petrona Bold"/>
              <a:sym typeface="Petrona Bold"/>
            </a:endParaRPr>
          </a:p>
          <a:p>
            <a:pPr marL="0" indent="0">
              <a:buNone/>
            </a:pPr>
            <a:r>
              <a:rPr lang="en-US" dirty="0">
                <a:solidFill>
                  <a:srgbClr val="FFFFFF"/>
                </a:solidFill>
                <a:latin typeface="Inter"/>
                <a:ea typeface="Inter"/>
                <a:cs typeface="Inter"/>
                <a:sym typeface="Inter"/>
              </a:rPr>
              <a:t>Essential for data extraction, transformation, and loading processes.</a:t>
            </a:r>
            <a:endParaRPr lang="en-US" dirty="0">
              <a:solidFill>
                <a:srgbClr val="FFFFFF"/>
              </a:solidFill>
              <a:latin typeface="Inter"/>
              <a:ea typeface="Inter"/>
              <a:cs typeface="Inter"/>
              <a:sym typeface="Inter"/>
            </a:endParaRPr>
          </a:p>
          <a:p>
            <a:endParaRPr lang="en-US" b="1" dirty="0">
              <a:solidFill>
                <a:srgbClr val="FFFFFF"/>
              </a:solidFill>
              <a:latin typeface="Petrona Bold"/>
              <a:ea typeface="Petrona Bold"/>
              <a:cs typeface="Petrona Bold"/>
              <a:sym typeface="Petrona Bold"/>
            </a:endParaRPr>
          </a:p>
          <a:p>
            <a:r>
              <a:rPr lang="en-US" b="1" dirty="0">
                <a:solidFill>
                  <a:srgbClr val="FFFFFF"/>
                </a:solidFill>
                <a:latin typeface="Petrona Bold"/>
                <a:ea typeface="Petrona Bold"/>
                <a:cs typeface="Petrona Bold"/>
                <a:sym typeface="Petrona Bold"/>
              </a:rPr>
              <a:t>DAX</a:t>
            </a:r>
            <a:endParaRPr lang="en-US" b="1" dirty="0">
              <a:solidFill>
                <a:srgbClr val="FFFFFF"/>
              </a:solidFill>
              <a:latin typeface="Petrona Bold"/>
              <a:ea typeface="Petrona Bold"/>
              <a:cs typeface="Petrona Bold"/>
              <a:sym typeface="Petrona Bold"/>
            </a:endParaRPr>
          </a:p>
          <a:p>
            <a:pPr marL="0" indent="0">
              <a:buNone/>
            </a:pPr>
            <a:r>
              <a:rPr lang="en-US" dirty="0">
                <a:solidFill>
                  <a:srgbClr val="FFFFFF"/>
                </a:solidFill>
                <a:latin typeface="Inter"/>
                <a:ea typeface="Inter"/>
                <a:cs typeface="Inter"/>
                <a:sym typeface="Inter"/>
              </a:rPr>
              <a:t>Data Analysis Expressions for complex calculations and measures.</a:t>
            </a:r>
            <a:endParaRPr lang="en-US" dirty="0">
              <a:solidFill>
                <a:srgbClr val="FFFFFF"/>
              </a:solidFill>
              <a:latin typeface="Inter"/>
              <a:ea typeface="Inter"/>
              <a:cs typeface="Inter"/>
              <a:sym typeface="Inter"/>
            </a:endParaRPr>
          </a:p>
          <a:p>
            <a:r>
              <a:rPr lang="en-IN" dirty="0" err="1"/>
              <a:t>Github</a:t>
            </a:r>
            <a:r>
              <a:rPr lang="en-IN" dirty="0"/>
              <a:t> ,</a:t>
            </a:r>
            <a:r>
              <a:rPr lang="en-IN" dirty="0" err="1"/>
              <a:t>Gitlab,Microsoft</a:t>
            </a:r>
            <a:r>
              <a:rPr lang="en-IN" dirty="0"/>
              <a:t> team etc.</a:t>
            </a:r>
            <a:endParaRPr lang="en-IN" dirty="0"/>
          </a:p>
        </p:txBody>
      </p:sp>
      <p:sp>
        <p:nvSpPr>
          <p:cNvPr id="5" name="Content Placeholder 4"/>
          <p:cNvSpPr>
            <a:spLocks noGrp="1"/>
          </p:cNvSpPr>
          <p:nvPr>
            <p:ph sz="half" idx="2"/>
          </p:nvPr>
        </p:nvSpPr>
        <p:spPr/>
        <p:txBody>
          <a:bodyPr>
            <a:normAutofit fontScale="92500" lnSpcReduction="10000"/>
          </a:bodyPr>
          <a:lstStyle/>
          <a:p>
            <a:pPr marL="0" indent="0">
              <a:buNone/>
            </a:pPr>
            <a:r>
              <a:rPr lang="en-US" sz="3500" b="1" dirty="0">
                <a:solidFill>
                  <a:schemeClr val="accent1">
                    <a:lumMod val="40000"/>
                    <a:lumOff val="60000"/>
                  </a:schemeClr>
                </a:solidFill>
                <a:latin typeface="Garet Bold"/>
                <a:ea typeface="Garet Bold"/>
                <a:cs typeface="Garet Bold"/>
                <a:sym typeface="Garet Bold"/>
              </a:rPr>
              <a:t>Key Skills Gained</a:t>
            </a:r>
            <a:endParaRPr lang="en-US" sz="3500" b="1" dirty="0">
              <a:solidFill>
                <a:schemeClr val="accent1">
                  <a:lumMod val="40000"/>
                  <a:lumOff val="60000"/>
                </a:schemeClr>
              </a:solidFill>
              <a:latin typeface="Garet Bold"/>
              <a:ea typeface="Garet Bold"/>
              <a:cs typeface="Garet Bold"/>
              <a:sym typeface="Garet Bold"/>
            </a:endParaRPr>
          </a:p>
          <a:p>
            <a:r>
              <a:rPr lang="en-US" b="1" dirty="0">
                <a:latin typeface="Petrona Bold"/>
                <a:ea typeface="Petrona Bold"/>
                <a:cs typeface="Petrona Bold"/>
                <a:sym typeface="Petrona Bold"/>
              </a:rPr>
              <a:t>Data Modelling</a:t>
            </a:r>
            <a:endParaRPr lang="en-US" b="1" dirty="0">
              <a:latin typeface="Petrona Bold"/>
              <a:ea typeface="Petrona Bold"/>
              <a:cs typeface="Petrona Bold"/>
              <a:sym typeface="Petrona Bold"/>
            </a:endParaRPr>
          </a:p>
          <a:p>
            <a:pPr marL="0" indent="0">
              <a:buNone/>
            </a:pPr>
            <a:r>
              <a:rPr lang="en-US" dirty="0">
                <a:latin typeface="Inter"/>
                <a:ea typeface="Inter"/>
                <a:cs typeface="Inter"/>
                <a:sym typeface="Inter"/>
              </a:rPr>
              <a:t>Mastery in designing efficient Star Schema relationships for optimal performance</a:t>
            </a:r>
            <a:endParaRPr lang="en-US" dirty="0">
              <a:latin typeface="Inter"/>
              <a:ea typeface="Inter"/>
              <a:cs typeface="Inter"/>
              <a:sym typeface="Inter"/>
            </a:endParaRPr>
          </a:p>
          <a:p>
            <a:endParaRPr lang="en-US" sz="2400" b="1" dirty="0">
              <a:latin typeface="Petrona Bold"/>
              <a:ea typeface="Petrona Bold"/>
              <a:cs typeface="Petrona Bold"/>
              <a:sym typeface="Petrona Bold"/>
            </a:endParaRPr>
          </a:p>
          <a:p>
            <a:r>
              <a:rPr lang="en-US" b="1" dirty="0">
                <a:latin typeface="Petrona Bold"/>
                <a:ea typeface="Petrona Bold"/>
                <a:cs typeface="Petrona Bold"/>
                <a:sym typeface="Petrona Bold"/>
              </a:rPr>
              <a:t>Advanced Analytics</a:t>
            </a:r>
            <a:endParaRPr lang="en-US" b="1" dirty="0">
              <a:latin typeface="Petrona Bold"/>
              <a:ea typeface="Petrona Bold"/>
              <a:cs typeface="Petrona Bold"/>
              <a:sym typeface="Petrona Bold"/>
            </a:endParaRPr>
          </a:p>
          <a:p>
            <a:pPr marL="0" indent="0">
              <a:buNone/>
            </a:pPr>
            <a:r>
              <a:rPr lang="en-US" dirty="0">
                <a:latin typeface="Inter"/>
                <a:ea typeface="Inter"/>
                <a:cs typeface="Inter"/>
                <a:sym typeface="Inter"/>
              </a:rPr>
              <a:t>Ability to create dynamic measures for SLA Adherence and Customer Retention metrics.</a:t>
            </a:r>
            <a:endParaRPr lang="en-US" dirty="0">
              <a:latin typeface="Inter"/>
              <a:ea typeface="Inter"/>
              <a:cs typeface="Inter"/>
              <a:sym typeface="Inter"/>
            </a:endParaRPr>
          </a:p>
          <a:p>
            <a:pPr marL="0" indent="0">
              <a:buNone/>
            </a:pPr>
            <a:endParaRPr lang="en-US" dirty="0">
              <a:latin typeface="Inter"/>
              <a:ea typeface="Inter"/>
              <a:cs typeface="Inter"/>
              <a:sym typeface="Inter"/>
            </a:endParaRPr>
          </a:p>
          <a:p>
            <a:r>
              <a:rPr lang="en-US" b="1" dirty="0">
                <a:latin typeface="Petrona Bold"/>
                <a:ea typeface="Petrona Bold"/>
                <a:cs typeface="Petrona Bold"/>
                <a:sym typeface="Petrona Bold"/>
              </a:rPr>
              <a:t>Soft Skills Development</a:t>
            </a:r>
            <a:endParaRPr lang="en-US" b="1" dirty="0">
              <a:latin typeface="Petrona Bold"/>
              <a:ea typeface="Petrona Bold"/>
              <a:cs typeface="Petrona Bold"/>
              <a:sym typeface="Petrona Bold"/>
            </a:endParaRPr>
          </a:p>
          <a:p>
            <a:pPr marL="0" indent="0">
              <a:buNone/>
            </a:pPr>
            <a:r>
              <a:rPr lang="en-US" dirty="0">
                <a:latin typeface="Inter"/>
                <a:ea typeface="Inter"/>
                <a:cs typeface="Inter"/>
                <a:sym typeface="Inter"/>
              </a:rPr>
              <a:t>Developed critical Data Storytelling abilities to present complex insights effectively to stakeholders and drive action.</a:t>
            </a:r>
            <a:endParaRPr lang="en-US" dirty="0">
              <a:latin typeface="Inter"/>
              <a:ea typeface="Inter"/>
              <a:cs typeface="Inter"/>
              <a:sym typeface="Inter"/>
            </a:endParaRPr>
          </a:p>
          <a:p>
            <a:pPr marL="0" indent="0">
              <a:buNone/>
            </a:pPr>
            <a:endParaRPr lang="en-US" dirty="0">
              <a:latin typeface="Inter"/>
              <a:ea typeface="Inter"/>
              <a:cs typeface="Inter"/>
              <a:sym typeface="Inter"/>
            </a:endParaRP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fld>
            <a:endParaRPr lang="en-US" noProof="0" dirty="0"/>
          </a:p>
        </p:txBody>
      </p:sp>
      <p:sp>
        <p:nvSpPr>
          <p:cNvPr id="4" name="Content Placeholder 3"/>
          <p:cNvSpPr>
            <a:spLocks noGrp="1"/>
          </p:cNvSpPr>
          <p:nvPr>
            <p:ph sz="half" idx="1"/>
          </p:nvPr>
        </p:nvSpPr>
        <p:spPr>
          <a:xfrm>
            <a:off x="443365" y="803564"/>
            <a:ext cx="5184437" cy="5373399"/>
          </a:xfrm>
        </p:spPr>
        <p:txBody>
          <a:bodyPr>
            <a:normAutofit fontScale="70000" lnSpcReduction="20000"/>
          </a:bodyPr>
          <a:lstStyle/>
          <a:p>
            <a:pPr marL="0" indent="0">
              <a:buNone/>
            </a:pPr>
            <a:r>
              <a:rPr lang="en-US" sz="3400" b="1" dirty="0">
                <a:latin typeface="Garet Bold"/>
                <a:ea typeface="Garet Bold"/>
                <a:cs typeface="Garet Bold"/>
                <a:sym typeface="Garet Bold"/>
              </a:rPr>
              <a:t>KEY BUSINESS INSIGHTS:</a:t>
            </a:r>
            <a:endParaRPr lang="en-US" sz="3400" b="1" dirty="0">
              <a:latin typeface="Garet Bold"/>
              <a:ea typeface="Garet Bold"/>
              <a:cs typeface="Garet Bold"/>
              <a:sym typeface="Garet Bold"/>
            </a:endParaRPr>
          </a:p>
          <a:p>
            <a:pPr marL="330200" lvl="1" indent="-165100" algn="just">
              <a:lnSpc>
                <a:spcPct val="170000"/>
              </a:lnSpc>
              <a:buFont typeface="Arial" panose="020B0604020202020204"/>
              <a:buChar char="•"/>
            </a:pPr>
            <a:endParaRPr lang="en-US" sz="2185" b="1" dirty="0">
              <a:solidFill>
                <a:schemeClr val="accent1">
                  <a:lumMod val="40000"/>
                  <a:lumOff val="60000"/>
                </a:schemeClr>
              </a:solidFill>
              <a:latin typeface="Inter Bold"/>
              <a:ea typeface="Inter Bold"/>
              <a:cs typeface="Inter Bold"/>
              <a:sym typeface="Inter Bold"/>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Logistics is the Bottleneck:</a:t>
            </a:r>
            <a:r>
              <a:rPr lang="en-US" sz="2300" u="sng" dirty="0">
                <a:latin typeface="Inter"/>
                <a:ea typeface="Inter"/>
                <a:cs typeface="Inter"/>
                <a:sym typeface="Inter"/>
              </a:rPr>
              <a:t> </a:t>
            </a:r>
            <a:r>
              <a:rPr lang="en-US" sz="2185" dirty="0">
                <a:latin typeface="Inter"/>
                <a:ea typeface="Inter"/>
                <a:cs typeface="Inter"/>
                <a:sym typeface="Inter"/>
              </a:rPr>
              <a:t>The 39% On-Time Delivery Rate is a critical operational failure. Immediate fleet expansion is required in Hyderabad and Mumbai to stop customer churn.</a:t>
            </a:r>
            <a:endParaRPr lang="en-US" sz="2185" dirty="0">
              <a:latin typeface="Inter"/>
              <a:ea typeface="Inter"/>
              <a:cs typeface="Inter"/>
              <a:sym typeface="Inter"/>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The "Organic" Engine:</a:t>
            </a:r>
            <a:r>
              <a:rPr lang="en-US" sz="2300" u="sng" dirty="0">
                <a:latin typeface="Inter"/>
                <a:ea typeface="Inter"/>
                <a:cs typeface="Inter"/>
                <a:sym typeface="Inter"/>
              </a:rPr>
              <a:t> </a:t>
            </a:r>
            <a:r>
              <a:rPr lang="en-US" sz="2185" dirty="0">
                <a:latin typeface="Inter"/>
                <a:ea typeface="Inter"/>
                <a:cs typeface="Inter"/>
                <a:sym typeface="Inter"/>
              </a:rPr>
              <a:t>Organic users make up 52% of the customer base and show higher retention. Shift marketing to "Retention Rewards" for this loyal segment.</a:t>
            </a:r>
            <a:endParaRPr lang="en-US" sz="2185" dirty="0">
              <a:latin typeface="Inter"/>
              <a:ea typeface="Inter"/>
              <a:cs typeface="Inter"/>
              <a:sym typeface="Inter"/>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The Volume Trap:</a:t>
            </a:r>
            <a:r>
              <a:rPr lang="en-US" sz="2300" u="sng" dirty="0">
                <a:latin typeface="Inter"/>
                <a:ea typeface="Inter"/>
                <a:cs typeface="Inter"/>
                <a:sym typeface="Inter"/>
              </a:rPr>
              <a:t> </a:t>
            </a:r>
            <a:r>
              <a:rPr lang="en-US" sz="2185" dirty="0">
                <a:latin typeface="Inter"/>
                <a:ea typeface="Inter"/>
                <a:cs typeface="Inter"/>
                <a:sym typeface="Inter"/>
              </a:rPr>
              <a:t>"Beverages" have low individual profit margins despite high volume. Implement "Combo Meals" to increase Average Order Value (AOV).</a:t>
            </a:r>
            <a:endParaRPr lang="en-US" sz="2185" dirty="0">
              <a:latin typeface="Inter"/>
              <a:ea typeface="Inter"/>
              <a:cs typeface="Inter"/>
              <a:sym typeface="Inter"/>
            </a:endParaRPr>
          </a:p>
          <a:p>
            <a:endParaRPr lang="en-IN" sz="2800" dirty="0"/>
          </a:p>
        </p:txBody>
      </p:sp>
      <p:sp>
        <p:nvSpPr>
          <p:cNvPr id="5" name="Content Placeholder 4"/>
          <p:cNvSpPr>
            <a:spLocks noGrp="1"/>
          </p:cNvSpPr>
          <p:nvPr>
            <p:ph sz="half" idx="2"/>
          </p:nvPr>
        </p:nvSpPr>
        <p:spPr>
          <a:xfrm>
            <a:off x="6474163" y="803564"/>
            <a:ext cx="5184437" cy="5239133"/>
          </a:xfrm>
        </p:spPr>
        <p:txBody>
          <a:bodyPr>
            <a:normAutofit fontScale="70000" lnSpcReduction="20000"/>
          </a:bodyPr>
          <a:lstStyle/>
          <a:p>
            <a:pPr marL="0" indent="0">
              <a:buNone/>
            </a:pPr>
            <a:r>
              <a:rPr lang="en-US" sz="3400" b="1" dirty="0">
                <a:latin typeface="Garet Bold"/>
                <a:ea typeface="Garet Bold"/>
                <a:cs typeface="Garet Bold"/>
                <a:sym typeface="Garet Bold"/>
              </a:rPr>
              <a:t>FUTURE ENHANCEMENTS:</a:t>
            </a:r>
            <a:endParaRPr lang="en-US" sz="3400" b="1" dirty="0">
              <a:latin typeface="Garet Bold"/>
              <a:ea typeface="Garet Bold"/>
              <a:cs typeface="Garet Bold"/>
              <a:sym typeface="Garet Bold"/>
            </a:endParaRPr>
          </a:p>
          <a:p>
            <a:pPr marL="330200" lvl="1" indent="-165100" algn="just">
              <a:lnSpc>
                <a:spcPct val="170000"/>
              </a:lnSpc>
              <a:buFont typeface="Arial" panose="020B0604020202020204"/>
              <a:buChar char="•"/>
            </a:pPr>
            <a:endParaRPr lang="en-US" sz="2185" b="1" dirty="0">
              <a:solidFill>
                <a:schemeClr val="accent1">
                  <a:lumMod val="40000"/>
                  <a:lumOff val="60000"/>
                </a:schemeClr>
              </a:solidFill>
              <a:latin typeface="Inter Bold"/>
              <a:ea typeface="Inter Bold"/>
              <a:cs typeface="Inter Bold"/>
              <a:sym typeface="Inter Bold"/>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Row-Level Security (RLS):</a:t>
            </a:r>
            <a:r>
              <a:rPr lang="en-US" sz="2300" u="sng" dirty="0">
                <a:latin typeface="Inter"/>
                <a:ea typeface="Inter"/>
                <a:cs typeface="Inter"/>
                <a:sym typeface="Inter"/>
              </a:rPr>
              <a:t> </a:t>
            </a:r>
            <a:r>
              <a:rPr lang="en-US" sz="2300" dirty="0">
                <a:latin typeface="Inter"/>
                <a:ea typeface="Inter"/>
                <a:cs typeface="Inter"/>
                <a:sym typeface="Inter"/>
              </a:rPr>
              <a:t>Implement security roles to restrict access, allowing Branch Managers to view only their specific City's data.</a:t>
            </a:r>
            <a:endParaRPr lang="en-US" sz="2300" dirty="0">
              <a:latin typeface="Inter"/>
              <a:ea typeface="Inter"/>
              <a:cs typeface="Inter"/>
              <a:sym typeface="Inter"/>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What-If Parameters:</a:t>
            </a:r>
            <a:r>
              <a:rPr lang="en-US" sz="2300" u="sng" dirty="0">
                <a:latin typeface="Inter"/>
                <a:ea typeface="Inter"/>
                <a:cs typeface="Inter"/>
                <a:sym typeface="Inter"/>
              </a:rPr>
              <a:t> </a:t>
            </a:r>
            <a:r>
              <a:rPr lang="en-US" sz="2300" dirty="0">
                <a:latin typeface="Inter"/>
                <a:ea typeface="Inter"/>
                <a:cs typeface="Inter"/>
                <a:sym typeface="Inter"/>
              </a:rPr>
              <a:t>Add interactive sliders to simulate business scenarios (e.g., "If we discount Biryani by 10%, how much will Revenue increase?").</a:t>
            </a:r>
            <a:endParaRPr lang="en-US" sz="2300" dirty="0">
              <a:latin typeface="Inter"/>
              <a:ea typeface="Inter"/>
              <a:cs typeface="Inter"/>
              <a:sym typeface="Inter"/>
            </a:endParaRPr>
          </a:p>
          <a:p>
            <a:pPr marL="330200" lvl="1" indent="-165100" algn="just">
              <a:lnSpc>
                <a:spcPct val="170000"/>
              </a:lnSpc>
              <a:buFont typeface="Arial" panose="020B0604020202020204"/>
              <a:buChar char="•"/>
            </a:pPr>
            <a:r>
              <a:rPr lang="en-US" sz="2300" b="1" u="sng" dirty="0">
                <a:latin typeface="Inter Bold"/>
                <a:ea typeface="Inter Bold"/>
                <a:cs typeface="Inter Bold"/>
                <a:sym typeface="Inter Bold"/>
              </a:rPr>
              <a:t>Mobile Layout </a:t>
            </a:r>
            <a:r>
              <a:rPr lang="en-US" sz="2300" b="1" u="sng" dirty="0" err="1">
                <a:latin typeface="Inter Bold"/>
                <a:ea typeface="Inter Bold"/>
                <a:cs typeface="Inter Bold"/>
                <a:sym typeface="Inter Bold"/>
              </a:rPr>
              <a:t>Optimisation</a:t>
            </a:r>
            <a:r>
              <a:rPr lang="en-US" sz="2300" b="1" dirty="0">
                <a:latin typeface="Inter Bold"/>
                <a:ea typeface="Inter Bold"/>
                <a:cs typeface="Inter Bold"/>
                <a:sym typeface="Inter Bold"/>
              </a:rPr>
              <a:t>:</a:t>
            </a:r>
            <a:r>
              <a:rPr lang="en-US" sz="2300" dirty="0">
                <a:latin typeface="Inter"/>
                <a:ea typeface="Inter"/>
                <a:cs typeface="Inter"/>
                <a:sym typeface="Inter"/>
              </a:rPr>
              <a:t> Design a specific "Mobile View" of the Logistics Dashboard for Area Managers to monitor live fleet performance on their smartphones.</a:t>
            </a:r>
            <a:endParaRPr lang="en-US" sz="2300" dirty="0">
              <a:latin typeface="Inter"/>
              <a:ea typeface="Inter"/>
              <a:cs typeface="Inter"/>
              <a:sym typeface="Inter"/>
            </a:endParaRPr>
          </a:p>
          <a:p>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978729"/>
          </a:xfrm>
        </p:spPr>
        <p:txBody>
          <a:bodyPr/>
          <a:lstStyle/>
          <a:p>
            <a:r>
              <a:rPr lang="en-US" dirty="0">
                <a:latin typeface="Garet Bold"/>
                <a:ea typeface="Garet Bold"/>
                <a:cs typeface="Garet Bold"/>
                <a:sym typeface="Garet Bold"/>
              </a:rPr>
              <a:t>CONCLUSION, ACKNOWLEDGEMENT &amp; REFERENCES</a:t>
            </a:r>
            <a:br>
              <a:rPr lang="en-US" dirty="0">
                <a:latin typeface="Garet Bold"/>
                <a:ea typeface="Garet Bold"/>
                <a:cs typeface="Garet Bold"/>
                <a:sym typeface="Garet Bold"/>
              </a:rPr>
            </a:b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fld>
            <a:endParaRPr lang="en-US" noProof="0" dirty="0"/>
          </a:p>
        </p:txBody>
      </p:sp>
      <p:sp>
        <p:nvSpPr>
          <p:cNvPr id="4" name="Content Placeholder 3"/>
          <p:cNvSpPr>
            <a:spLocks noGrp="1"/>
          </p:cNvSpPr>
          <p:nvPr>
            <p:ph sz="half" idx="1"/>
          </p:nvPr>
        </p:nvSpPr>
        <p:spPr/>
        <p:txBody>
          <a:bodyPr>
            <a:normAutofit fontScale="77500" lnSpcReduction="20000"/>
          </a:bodyPr>
          <a:lstStyle/>
          <a:p>
            <a:pPr marL="0" indent="0">
              <a:buNone/>
            </a:pPr>
            <a:r>
              <a:rPr lang="en-US" sz="2400" b="1" dirty="0">
                <a:latin typeface="Garet Bold"/>
                <a:ea typeface="Garet Bold"/>
                <a:cs typeface="Garet Bold"/>
                <a:sym typeface="Garet Bold"/>
              </a:rPr>
              <a:t>Conclusion:</a:t>
            </a:r>
            <a:endParaRPr lang="en-US" sz="2400" b="1" dirty="0">
              <a:latin typeface="Garet Bold"/>
              <a:ea typeface="Garet Bold"/>
              <a:cs typeface="Garet Bold"/>
              <a:sym typeface="Garet Bold"/>
            </a:endParaRPr>
          </a:p>
          <a:p>
            <a:pPr marL="0" indent="0">
              <a:lnSpc>
                <a:spcPct val="120000"/>
              </a:lnSpc>
              <a:buNone/>
            </a:pPr>
            <a:r>
              <a:rPr lang="en-US" sz="1900" dirty="0">
                <a:latin typeface="Garet Bold"/>
                <a:ea typeface="Inter"/>
                <a:cs typeface="Inter"/>
                <a:sym typeface="Inter"/>
              </a:rPr>
              <a:t>Operational Gap: The analysis reveals a critical disconnect between product strength and service execution. While the menu is highly profitable, a 39% delay rate in last-mile delivery is the primary </a:t>
            </a:r>
            <a:r>
              <a:rPr lang="en-US" sz="1900" dirty="0" err="1">
                <a:latin typeface="Garet Bold"/>
                <a:ea typeface="Inter"/>
                <a:cs typeface="Inter"/>
                <a:sym typeface="Inter"/>
              </a:rPr>
              <a:t>bottleneck.Customer</a:t>
            </a:r>
            <a:r>
              <a:rPr lang="en-US" sz="1900" dirty="0">
                <a:latin typeface="Garet Bold"/>
                <a:ea typeface="Inter"/>
                <a:cs typeface="Inter"/>
                <a:sym typeface="Inter"/>
              </a:rPr>
              <a:t> Retention: Data indicates that speed, not price, is the strongest predictor of customer loyalty. Immediate restructuring of logistics SLAs is required to reduce churn among "Organic" </a:t>
            </a:r>
            <a:r>
              <a:rPr lang="en-US" sz="1900" dirty="0" err="1">
                <a:latin typeface="Garet Bold"/>
                <a:ea typeface="Inter"/>
                <a:cs typeface="Inter"/>
                <a:sym typeface="Inter"/>
              </a:rPr>
              <a:t>users.Business</a:t>
            </a:r>
            <a:r>
              <a:rPr lang="en-US" sz="1900" dirty="0">
                <a:latin typeface="Garet Bold"/>
                <a:ea typeface="Inter"/>
                <a:cs typeface="Inter"/>
                <a:sym typeface="Inter"/>
              </a:rPr>
              <a:t> Impact: The project confirms that data-driven decision-making can transform raw numbers into actionable strategies for Menu Engineering and cost optimization.</a:t>
            </a:r>
            <a:endParaRPr lang="en-US" sz="1900" b="1" dirty="0">
              <a:latin typeface="Garet Bold"/>
              <a:ea typeface="Garet Bold"/>
              <a:cs typeface="Garet Bold"/>
              <a:sym typeface="Garet Bold"/>
            </a:endParaRPr>
          </a:p>
          <a:p>
            <a:pPr marL="0" indent="0">
              <a:buNone/>
            </a:pPr>
            <a:r>
              <a:rPr lang="en-US" sz="2400" b="1" dirty="0">
                <a:latin typeface="Garet Bold"/>
                <a:ea typeface="Garet Bold"/>
                <a:cs typeface="Garet Bold"/>
                <a:sym typeface="Garet Bold"/>
              </a:rPr>
              <a:t>References:</a:t>
            </a:r>
            <a:endParaRPr lang="en-US" sz="2400" b="1" dirty="0">
              <a:latin typeface="Garet Bold"/>
              <a:ea typeface="Garet Bold"/>
              <a:cs typeface="Garet Bold"/>
              <a:sym typeface="Garet Bold"/>
            </a:endParaRPr>
          </a:p>
          <a:p>
            <a:pPr marL="405130" lvl="1" indent="-202565" algn="just">
              <a:lnSpc>
                <a:spcPct val="100000"/>
              </a:lnSpc>
              <a:buFont typeface="Arial" panose="020B0604020202020204"/>
              <a:buChar char="•"/>
            </a:pPr>
            <a:r>
              <a:rPr lang="en-US" sz="1875" dirty="0">
                <a:latin typeface="Inter"/>
                <a:ea typeface="Inter"/>
                <a:cs typeface="Inter"/>
                <a:sym typeface="Inter"/>
              </a:rPr>
              <a:t>Infosys Springboard Virtual Internship Course Materials.</a:t>
            </a:r>
            <a:endParaRPr lang="en-US" sz="1875" dirty="0">
              <a:latin typeface="Inter"/>
              <a:ea typeface="Inter"/>
              <a:cs typeface="Inter"/>
              <a:sym typeface="Inter"/>
            </a:endParaRPr>
          </a:p>
          <a:p>
            <a:pPr marL="405130" lvl="1" indent="-202565" algn="just">
              <a:lnSpc>
                <a:spcPct val="100000"/>
              </a:lnSpc>
              <a:buFont typeface="Arial" panose="020B0604020202020204"/>
              <a:buChar char="•"/>
            </a:pPr>
            <a:r>
              <a:rPr lang="en-US" sz="1875" dirty="0">
                <a:latin typeface="Inter"/>
                <a:ea typeface="Inter"/>
                <a:cs typeface="Inter"/>
                <a:sym typeface="Inter"/>
              </a:rPr>
              <a:t>Microsoft Power BI Documentation.</a:t>
            </a:r>
            <a:endParaRPr lang="en-US" sz="1875" dirty="0">
              <a:latin typeface="Inter"/>
              <a:ea typeface="Inter"/>
              <a:cs typeface="Inter"/>
              <a:sym typeface="Inter"/>
            </a:endParaRPr>
          </a:p>
          <a:p>
            <a:pPr marL="405130" lvl="1" indent="-202565" algn="just">
              <a:lnSpc>
                <a:spcPct val="100000"/>
              </a:lnSpc>
              <a:buFont typeface="Arial" panose="020B0604020202020204"/>
              <a:buChar char="•"/>
            </a:pPr>
            <a:r>
              <a:rPr lang="en-US" sz="1875" dirty="0">
                <a:latin typeface="Inter"/>
                <a:ea typeface="Inter"/>
                <a:cs typeface="Inter"/>
                <a:sym typeface="Inter"/>
              </a:rPr>
              <a:t>Food Industry Logistics Case Studies.</a:t>
            </a:r>
            <a:endParaRPr lang="en-US" sz="1875" dirty="0">
              <a:latin typeface="Inter"/>
              <a:ea typeface="Inter"/>
              <a:cs typeface="Inter"/>
              <a:sym typeface="Inter"/>
            </a:endParaRPr>
          </a:p>
          <a:p>
            <a:pPr marL="405130" lvl="1" indent="-202565" algn="just">
              <a:lnSpc>
                <a:spcPct val="100000"/>
              </a:lnSpc>
              <a:buFont typeface="Arial" panose="020B0604020202020204"/>
              <a:buChar char="•"/>
            </a:pPr>
            <a:r>
              <a:rPr lang="en-US" sz="1875" dirty="0">
                <a:latin typeface="Inter"/>
                <a:ea typeface="Inter"/>
                <a:cs typeface="Inter"/>
                <a:sym typeface="Inter"/>
              </a:rPr>
              <a:t>Kaggle Dataset: Zomato Food Delivery Data.</a:t>
            </a:r>
            <a:endParaRPr lang="en-US" sz="1875" dirty="0">
              <a:latin typeface="Inter"/>
              <a:ea typeface="Inter"/>
              <a:cs typeface="Inter"/>
              <a:sym typeface="Inter"/>
            </a:endParaRPr>
          </a:p>
          <a:p>
            <a:pPr marL="0" indent="0">
              <a:buNone/>
            </a:pPr>
            <a:endParaRPr lang="en-US" sz="2400" b="1" dirty="0">
              <a:latin typeface="Garet Bold"/>
              <a:ea typeface="Garet Bold"/>
              <a:cs typeface="Garet Bold"/>
              <a:sym typeface="Garet Bold"/>
            </a:endParaRPr>
          </a:p>
          <a:p>
            <a:endParaRPr lang="en-IN" dirty="0"/>
          </a:p>
        </p:txBody>
      </p:sp>
      <p:sp>
        <p:nvSpPr>
          <p:cNvPr id="5" name="Content Placeholder 4"/>
          <p:cNvSpPr>
            <a:spLocks noGrp="1"/>
          </p:cNvSpPr>
          <p:nvPr>
            <p:ph sz="half" idx="2"/>
          </p:nvPr>
        </p:nvSpPr>
        <p:spPr/>
        <p:txBody>
          <a:bodyPr>
            <a:normAutofit fontScale="92500"/>
          </a:bodyPr>
          <a:lstStyle/>
          <a:p>
            <a:r>
              <a:rPr lang="en-US" sz="2400" b="1" dirty="0">
                <a:latin typeface="Garet Bold"/>
                <a:ea typeface="Garet Bold"/>
                <a:cs typeface="Garet Bold"/>
                <a:sym typeface="Garet Bold"/>
              </a:rPr>
              <a:t>Acknowledgement:</a:t>
            </a:r>
            <a:endParaRPr lang="en-US" sz="2400" b="1" dirty="0">
              <a:latin typeface="Garet Bold"/>
              <a:ea typeface="Garet Bold"/>
              <a:cs typeface="Garet Bold"/>
              <a:sym typeface="Garet Bold"/>
            </a:endParaRPr>
          </a:p>
          <a:p>
            <a:pPr algn="just">
              <a:lnSpc>
                <a:spcPct val="150000"/>
              </a:lnSpc>
            </a:pPr>
            <a:r>
              <a:rPr lang="en-US" sz="1875" dirty="0">
                <a:latin typeface="Inter"/>
                <a:ea typeface="Inter"/>
                <a:cs typeface="Inter"/>
                <a:sym typeface="Inter"/>
              </a:rPr>
              <a:t>I would like to express my heartfelt gratitude to:</a:t>
            </a:r>
            <a:endParaRPr lang="en-US" sz="1875" dirty="0">
              <a:latin typeface="Inter"/>
              <a:ea typeface="Inter"/>
              <a:cs typeface="Inter"/>
              <a:sym typeface="Inter"/>
            </a:endParaRPr>
          </a:p>
          <a:p>
            <a:pPr marL="800100" lvl="1" indent="-342900" algn="just">
              <a:lnSpc>
                <a:spcPct val="150000"/>
              </a:lnSpc>
            </a:pPr>
            <a:r>
              <a:rPr lang="en-US" sz="1875" dirty="0">
                <a:latin typeface="Inter"/>
                <a:ea typeface="Inter"/>
                <a:cs typeface="Inter"/>
                <a:sym typeface="Inter"/>
              </a:rPr>
              <a:t>Infosys Springboard Team for organizing this valuable internship opportunity. </a:t>
            </a:r>
            <a:endParaRPr lang="en-US" sz="1875" dirty="0">
              <a:latin typeface="Inter"/>
              <a:ea typeface="Inter"/>
              <a:cs typeface="Inter"/>
              <a:sym typeface="Inter"/>
            </a:endParaRPr>
          </a:p>
          <a:p>
            <a:pPr marL="800100" lvl="1" indent="-342900" algn="just">
              <a:lnSpc>
                <a:spcPct val="150000"/>
              </a:lnSpc>
            </a:pPr>
            <a:r>
              <a:rPr lang="en-US" sz="1875" dirty="0">
                <a:latin typeface="Inter"/>
                <a:ea typeface="Inter"/>
                <a:cs typeface="Inter"/>
                <a:sym typeface="Inter"/>
              </a:rPr>
              <a:t>My Mentor </a:t>
            </a:r>
            <a:r>
              <a:rPr lang="en-US" sz="2000" dirty="0"/>
              <a:t>(Nityasree Ma’am)</a:t>
            </a:r>
            <a:r>
              <a:rPr lang="en-US" sz="1875" dirty="0">
                <a:latin typeface="Inter"/>
                <a:ea typeface="Inter"/>
                <a:cs typeface="Inter"/>
                <a:sym typeface="Inter"/>
              </a:rPr>
              <a:t>– for her continuous support and feedback.</a:t>
            </a:r>
            <a:endParaRPr lang="en-US" sz="1875" dirty="0">
              <a:latin typeface="Inter"/>
              <a:ea typeface="Inter"/>
              <a:cs typeface="Inter"/>
              <a:sym typeface="Inter"/>
            </a:endParaRPr>
          </a:p>
          <a:p>
            <a:pPr marL="800100" lvl="1" indent="-342900" algn="just">
              <a:lnSpc>
                <a:spcPct val="150000"/>
              </a:lnSpc>
            </a:pPr>
            <a:r>
              <a:rPr lang="en-US" sz="1875" dirty="0">
                <a:latin typeface="Inter"/>
                <a:ea typeface="Inter"/>
                <a:cs typeface="Inter"/>
                <a:sym typeface="Inter"/>
              </a:rPr>
              <a:t>My Teammates </a:t>
            </a:r>
            <a:r>
              <a:rPr lang="en-US" sz="2000" dirty="0"/>
              <a:t>(</a:t>
            </a:r>
            <a:r>
              <a:rPr lang="en-US" sz="2000" dirty="0" err="1"/>
              <a:t>Shashank,Garvit</a:t>
            </a:r>
            <a:r>
              <a:rPr lang="en-US" sz="2000" dirty="0"/>
              <a:t>) </a:t>
            </a:r>
            <a:r>
              <a:rPr lang="en-US" sz="1875" dirty="0">
                <a:latin typeface="Inter"/>
                <a:ea typeface="Inter"/>
                <a:cs typeface="Inter"/>
                <a:sym typeface="Inter"/>
              </a:rPr>
              <a:t> – for collaboration, encouragement, and insights.</a:t>
            </a:r>
            <a:endParaRPr lang="en-US" sz="1875" dirty="0">
              <a:latin typeface="Inter"/>
              <a:ea typeface="Inter"/>
              <a:cs typeface="Inter"/>
              <a:sym typeface="Inter"/>
            </a:endParaRPr>
          </a:p>
          <a:p>
            <a:pPr algn="just">
              <a:lnSpc>
                <a:spcPct val="150000"/>
              </a:lnSpc>
            </a:pPr>
            <a:r>
              <a:rPr lang="en-US" sz="1875" dirty="0">
                <a:latin typeface="Inter"/>
                <a:ea typeface="Inter"/>
                <a:cs typeface="Inter"/>
                <a:sym typeface="Inter"/>
              </a:rPr>
              <a:t>This internship has been a significant step in my professional growth and technical journey.</a:t>
            </a:r>
            <a:endParaRPr lang="en-US" sz="1875" dirty="0">
              <a:latin typeface="Inter"/>
              <a:ea typeface="Inter"/>
              <a:cs typeface="Inter"/>
              <a:sym typeface="Inter"/>
            </a:endParaRPr>
          </a:p>
          <a:p>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90260" y="1815146"/>
            <a:ext cx="5801740" cy="2365155"/>
          </a:xfrm>
        </p:spPr>
        <p:txBody>
          <a:bodyPr/>
          <a:lstStyle/>
          <a:p>
            <a:r>
              <a:rPr lang="en-US" sz="11500" dirty="0"/>
              <a:t>Thank You </a:t>
            </a:r>
            <a:br>
              <a:rPr lang="en-US" sz="11500" dirty="0"/>
            </a:br>
            <a:br>
              <a:rPr lang="en-US" sz="11500" dirty="0"/>
            </a:br>
            <a:r>
              <a:rPr lang="en-US" sz="2000" dirty="0"/>
              <a:t>vanshikawadhwa20@gmail.com</a:t>
            </a:r>
            <a:endParaRPr lang="en-GB" sz="11500"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datastoreItem>
</file>

<file path=customXml/itemProps2.xml><?xml version="1.0" encoding="utf-8"?>
<ds:datastoreItem xmlns:ds="http://schemas.openxmlformats.org/officeDocument/2006/customXml" ds:itemID="{F5757914-1161-4661-9696-421FD6935CDD}">
  <ds:schemaRefs/>
</ds:datastoreItem>
</file>

<file path=customXml/itemProps3.xml><?xml version="1.0" encoding="utf-8"?>
<ds:datastoreItem xmlns:ds="http://schemas.openxmlformats.org/officeDocument/2006/customXml" ds:itemID="{4C103400-4A22-4E35-B588-4C4D42638959}">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6546</Words>
  <Application>WPS Presentation</Application>
  <PresentationFormat>Widescreen</PresentationFormat>
  <Paragraphs>177</Paragraphs>
  <Slides>11</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11</vt:i4>
      </vt:variant>
    </vt:vector>
  </HeadingPairs>
  <TitlesOfParts>
    <vt:vector size="32" baseType="lpstr">
      <vt:lpstr>Arial</vt:lpstr>
      <vt:lpstr>SimSun</vt:lpstr>
      <vt:lpstr>Wingdings</vt:lpstr>
      <vt:lpstr>Trebuchet MS</vt:lpstr>
      <vt:lpstr>Trade Gothic LT Pro</vt:lpstr>
      <vt:lpstr>Yu Gothic UI</vt:lpstr>
      <vt:lpstr>Tahoma</vt:lpstr>
      <vt:lpstr>Garet Bold</vt:lpstr>
      <vt:lpstr>Segoe Print</vt:lpstr>
      <vt:lpstr>Garet</vt:lpstr>
      <vt:lpstr>Inter</vt:lpstr>
      <vt:lpstr>Arial Black</vt:lpstr>
      <vt:lpstr>Telegraf</vt:lpstr>
      <vt:lpstr>Telegraf Bold</vt:lpstr>
      <vt:lpstr>Arial</vt:lpstr>
      <vt:lpstr>Petrona Bold</vt:lpstr>
      <vt:lpstr>Inter Bold</vt:lpstr>
      <vt:lpstr>Microsoft YaHei</vt:lpstr>
      <vt:lpstr>Arial Unicode MS</vt:lpstr>
      <vt:lpstr>Calibri</vt:lpstr>
      <vt:lpstr>Office Theme</vt:lpstr>
      <vt:lpstr>INFOSYS SPRINGBOARD VIRTUAL INTERNSHIP 6.0  FOODTRENDS UNDERSTANDING CUSTOMER PREFERENCES IN FB 	     Group 1 – Batch 11 	                TEAM B</vt:lpstr>
      <vt:lpstr>PROJECT OBJECTIVE &amp; DESCRIPTION </vt:lpstr>
      <vt:lpstr>SYSTEM DESIGN &amp; WORKFLOW </vt:lpstr>
      <vt:lpstr>PROJECT EXECUTION MILESTONES </vt:lpstr>
      <vt:lpstr>TOP VISUALISATIONS USED </vt:lpstr>
      <vt:lpstr>DASHBOARD SHOWCASE </vt:lpstr>
      <vt:lpstr>CHALLENGES &amp; RESOLUTIONS</vt:lpstr>
      <vt:lpstr>TECHNOLOGIES &amp; SKILLS GAINED This internship provided an invaluable opportunity to apply and enhance a diverse set of technical skills, utilising industry-standard tools to deliver a robust analytics solution.  </vt:lpstr>
      <vt:lpstr>PowerPoint 演示文稿</vt:lpstr>
      <vt:lpstr>CONCLUSION, ACKNOWLEDGEMENT &amp; REFERENCES </vt:lpstr>
      <vt:lpstr>Thank You   vanshikawadhwa20@gmail.com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DELL</cp:lastModifiedBy>
  <cp:revision>16</cp:revision>
  <dcterms:created xsi:type="dcterms:W3CDTF">2026-02-10T12:59:00Z</dcterms:created>
  <dcterms:modified xsi:type="dcterms:W3CDTF">2026-02-21T15:23:20Z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DB68274DC2E646D2AB5A7D387DC1028B_12</vt:lpwstr>
  </property>
  <property fmtid="{D5CDD505-2E9C-101B-9397-08002B2CF9AE}" pid="4" name="KSOProductBuildVer">
    <vt:lpwstr>1033-12.2.0.23196</vt:lpwstr>
  </property>
</Properties>
</file>