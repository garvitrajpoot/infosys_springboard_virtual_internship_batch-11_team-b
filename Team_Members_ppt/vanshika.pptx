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257" r:id="rId6"/>
    <p:sldId id="260" r:id="rId7"/>
    <p:sldId id="258" r:id="rId8"/>
    <p:sldId id="261" r:id="rId9"/>
    <p:sldId id="289" r:id="rId10"/>
    <p:sldId id="283" r:id="rId11"/>
    <p:sldId id="286" r:id="rId12"/>
    <p:sldId id="287" r:id="rId13"/>
    <p:sldId id="28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C89BDB39-391B-456A-95AD-4D09BD396613}">
          <p14:sldIdLst>
            <p14:sldId id="256"/>
            <p14:sldId id="257"/>
            <p14:sldId id="260"/>
          </p14:sldIdLst>
        </p14:section>
        <p14:section name="Untitled Section" id="{D7D7B786-FA45-4189-88D5-2B9BEC4A3156}">
          <p14:sldIdLst>
            <p14:sldId id="258"/>
            <p14:sldId id="261"/>
            <p14:sldId id="289"/>
            <p14:sldId id="283"/>
            <p14:sldId id="286"/>
            <p14:sldId id="287"/>
            <p14:sldId id="288"/>
          </p14:sldIdLst>
        </p14:section>
        <p14:section name="Untitled Section" id="{8930EC0D-2A33-4C68-B527-BFFC7283A3A0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03350"/>
    <a:srgbClr val="0C4360"/>
    <a:srgbClr val="1B6872"/>
    <a:srgbClr val="63B7C6"/>
    <a:srgbClr val="002136"/>
    <a:srgbClr val="0C75AC"/>
    <a:srgbClr val="00243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83" d="100"/>
          <a:sy n="83" d="100"/>
        </p:scale>
        <p:origin x="686" y="7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7661663385826768E-2"/>
          <c:y val="0.24931118485974552"/>
          <c:w val="0.89233833661417328"/>
          <c:h val="0.674537560237399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426-4A8B-80C3-31E50F3D264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426-4A8B-80C3-31E50F3D2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8401328"/>
        <c:axId val="598403248"/>
      </c:barChart>
      <c:lineChart>
        <c:grouping val="standard"/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ln w="28575" cap="rnd">
              <a:solidFill>
                <a:schemeClr val="accent3"/>
              </a:solidFill>
              <a:round/>
            </a:ln>
            <a:effectLst/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D426-4A8B-80C3-31E50F3D264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598401328"/>
        <c:axId val="598403248"/>
      </c:lineChart>
      <c:catAx>
        <c:axId val="598401328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598403248"/>
        <c:crosses val="autoZero"/>
        <c:auto val="1"/>
        <c:lblAlgn val="ctr"/>
        <c:lblOffset val="100"/>
        <c:noMultiLvlLbl val="0"/>
      </c:catAx>
      <c:valAx>
        <c:axId val="5984032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8401328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Y-Values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xVal>
            <c:numRef>
              <c:f>Sheet1!$A$2:$A$4</c:f>
              <c:numCache>
                <c:formatCode>General</c:formatCode>
                <c:ptCount val="3"/>
                <c:pt idx="0">
                  <c:v>0.7</c:v>
                </c:pt>
                <c:pt idx="1">
                  <c:v>1.8</c:v>
                </c:pt>
                <c:pt idx="2">
                  <c:v>2.6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2.7</c:v>
                </c:pt>
                <c:pt idx="1">
                  <c:v>3.2</c:v>
                </c:pt>
                <c:pt idx="2">
                  <c:v>0.8</c:v>
                </c:pt>
              </c:numCache>
            </c:numRef>
          </c:yVal>
          <c:bubbleSize>
            <c:numRef>
              <c:f>Sheet1!$C$2:$C$4</c:f>
              <c:numCache>
                <c:formatCode>General</c:formatCode>
                <c:ptCount val="3"/>
                <c:pt idx="0">
                  <c:v>10</c:v>
                </c:pt>
                <c:pt idx="1">
                  <c:v>4</c:v>
                </c:pt>
                <c:pt idx="2">
                  <c:v>8</c:v>
                </c:pt>
              </c:numCache>
            </c:numRef>
          </c:bubbleSize>
          <c:bubble3D val="1"/>
          <c:extLst>
            <c:ext xmlns:c16="http://schemas.microsoft.com/office/drawing/2014/chart" uri="{C3380CC4-5D6E-409C-BE32-E72D297353CC}">
              <c16:uniqueId val="{00000000-534B-4FDC-9B3B-C64261F513D1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bubbleScale val="100"/>
        <c:showNegBubbles val="0"/>
        <c:axId val="598412848"/>
        <c:axId val="598407088"/>
      </c:bubbleChart>
      <c:valAx>
        <c:axId val="598412848"/>
        <c:scaling>
          <c:orientation val="minMax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8407088"/>
        <c:crosses val="autoZero"/>
        <c:crossBetween val="midCat"/>
      </c:valAx>
      <c:valAx>
        <c:axId val="598407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98412848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43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2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spPr>
      <a:ln w="12700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2128" b="1" kern="1200" baseline="0"/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lt1"/>
    </cs:fontRef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62FF6B6-4F8A-40F7-B5F4-FC3996824D7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910A999-F365-48DF-976A-0517FE0454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CA5457B-CDAE-4DEB-AEC8-C82DE2312E37}" type="datetimeFigureOut">
              <a:rPr lang="en-US" smtClean="0"/>
              <a:t>2/10/2026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8735C90-ADBF-4B9E-BE88-E1C8F83EB4D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06A01-6D0A-45EF-A584-05A3361D66F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31430A-4AA4-45C8-AC23-CD6B61C41A4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990097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0B78EA-28CE-41D8-9043-90E391E5F567}" type="datetimeFigureOut">
              <a:rPr lang="en-US" noProof="0" smtClean="0"/>
              <a:t>2/10/2026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734D747-9380-41EE-9946-EC9EC0CA5D1E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277271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CA15AFD-4983-47DD-9ED0-D3B27E5A096F}"/>
              </a:ext>
            </a:extLst>
          </p:cNvPr>
          <p:cNvGrpSpPr/>
          <p:nvPr userDrawn="1"/>
        </p:nvGrpSpPr>
        <p:grpSpPr>
          <a:xfrm>
            <a:off x="-1604709" y="-3756"/>
            <a:ext cx="13796710" cy="6861756"/>
            <a:chOff x="-1604709" y="-3756"/>
            <a:chExt cx="13796710" cy="6861756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2222D5E2-E9B4-4180-98B8-4E514C9ADB28}"/>
                </a:ext>
              </a:extLst>
            </p:cNvPr>
            <p:cNvGrpSpPr/>
            <p:nvPr/>
          </p:nvGrpSpPr>
          <p:grpSpPr>
            <a:xfrm>
              <a:off x="-16298" y="0"/>
              <a:ext cx="12208299" cy="6858000"/>
              <a:chOff x="-16298" y="0"/>
              <a:chExt cx="12208299" cy="6858000"/>
            </a:xfrm>
          </p:grpSpPr>
          <p:sp>
            <p:nvSpPr>
              <p:cNvPr id="15" name="Freeform: Shape 14">
                <a:extLst>
                  <a:ext uri="{FF2B5EF4-FFF2-40B4-BE49-F238E27FC236}">
                    <a16:creationId xmlns:a16="http://schemas.microsoft.com/office/drawing/2014/main" id="{41E10E1E-5268-4F03-BA64-07E19DE26739}"/>
                  </a:ext>
                </a:extLst>
              </p:cNvPr>
              <p:cNvSpPr/>
              <p:nvPr/>
            </p:nvSpPr>
            <p:spPr>
              <a:xfrm flipH="1">
                <a:off x="-16297" y="0"/>
                <a:ext cx="12208298" cy="6858000"/>
              </a:xfrm>
              <a:custGeom>
                <a:avLst/>
                <a:gdLst>
                  <a:gd name="connsiteX0" fmla="*/ 8574289 w 12208298"/>
                  <a:gd name="connsiteY0" fmla="*/ 0 h 6858000"/>
                  <a:gd name="connsiteX1" fmla="*/ 0 w 12208298"/>
                  <a:gd name="connsiteY1" fmla="*/ 0 h 6858000"/>
                  <a:gd name="connsiteX2" fmla="*/ 0 w 12208298"/>
                  <a:gd name="connsiteY2" fmla="*/ 6858000 h 6858000"/>
                  <a:gd name="connsiteX3" fmla="*/ 532109 w 12208298"/>
                  <a:gd name="connsiteY3" fmla="*/ 6858000 h 6858000"/>
                  <a:gd name="connsiteX4" fmla="*/ 11495317 w 12208298"/>
                  <a:gd name="connsiteY4" fmla="*/ 6858000 h 6858000"/>
                  <a:gd name="connsiteX5" fmla="*/ 12208298 w 12208298"/>
                  <a:gd name="connsiteY5" fmla="*/ 6858000 h 6858000"/>
                  <a:gd name="connsiteX6" fmla="*/ 12208298 w 12208298"/>
                  <a:gd name="connsiteY6" fmla="*/ 3146781 h 6858000"/>
                  <a:gd name="connsiteX7" fmla="*/ 10353284 w 12208298"/>
                  <a:gd name="connsiteY7" fmla="*/ 1291767 h 6858000"/>
                  <a:gd name="connsiteX8" fmla="*/ 9866056 w 12208298"/>
                  <a:gd name="connsiteY8" fmla="*/ 1291767 h 685800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2208298" h="6858000">
                    <a:moveTo>
                      <a:pt x="8574289" y="0"/>
                    </a:moveTo>
                    <a:lnTo>
                      <a:pt x="0" y="0"/>
                    </a:lnTo>
                    <a:lnTo>
                      <a:pt x="0" y="6858000"/>
                    </a:lnTo>
                    <a:lnTo>
                      <a:pt x="532109" y="6858000"/>
                    </a:lnTo>
                    <a:lnTo>
                      <a:pt x="11495317" y="6858000"/>
                    </a:lnTo>
                    <a:lnTo>
                      <a:pt x="12208298" y="6858000"/>
                    </a:lnTo>
                    <a:lnTo>
                      <a:pt x="12208298" y="3146781"/>
                    </a:lnTo>
                    <a:lnTo>
                      <a:pt x="10353284" y="1291767"/>
                    </a:lnTo>
                    <a:lnTo>
                      <a:pt x="9866056" y="1291767"/>
                    </a:lnTo>
                    <a:close/>
                  </a:path>
                </a:pathLst>
              </a:custGeom>
              <a:solidFill>
                <a:schemeClr val="accent2">
                  <a:alpha val="74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6" name="Freeform: Shape 15">
                <a:extLst>
                  <a:ext uri="{FF2B5EF4-FFF2-40B4-BE49-F238E27FC236}">
                    <a16:creationId xmlns:a16="http://schemas.microsoft.com/office/drawing/2014/main" id="{B989C45D-BDFF-418F-BE79-03FF70015770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pattFill prst="wdDnDiag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7" name="Right Triangle 16">
                <a:extLst>
                  <a:ext uri="{FF2B5EF4-FFF2-40B4-BE49-F238E27FC236}">
                    <a16:creationId xmlns:a16="http://schemas.microsoft.com/office/drawing/2014/main" id="{8DCD5806-2A2F-4ABF-8057-245681C498E6}"/>
                  </a:ext>
                </a:extLst>
              </p:cNvPr>
              <p:cNvSpPr/>
              <p:nvPr/>
            </p:nvSpPr>
            <p:spPr>
              <a:xfrm rot="16200000" flipH="1" flipV="1">
                <a:off x="24625" y="-4746"/>
                <a:ext cx="2819399" cy="2828891"/>
              </a:xfrm>
              <a:prstGeom prst="rtTriangle">
                <a:avLst/>
              </a:prstGeom>
              <a:solidFill>
                <a:schemeClr val="accent1">
                  <a:lumMod val="5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8" name="Right Triangle 17">
                <a:extLst>
                  <a:ext uri="{FF2B5EF4-FFF2-40B4-BE49-F238E27FC236}">
                    <a16:creationId xmlns:a16="http://schemas.microsoft.com/office/drawing/2014/main" id="{3A93038F-E9E4-4FFD-B3DF-28DB7C2C1490}"/>
                  </a:ext>
                </a:extLst>
              </p:cNvPr>
              <p:cNvSpPr/>
              <p:nvPr/>
            </p:nvSpPr>
            <p:spPr>
              <a:xfrm rot="16200000" flipH="1" flipV="1">
                <a:off x="4418" y="-4422"/>
                <a:ext cx="2627088" cy="2635933"/>
              </a:xfrm>
              <a:prstGeom prst="rtTriangle">
                <a:avLst/>
              </a:prstGeom>
              <a:pattFill prst="dkHorz">
                <a:fgClr>
                  <a:schemeClr val="accent1"/>
                </a:fgClr>
                <a:bgClr>
                  <a:schemeClr val="accent2"/>
                </a:bgClr>
              </a:patt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9" name="Right Triangle 18">
                <a:extLst>
                  <a:ext uri="{FF2B5EF4-FFF2-40B4-BE49-F238E27FC236}">
                    <a16:creationId xmlns:a16="http://schemas.microsoft.com/office/drawing/2014/main" id="{5DEA1E02-BBD0-4AE3-AF22-433B90272178}"/>
                  </a:ext>
                </a:extLst>
              </p:cNvPr>
              <p:cNvSpPr/>
              <p:nvPr/>
            </p:nvSpPr>
            <p:spPr>
              <a:xfrm rot="16200000" flipH="1" flipV="1">
                <a:off x="-12263" y="-4034"/>
                <a:ext cx="2397087" cy="2405158"/>
              </a:xfrm>
              <a:prstGeom prst="rtTriangle">
                <a:avLst/>
              </a:prstGeom>
              <a:solidFill>
                <a:schemeClr val="accent2">
                  <a:alpha val="48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20" name="Freeform: Shape 19">
                <a:extLst>
                  <a:ext uri="{FF2B5EF4-FFF2-40B4-BE49-F238E27FC236}">
                    <a16:creationId xmlns:a16="http://schemas.microsoft.com/office/drawing/2014/main" id="{0027A677-9ACB-4264-B148-4806678FB83F}"/>
                  </a:ext>
                </a:extLst>
              </p:cNvPr>
              <p:cNvSpPr/>
              <p:nvPr/>
            </p:nvSpPr>
            <p:spPr>
              <a:xfrm rot="5400000" flipH="1" flipV="1">
                <a:off x="2667000" y="-2667001"/>
                <a:ext cx="6858000" cy="12192002"/>
              </a:xfrm>
              <a:custGeom>
                <a:avLst/>
                <a:gdLst>
                  <a:gd name="connsiteX0" fmla="*/ 6858000 w 6858000"/>
                  <a:gd name="connsiteY0" fmla="*/ 3871658 h 12192002"/>
                  <a:gd name="connsiteX1" fmla="*/ 6858000 w 6858000"/>
                  <a:gd name="connsiteY1" fmla="*/ 12192002 h 12192002"/>
                  <a:gd name="connsiteX2" fmla="*/ 5363029 w 6858000"/>
                  <a:gd name="connsiteY2" fmla="*/ 12192002 h 12192002"/>
                  <a:gd name="connsiteX3" fmla="*/ 5363029 w 6858000"/>
                  <a:gd name="connsiteY3" fmla="*/ 12192000 h 12192002"/>
                  <a:gd name="connsiteX4" fmla="*/ 0 w 6858000"/>
                  <a:gd name="connsiteY4" fmla="*/ 12192000 h 12192002"/>
                  <a:gd name="connsiteX5" fmla="*/ 0 w 6858000"/>
                  <a:gd name="connsiteY5" fmla="*/ 0 h 12192002"/>
                  <a:gd name="connsiteX6" fmla="*/ 3539398 w 6858000"/>
                  <a:gd name="connsiteY6" fmla="*/ 0 h 12192002"/>
                  <a:gd name="connsiteX7" fmla="*/ 5566229 w 6858000"/>
                  <a:gd name="connsiteY7" fmla="*/ 2026831 h 12192002"/>
                  <a:gd name="connsiteX8" fmla="*/ 5566229 w 6858000"/>
                  <a:gd name="connsiteY8" fmla="*/ 2575538 h 12192002"/>
                  <a:gd name="connsiteX9" fmla="*/ 6858000 w 6858000"/>
                  <a:gd name="connsiteY9" fmla="*/ 3871657 h 12192002"/>
                  <a:gd name="connsiteX10" fmla="*/ 5566229 w 6858000"/>
                  <a:gd name="connsiteY10" fmla="*/ 3871657 h 12192002"/>
                  <a:gd name="connsiteX11" fmla="*/ 5566229 w 6858000"/>
                  <a:gd name="connsiteY11" fmla="*/ 3871658 h 1219200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6858000" h="12192002">
                    <a:moveTo>
                      <a:pt x="6858000" y="3871658"/>
                    </a:moveTo>
                    <a:lnTo>
                      <a:pt x="6858000" y="12192002"/>
                    </a:lnTo>
                    <a:lnTo>
                      <a:pt x="5363029" y="12192002"/>
                    </a:lnTo>
                    <a:lnTo>
                      <a:pt x="5363029" y="12192000"/>
                    </a:lnTo>
                    <a:lnTo>
                      <a:pt x="0" y="12192000"/>
                    </a:lnTo>
                    <a:lnTo>
                      <a:pt x="0" y="0"/>
                    </a:lnTo>
                    <a:lnTo>
                      <a:pt x="3539398" y="0"/>
                    </a:lnTo>
                    <a:lnTo>
                      <a:pt x="5566229" y="2026831"/>
                    </a:lnTo>
                    <a:lnTo>
                      <a:pt x="5566229" y="2575538"/>
                    </a:lnTo>
                    <a:lnTo>
                      <a:pt x="6858000" y="3871657"/>
                    </a:lnTo>
                    <a:lnTo>
                      <a:pt x="5566229" y="3871657"/>
                    </a:lnTo>
                    <a:lnTo>
                      <a:pt x="5566229" y="3871658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  <a:alpha val="9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9" name="Freeform: Shape 12">
              <a:extLst>
                <a:ext uri="{FF2B5EF4-FFF2-40B4-BE49-F238E27FC236}">
                  <a16:creationId xmlns:a16="http://schemas.microsoft.com/office/drawing/2014/main" id="{E3AAB79D-382D-4A95-965E-526B6A681DA7}"/>
                </a:ext>
              </a:extLst>
            </p:cNvPr>
            <p:cNvSpPr/>
            <p:nvPr/>
          </p:nvSpPr>
          <p:spPr>
            <a:xfrm rot="18900000" flipH="1">
              <a:off x="-1604709" y="1397837"/>
              <a:ext cx="3211378" cy="3211378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C0A22127-2B4A-4B15-B0A9-F019A30347A1}"/>
                </a:ext>
              </a:extLst>
            </p:cNvPr>
            <p:cNvSpPr/>
            <p:nvPr/>
          </p:nvSpPr>
          <p:spPr>
            <a:xfrm rot="18900000">
              <a:off x="-861777" y="-3756"/>
              <a:ext cx="2676646" cy="1356876"/>
            </a:xfrm>
            <a:custGeom>
              <a:avLst/>
              <a:gdLst>
                <a:gd name="connsiteX0" fmla="*/ 1319770 w 2676646"/>
                <a:gd name="connsiteY0" fmla="*/ 0 h 1356876"/>
                <a:gd name="connsiteX1" fmla="*/ 2676646 w 2676646"/>
                <a:gd name="connsiteY1" fmla="*/ 1356876 h 1356876"/>
                <a:gd name="connsiteX2" fmla="*/ 0 w 2676646"/>
                <a:gd name="connsiteY2" fmla="*/ 1356876 h 1356876"/>
                <a:gd name="connsiteX3" fmla="*/ 0 w 2676646"/>
                <a:gd name="connsiteY3" fmla="*/ 1319770 h 13568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2676646" h="1356876">
                  <a:moveTo>
                    <a:pt x="1319770" y="0"/>
                  </a:moveTo>
                  <a:lnTo>
                    <a:pt x="2676646" y="1356876"/>
                  </a:lnTo>
                  <a:lnTo>
                    <a:pt x="0" y="1356876"/>
                  </a:lnTo>
                  <a:lnTo>
                    <a:pt x="0" y="1319770"/>
                  </a:lnTo>
                  <a:close/>
                </a:path>
              </a:pathLst>
            </a:custGeom>
            <a:pattFill prst="wdUpDiag">
              <a:fgClr>
                <a:schemeClr val="accent2"/>
              </a:fgClr>
              <a:bgClr>
                <a:schemeClr val="accent1"/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11" name="Freeform: Shape 12">
              <a:extLst>
                <a:ext uri="{FF2B5EF4-FFF2-40B4-BE49-F238E27FC236}">
                  <a16:creationId xmlns:a16="http://schemas.microsoft.com/office/drawing/2014/main" id="{F04D9FDC-1B67-4254-9535-CD32E81F0C3E}"/>
                </a:ext>
              </a:extLst>
            </p:cNvPr>
            <p:cNvSpPr/>
            <p:nvPr/>
          </p:nvSpPr>
          <p:spPr>
            <a:xfrm rot="13500000">
              <a:off x="-1226102" y="1737462"/>
              <a:ext cx="2416016" cy="2416016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A86C4EA-4CF8-4531-845D-4FCB1E2F7422}"/>
                </a:ext>
              </a:extLst>
            </p:cNvPr>
            <p:cNvGrpSpPr/>
            <p:nvPr/>
          </p:nvGrpSpPr>
          <p:grpSpPr>
            <a:xfrm>
              <a:off x="-760406" y="4672937"/>
              <a:ext cx="1520812" cy="1520812"/>
              <a:chOff x="-1604709" y="3012880"/>
              <a:chExt cx="3211378" cy="3211378"/>
            </a:xfrm>
          </p:grpSpPr>
          <p:sp>
            <p:nvSpPr>
              <p:cNvPr id="13" name="Freeform: Shape 12">
                <a:extLst>
                  <a:ext uri="{FF2B5EF4-FFF2-40B4-BE49-F238E27FC236}">
                    <a16:creationId xmlns:a16="http://schemas.microsoft.com/office/drawing/2014/main" id="{1101B195-C112-4D20-8D19-4D22479B150D}"/>
                  </a:ext>
                </a:extLst>
              </p:cNvPr>
              <p:cNvSpPr/>
              <p:nvPr/>
            </p:nvSpPr>
            <p:spPr>
              <a:xfrm rot="18900000" flipH="1">
                <a:off x="-1604709" y="3012880"/>
                <a:ext cx="3211378" cy="3211378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1">
                  <a:lumMod val="50000"/>
                </a:schemeClr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14" name="Freeform: Shape 12">
                <a:extLst>
                  <a:ext uri="{FF2B5EF4-FFF2-40B4-BE49-F238E27FC236}">
                    <a16:creationId xmlns:a16="http://schemas.microsoft.com/office/drawing/2014/main" id="{CA755F1F-9955-4CBB-8F34-F7801CA44CE7}"/>
                  </a:ext>
                </a:extLst>
              </p:cNvPr>
              <p:cNvSpPr/>
              <p:nvPr/>
            </p:nvSpPr>
            <p:spPr>
              <a:xfrm rot="13500000">
                <a:off x="-1226102" y="3352505"/>
                <a:ext cx="2416016" cy="2416016"/>
              </a:xfrm>
              <a:custGeom>
                <a:avLst/>
                <a:gdLst>
                  <a:gd name="connsiteX0" fmla="*/ 754341 w 754341"/>
                  <a:gd name="connsiteY0" fmla="*/ 754341 h 754341"/>
                  <a:gd name="connsiteX1" fmla="*/ 0 w 754341"/>
                  <a:gd name="connsiteY1" fmla="*/ 754341 h 754341"/>
                  <a:gd name="connsiteX2" fmla="*/ 0 w 754341"/>
                  <a:gd name="connsiteY2" fmla="*/ 0 h 7543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754341" h="754341">
                    <a:moveTo>
                      <a:pt x="754341" y="754341"/>
                    </a:moveTo>
                    <a:lnTo>
                      <a:pt x="0" y="754341"/>
                    </a:lnTo>
                    <a:lnTo>
                      <a:pt x="0" y="0"/>
                    </a:lnTo>
                    <a:close/>
                  </a:path>
                </a:pathLst>
              </a:custGeom>
              <a:pattFill prst="wdDnDiag">
                <a:fgClr>
                  <a:schemeClr val="accent1">
                    <a:lumMod val="60000"/>
                    <a:lumOff val="40000"/>
                  </a:schemeClr>
                </a:fgClr>
                <a:bgClr>
                  <a:schemeClr val="accent2">
                    <a:lumMod val="50000"/>
                  </a:schemeClr>
                </a:bgClr>
              </a:patt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761488" y="2395728"/>
            <a:ext cx="7077456" cy="1243584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defRPr lang="en-GB" sz="6600" b="1" dirty="0">
                <a:solidFill>
                  <a:schemeClr val="accent2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TITLE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3D2DEF0-A0B0-4CFE-B67D-A9D75E2368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761488" y="3721608"/>
            <a:ext cx="7077456" cy="86868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GB" sz="1800" spc="300" dirty="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369596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2838D16-809E-4EB1-8C0C-0E63D8139112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436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01FEB333-94B4-4E53-9019-D584810903BB}"/>
              </a:ext>
            </a:extLst>
          </p:cNvPr>
          <p:cNvSpPr/>
          <p:nvPr userDrawn="1"/>
        </p:nvSpPr>
        <p:spPr>
          <a:xfrm>
            <a:off x="0" y="0"/>
            <a:ext cx="12192000" cy="6862745"/>
          </a:xfrm>
          <a:custGeom>
            <a:avLst/>
            <a:gdLst>
              <a:gd name="connsiteX0" fmla="*/ 0 w 12192000"/>
              <a:gd name="connsiteY0" fmla="*/ 0 h 6849743"/>
              <a:gd name="connsiteX1" fmla="*/ 7554712 w 12192000"/>
              <a:gd name="connsiteY1" fmla="*/ 0 h 6849743"/>
              <a:gd name="connsiteX2" fmla="*/ 10266645 w 12192000"/>
              <a:gd name="connsiteY2" fmla="*/ 2711934 h 6849743"/>
              <a:gd name="connsiteX3" fmla="*/ 11289529 w 12192000"/>
              <a:gd name="connsiteY3" fmla="*/ 2711934 h 6849743"/>
              <a:gd name="connsiteX4" fmla="*/ 12191999 w 12192000"/>
              <a:gd name="connsiteY4" fmla="*/ 3614404 h 6849743"/>
              <a:gd name="connsiteX5" fmla="*/ 12192000 w 12192000"/>
              <a:gd name="connsiteY5" fmla="*/ 6849743 h 6849743"/>
              <a:gd name="connsiteX6" fmla="*/ 0 w 12192000"/>
              <a:gd name="connsiteY6" fmla="*/ 6849743 h 68497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0" h="6849743">
                <a:moveTo>
                  <a:pt x="0" y="0"/>
                </a:moveTo>
                <a:lnTo>
                  <a:pt x="7554712" y="0"/>
                </a:lnTo>
                <a:lnTo>
                  <a:pt x="10266645" y="2711934"/>
                </a:lnTo>
                <a:lnTo>
                  <a:pt x="11289529" y="2711934"/>
                </a:lnTo>
                <a:lnTo>
                  <a:pt x="12191999" y="3614404"/>
                </a:lnTo>
                <a:lnTo>
                  <a:pt x="12192000" y="6849743"/>
                </a:lnTo>
                <a:lnTo>
                  <a:pt x="0" y="6849743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9B9489-0CD9-4DB7-AC82-6E7867F91403}"/>
              </a:ext>
            </a:extLst>
          </p:cNvPr>
          <p:cNvSpPr/>
          <p:nvPr userDrawn="1"/>
        </p:nvSpPr>
        <p:spPr>
          <a:xfrm rot="16200000" flipV="1">
            <a:off x="2626805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A55D1C76-C591-4FA5-9780-87AB6B37C0FA}"/>
              </a:ext>
            </a:extLst>
          </p:cNvPr>
          <p:cNvSpPr/>
          <p:nvPr userDrawn="1"/>
        </p:nvSpPr>
        <p:spPr>
          <a:xfrm rot="5400000" flipV="1">
            <a:off x="5851010" y="-10649"/>
            <a:ext cx="6326154" cy="6347453"/>
          </a:xfrm>
          <a:prstGeom prst="rtTriangle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7DC1D12-670F-4235-8791-FA8C2B330871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859569CF-FDAC-47C4-A0F5-296F7117C398}"/>
              </a:ext>
            </a:extLst>
          </p:cNvPr>
          <p:cNvSpPr/>
          <p:nvPr userDrawn="1"/>
        </p:nvSpPr>
        <p:spPr>
          <a:xfrm rot="2700000">
            <a:off x="9668984" y="1404392"/>
            <a:ext cx="4406148" cy="5299239"/>
          </a:xfrm>
          <a:custGeom>
            <a:avLst/>
            <a:gdLst>
              <a:gd name="connsiteX0" fmla="*/ 0 w 4406148"/>
              <a:gd name="connsiteY0" fmla="*/ 0 h 5299239"/>
              <a:gd name="connsiteX1" fmla="*/ 4406148 w 4406148"/>
              <a:gd name="connsiteY1" fmla="*/ 4406147 h 5299239"/>
              <a:gd name="connsiteX2" fmla="*/ 3513056 w 4406148"/>
              <a:gd name="connsiteY2" fmla="*/ 5299239 h 5299239"/>
              <a:gd name="connsiteX3" fmla="*/ 1 w 4406148"/>
              <a:gd name="connsiteY3" fmla="*/ 5299239 h 52992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06148" h="5299239">
                <a:moveTo>
                  <a:pt x="0" y="0"/>
                </a:moveTo>
                <a:lnTo>
                  <a:pt x="4406148" y="4406147"/>
                </a:lnTo>
                <a:lnTo>
                  <a:pt x="3513056" y="5299239"/>
                </a:lnTo>
                <a:lnTo>
                  <a:pt x="1" y="5299239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68D0C72-2B2C-4C85-A091-157853C71784}"/>
              </a:ext>
            </a:extLst>
          </p:cNvPr>
          <p:cNvSpPr/>
          <p:nvPr userDrawn="1"/>
        </p:nvSpPr>
        <p:spPr>
          <a:xfrm rot="8100000" flipH="1">
            <a:off x="9583575" y="1088097"/>
            <a:ext cx="5072180" cy="4843502"/>
          </a:xfrm>
          <a:custGeom>
            <a:avLst/>
            <a:gdLst>
              <a:gd name="connsiteX0" fmla="*/ 5072180 w 5072180"/>
              <a:gd name="connsiteY0" fmla="*/ 4843501 h 4843502"/>
              <a:gd name="connsiteX1" fmla="*/ 228679 w 5072180"/>
              <a:gd name="connsiteY1" fmla="*/ 0 h 4843502"/>
              <a:gd name="connsiteX2" fmla="*/ 1 w 5072180"/>
              <a:gd name="connsiteY2" fmla="*/ 228678 h 4843502"/>
              <a:gd name="connsiteX3" fmla="*/ 0 w 5072180"/>
              <a:gd name="connsiteY3" fmla="*/ 4843502 h 48435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072180" h="4843502">
                <a:moveTo>
                  <a:pt x="5072180" y="4843501"/>
                </a:moveTo>
                <a:lnTo>
                  <a:pt x="228679" y="0"/>
                </a:lnTo>
                <a:lnTo>
                  <a:pt x="1" y="228678"/>
                </a:lnTo>
                <a:lnTo>
                  <a:pt x="0" y="4843502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E25334A-5FE3-4DDA-8D32-4796CCFCAA74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18818DF1-D7FD-4C0F-875D-7A07E8F75C06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F9BB384-9E14-4CEA-82C1-21837229D3EF}"/>
              </a:ext>
            </a:extLst>
          </p:cNvPr>
          <p:cNvGrpSpPr/>
          <p:nvPr userDrawn="1"/>
        </p:nvGrpSpPr>
        <p:grpSpPr>
          <a:xfrm rot="16200000">
            <a:off x="431651" y="-917359"/>
            <a:ext cx="1532001" cy="1826463"/>
            <a:chOff x="10800164" y="7142066"/>
            <a:chExt cx="2775293" cy="3308724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862A81A-959D-4EAB-90ED-DB20759BB397}"/>
                </a:ext>
              </a:extLst>
            </p:cNvPr>
            <p:cNvSpPr/>
            <p:nvPr/>
          </p:nvSpPr>
          <p:spPr>
            <a:xfrm rot="2700000">
              <a:off x="10800164" y="7675497"/>
              <a:ext cx="2775293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AB9E28C-9422-42BD-AECE-29B44B5D63E2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772239B-C46D-4458-BB4B-DDB12FAB0172}"/>
              </a:ext>
            </a:extLst>
          </p:cNvPr>
          <p:cNvGrpSpPr/>
          <p:nvPr userDrawn="1"/>
        </p:nvGrpSpPr>
        <p:grpSpPr>
          <a:xfrm rot="16200000">
            <a:off x="1992859" y="-497210"/>
            <a:ext cx="818398" cy="986162"/>
            <a:chOff x="10945855" y="7317026"/>
            <a:chExt cx="2483924" cy="2993104"/>
          </a:xfrm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C8A2A1A-1FB9-4CA1-B74E-B293187E51AA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DF2B18BA-6B43-40FA-A23B-D894D6AB468B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22" name="Slide Number Placeholder 4">
            <a:extLst>
              <a:ext uri="{FF2B5EF4-FFF2-40B4-BE49-F238E27FC236}">
                <a16:creationId xmlns:a16="http://schemas.microsoft.com/office/drawing/2014/main" id="{0F332671-6296-47C8-BF26-B2D962F5D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7772A652-7229-2B42-B87B-298C31D6F0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</p:spTree>
    <p:extLst>
      <p:ext uri="{BB962C8B-B14F-4D97-AF65-F5344CB8AC3E}">
        <p14:creationId xmlns:p14="http://schemas.microsoft.com/office/powerpoint/2010/main" val="16751974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lt 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E9318B2B-E019-4078-9EF0-C9D6281AE31B}"/>
              </a:ext>
            </a:extLst>
          </p:cNvPr>
          <p:cNvGrpSpPr/>
          <p:nvPr userDrawn="1"/>
        </p:nvGrpSpPr>
        <p:grpSpPr>
          <a:xfrm>
            <a:off x="9776075" y="2057401"/>
            <a:ext cx="4413559" cy="3934444"/>
            <a:chOff x="9222437" y="1088097"/>
            <a:chExt cx="5433318" cy="4843502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D3E625C0-9656-421F-861F-67C8F93362ED}"/>
                </a:ext>
              </a:extLst>
            </p:cNvPr>
            <p:cNvSpPr/>
            <p:nvPr/>
          </p:nvSpPr>
          <p:spPr>
            <a:xfrm rot="2700000">
              <a:off x="9668983" y="1078460"/>
              <a:ext cx="4406148" cy="5299239"/>
            </a:xfrm>
            <a:custGeom>
              <a:avLst/>
              <a:gdLst>
                <a:gd name="connsiteX0" fmla="*/ 0 w 4406148"/>
                <a:gd name="connsiteY0" fmla="*/ 0 h 5299239"/>
                <a:gd name="connsiteX1" fmla="*/ 4406148 w 4406148"/>
                <a:gd name="connsiteY1" fmla="*/ 4406147 h 5299239"/>
                <a:gd name="connsiteX2" fmla="*/ 3513056 w 4406148"/>
                <a:gd name="connsiteY2" fmla="*/ 5299239 h 5299239"/>
                <a:gd name="connsiteX3" fmla="*/ 1 w 4406148"/>
                <a:gd name="connsiteY3" fmla="*/ 5299239 h 5299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406148" h="5299239">
                  <a:moveTo>
                    <a:pt x="0" y="0"/>
                  </a:moveTo>
                  <a:lnTo>
                    <a:pt x="4406148" y="4406147"/>
                  </a:lnTo>
                  <a:lnTo>
                    <a:pt x="3513056" y="5299239"/>
                  </a:lnTo>
                  <a:lnTo>
                    <a:pt x="1" y="5299239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49F8E490-C6E3-4D00-866F-CD85DD88996E}"/>
                </a:ext>
              </a:extLst>
            </p:cNvPr>
            <p:cNvSpPr/>
            <p:nvPr/>
          </p:nvSpPr>
          <p:spPr>
            <a:xfrm rot="8100000" flipH="1">
              <a:off x="9583575" y="1088097"/>
              <a:ext cx="5072180" cy="4843502"/>
            </a:xfrm>
            <a:custGeom>
              <a:avLst/>
              <a:gdLst>
                <a:gd name="connsiteX0" fmla="*/ 5072180 w 5072180"/>
                <a:gd name="connsiteY0" fmla="*/ 4843501 h 4843502"/>
                <a:gd name="connsiteX1" fmla="*/ 228679 w 5072180"/>
                <a:gd name="connsiteY1" fmla="*/ 0 h 4843502"/>
                <a:gd name="connsiteX2" fmla="*/ 1 w 5072180"/>
                <a:gd name="connsiteY2" fmla="*/ 228678 h 4843502"/>
                <a:gd name="connsiteX3" fmla="*/ 0 w 5072180"/>
                <a:gd name="connsiteY3" fmla="*/ 4843502 h 48435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072180" h="4843502">
                  <a:moveTo>
                    <a:pt x="5072180" y="4843501"/>
                  </a:moveTo>
                  <a:lnTo>
                    <a:pt x="228679" y="0"/>
                  </a:lnTo>
                  <a:lnTo>
                    <a:pt x="1" y="228678"/>
                  </a:lnTo>
                  <a:lnTo>
                    <a:pt x="0" y="4843502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noProof="0" dirty="0"/>
            </a:p>
          </p:txBody>
        </p:sp>
      </p:grp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EE8F5B31-1523-46AE-9455-C33DFC1BDDE0}"/>
              </a:ext>
            </a:extLst>
          </p:cNvPr>
          <p:cNvSpPr/>
          <p:nvPr userDrawn="1"/>
        </p:nvSpPr>
        <p:spPr>
          <a:xfrm rot="2700000">
            <a:off x="11438585" y="5665752"/>
            <a:ext cx="877778" cy="1755556"/>
          </a:xfrm>
          <a:custGeom>
            <a:avLst/>
            <a:gdLst>
              <a:gd name="connsiteX0" fmla="*/ 0 w 877778"/>
              <a:gd name="connsiteY0" fmla="*/ 0 h 1755556"/>
              <a:gd name="connsiteX1" fmla="*/ 877778 w 877778"/>
              <a:gd name="connsiteY1" fmla="*/ 877778 h 1755556"/>
              <a:gd name="connsiteX2" fmla="*/ 0 w 877778"/>
              <a:gd name="connsiteY2" fmla="*/ 1755556 h 17555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877778" h="1755556">
                <a:moveTo>
                  <a:pt x="0" y="0"/>
                </a:moveTo>
                <a:lnTo>
                  <a:pt x="877778" y="877778"/>
                </a:lnTo>
                <a:lnTo>
                  <a:pt x="0" y="1755556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5D17048F-C2E1-4775-BC32-50BD6219F89D}"/>
              </a:ext>
            </a:extLst>
          </p:cNvPr>
          <p:cNvSpPr/>
          <p:nvPr userDrawn="1"/>
        </p:nvSpPr>
        <p:spPr>
          <a:xfrm rot="8100000" flipH="1">
            <a:off x="10582265" y="5841410"/>
            <a:ext cx="2372348" cy="1186174"/>
          </a:xfrm>
          <a:custGeom>
            <a:avLst/>
            <a:gdLst>
              <a:gd name="connsiteX0" fmla="*/ 2372348 w 2372348"/>
              <a:gd name="connsiteY0" fmla="*/ 1186174 h 1186174"/>
              <a:gd name="connsiteX1" fmla="*/ 1186174 w 2372348"/>
              <a:gd name="connsiteY1" fmla="*/ 0 h 1186174"/>
              <a:gd name="connsiteX2" fmla="*/ 0 w 2372348"/>
              <a:gd name="connsiteY2" fmla="*/ 1186174 h 11861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372348" h="1186174">
                <a:moveTo>
                  <a:pt x="2372348" y="1186174"/>
                </a:moveTo>
                <a:lnTo>
                  <a:pt x="1186174" y="0"/>
                </a:lnTo>
                <a:lnTo>
                  <a:pt x="0" y="1186174"/>
                </a:lnTo>
                <a:close/>
              </a:path>
            </a:pathLst>
          </a:custGeom>
          <a:pattFill prst="wdUp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AB002AA-4848-49C8-A834-036F860C79A3}"/>
              </a:ext>
            </a:extLst>
          </p:cNvPr>
          <p:cNvGrpSpPr/>
          <p:nvPr userDrawn="1"/>
        </p:nvGrpSpPr>
        <p:grpSpPr>
          <a:xfrm rot="16200000" flipH="1">
            <a:off x="9913705" y="6257994"/>
            <a:ext cx="1052473" cy="1209445"/>
            <a:chOff x="10800165" y="7142066"/>
            <a:chExt cx="2775293" cy="3189215"/>
          </a:xfrm>
        </p:grpSpPr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4B187A8-7F8D-469D-A03B-4F835A5746DE}"/>
                </a:ext>
              </a:extLst>
            </p:cNvPr>
            <p:cNvSpPr/>
            <p:nvPr/>
          </p:nvSpPr>
          <p:spPr>
            <a:xfrm rot="2700000">
              <a:off x="10800166" y="7555988"/>
              <a:ext cx="2775292" cy="2775293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03D871D1-A11A-48FB-82A8-8D61AB5CB85C}"/>
                </a:ext>
              </a:extLst>
            </p:cNvPr>
            <p:cNvSpPr/>
            <p:nvPr/>
          </p:nvSpPr>
          <p:spPr>
            <a:xfrm rot="8100000" flipH="1">
              <a:off x="10811837" y="7142066"/>
              <a:ext cx="2751954" cy="2751955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wdDnDiag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2104" y="3886200"/>
            <a:ext cx="7781544" cy="859055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Section Title 01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194264-A3F5-42E2-9A63-DCCED0457E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754880"/>
            <a:ext cx="6803136" cy="36576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spc="300">
                <a:solidFill>
                  <a:schemeClr val="accent1">
                    <a:lumMod val="20000"/>
                    <a:lumOff val="80000"/>
                  </a:schemeClr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pPr marL="228600" lvl="0" indent="-228600"/>
            <a:r>
              <a:rPr lang="en-US" noProof="0"/>
              <a:t>Click to edit Master text styles</a:t>
            </a:r>
          </a:p>
        </p:txBody>
      </p:sp>
      <p:sp>
        <p:nvSpPr>
          <p:cNvPr id="35" name="Slide Number Placeholder 4">
            <a:extLst>
              <a:ext uri="{FF2B5EF4-FFF2-40B4-BE49-F238E27FC236}">
                <a16:creationId xmlns:a16="http://schemas.microsoft.com/office/drawing/2014/main" id="{6F73F836-940E-4B65-A29C-D0869263C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5114788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2CDBB6E5-B91E-4946-9390-E8693855103A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4" name="Freeform: Shape 33">
            <a:extLst>
              <a:ext uri="{FF2B5EF4-FFF2-40B4-BE49-F238E27FC236}">
                <a16:creationId xmlns:a16="http://schemas.microsoft.com/office/drawing/2014/main" id="{0C3CC1C9-1FA0-4FE4-8984-4A8B3728D674}"/>
              </a:ext>
            </a:extLst>
          </p:cNvPr>
          <p:cNvSpPr/>
          <p:nvPr userDrawn="1"/>
        </p:nvSpPr>
        <p:spPr>
          <a:xfrm rot="16200000" flipV="1">
            <a:off x="2855762" y="-2473495"/>
            <a:ext cx="6862743" cy="11809733"/>
          </a:xfrm>
          <a:custGeom>
            <a:avLst/>
            <a:gdLst>
              <a:gd name="connsiteX0" fmla="*/ 6862743 w 6862743"/>
              <a:gd name="connsiteY0" fmla="*/ 11809733 h 11809733"/>
              <a:gd name="connsiteX1" fmla="*/ 6862743 w 6862743"/>
              <a:gd name="connsiteY1" fmla="*/ 7708334 h 11809733"/>
              <a:gd name="connsiteX2" fmla="*/ 4147292 w 6862743"/>
              <a:gd name="connsiteY2" fmla="*/ 7708334 h 11809733"/>
              <a:gd name="connsiteX3" fmla="*/ 4147292 w 6862743"/>
              <a:gd name="connsiteY3" fmla="*/ 7708332 h 11809733"/>
              <a:gd name="connsiteX4" fmla="*/ 6862743 w 6862743"/>
              <a:gd name="connsiteY4" fmla="*/ 7708332 h 11809733"/>
              <a:gd name="connsiteX5" fmla="*/ 4147291 w 6862743"/>
              <a:gd name="connsiteY5" fmla="*/ 4987262 h 11809733"/>
              <a:gd name="connsiteX6" fmla="*/ 4147291 w 6862743"/>
              <a:gd name="connsiteY6" fmla="*/ 3835308 h 11809733"/>
              <a:gd name="connsiteX7" fmla="*/ 307017 w 6862743"/>
              <a:gd name="connsiteY7" fmla="*/ 0 h 11809733"/>
              <a:gd name="connsiteX8" fmla="*/ 0 w 6862743"/>
              <a:gd name="connsiteY8" fmla="*/ 0 h 11809733"/>
              <a:gd name="connsiteX9" fmla="*/ 0 w 6862743"/>
              <a:gd name="connsiteY9" fmla="*/ 11809733 h 118097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3" h="11809733">
                <a:moveTo>
                  <a:pt x="6862743" y="11809733"/>
                </a:moveTo>
                <a:lnTo>
                  <a:pt x="6862743" y="7708334"/>
                </a:lnTo>
                <a:lnTo>
                  <a:pt x="4147292" y="7708334"/>
                </a:lnTo>
                <a:lnTo>
                  <a:pt x="4147292" y="7708332"/>
                </a:lnTo>
                <a:lnTo>
                  <a:pt x="6862743" y="7708332"/>
                </a:lnTo>
                <a:lnTo>
                  <a:pt x="4147291" y="4987262"/>
                </a:lnTo>
                <a:lnTo>
                  <a:pt x="4147291" y="3835308"/>
                </a:lnTo>
                <a:lnTo>
                  <a:pt x="307017" y="0"/>
                </a:lnTo>
                <a:lnTo>
                  <a:pt x="0" y="0"/>
                </a:lnTo>
                <a:lnTo>
                  <a:pt x="0" y="11809733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8E049265-431E-48DE-B7F7-4959930171DC}"/>
              </a:ext>
            </a:extLst>
          </p:cNvPr>
          <p:cNvSpPr/>
          <p:nvPr userDrawn="1"/>
        </p:nvSpPr>
        <p:spPr>
          <a:xfrm rot="16200000" flipV="1">
            <a:off x="2626806" y="-2626805"/>
            <a:ext cx="6862743" cy="12116353"/>
          </a:xfrm>
          <a:custGeom>
            <a:avLst/>
            <a:gdLst>
              <a:gd name="connsiteX0" fmla="*/ 6853871 w 6853871"/>
              <a:gd name="connsiteY0" fmla="*/ 12116353 h 12116353"/>
              <a:gd name="connsiteX1" fmla="*/ 6853871 w 6853871"/>
              <a:gd name="connsiteY1" fmla="*/ 8014954 h 12116353"/>
              <a:gd name="connsiteX2" fmla="*/ 4141930 w 6853871"/>
              <a:gd name="connsiteY2" fmla="*/ 8014954 h 12116353"/>
              <a:gd name="connsiteX3" fmla="*/ 4141930 w 6853871"/>
              <a:gd name="connsiteY3" fmla="*/ 8014952 h 12116353"/>
              <a:gd name="connsiteX4" fmla="*/ 6853871 w 6853871"/>
              <a:gd name="connsiteY4" fmla="*/ 8014952 h 12116353"/>
              <a:gd name="connsiteX5" fmla="*/ 4141930 w 6853871"/>
              <a:gd name="connsiteY5" fmla="*/ 5293882 h 12116353"/>
              <a:gd name="connsiteX6" fmla="*/ 4141930 w 6853871"/>
              <a:gd name="connsiteY6" fmla="*/ 4141928 h 12116353"/>
              <a:gd name="connsiteX7" fmla="*/ 0 w 6853871"/>
              <a:gd name="connsiteY7" fmla="*/ 0 h 12116353"/>
              <a:gd name="connsiteX8" fmla="*/ 0 w 6853871"/>
              <a:gd name="connsiteY8" fmla="*/ 12116353 h 121163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3871" h="12116353">
                <a:moveTo>
                  <a:pt x="6853871" y="12116353"/>
                </a:moveTo>
                <a:lnTo>
                  <a:pt x="6853871" y="8014954"/>
                </a:lnTo>
                <a:lnTo>
                  <a:pt x="4141930" y="8014954"/>
                </a:lnTo>
                <a:lnTo>
                  <a:pt x="4141930" y="8014952"/>
                </a:lnTo>
                <a:lnTo>
                  <a:pt x="6853871" y="8014952"/>
                </a:lnTo>
                <a:lnTo>
                  <a:pt x="4141930" y="5293882"/>
                </a:lnTo>
                <a:lnTo>
                  <a:pt x="4141930" y="4141928"/>
                </a:lnTo>
                <a:lnTo>
                  <a:pt x="0" y="0"/>
                </a:lnTo>
                <a:lnTo>
                  <a:pt x="0" y="12116353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173E5F2D-1F8E-4DCC-857F-932C6C6539BB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ECB4C115-EFF9-405C-98BE-F4077B9730D0}"/>
              </a:ext>
            </a:extLst>
          </p:cNvPr>
          <p:cNvSpPr/>
          <p:nvPr userDrawn="1"/>
        </p:nvSpPr>
        <p:spPr>
          <a:xfrm>
            <a:off x="533399" y="914400"/>
            <a:ext cx="1944914" cy="1944914"/>
          </a:xfrm>
          <a:prstGeom prst="ellipse">
            <a:avLst/>
          </a:prstGeom>
          <a:solidFill>
            <a:schemeClr val="accent1">
              <a:lumMod val="50000"/>
            </a:schemeClr>
          </a:solidFill>
          <a:ln w="76200">
            <a:solidFill>
              <a:schemeClr val="accent1">
                <a:alpha val="5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8" name="Title 1">
            <a:extLst>
              <a:ext uri="{FF2B5EF4-FFF2-40B4-BE49-F238E27FC236}">
                <a16:creationId xmlns:a16="http://schemas.microsoft.com/office/drawing/2014/main" id="{C9A300DD-BB54-44ED-A7E4-01CD41EC930F}"/>
              </a:ext>
            </a:extLst>
          </p:cNvPr>
          <p:cNvSpPr txBox="1">
            <a:spLocks/>
          </p:cNvSpPr>
          <p:nvPr userDrawn="1"/>
        </p:nvSpPr>
        <p:spPr>
          <a:xfrm>
            <a:off x="956993" y="923305"/>
            <a:ext cx="1005115" cy="2859313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lang="en-GB" sz="3600" b="0" i="0" kern="120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pPr algn="ctr"/>
            <a:r>
              <a:rPr lang="en-US" sz="18400" noProof="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lt"/>
              </a:rPr>
              <a:t>“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2374B20-3E42-44AF-BEF1-8AB33067395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3200400"/>
            <a:ext cx="7551057" cy="2859313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lnSpc>
                <a:spcPct val="100000"/>
              </a:lnSpc>
              <a:defRPr lang="en-GB" sz="3200" b="0" i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Quote</a:t>
            </a:r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A4E6C1FF-5925-42B3-B7F9-0A0031BDAD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7531698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03618670-D1E4-466C-BDB5-FC890AC314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44500" y="1625385"/>
            <a:ext cx="6718300" cy="4093243"/>
          </a:xfrm>
        </p:spPr>
        <p:txBody>
          <a:bodyPr>
            <a:noAutofit/>
          </a:bodyPr>
          <a:lstStyle>
            <a:lvl1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2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4574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0737049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Onl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7E0C167E-2626-40DB-AACF-D02543E29BB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09700" y="1749570"/>
            <a:ext cx="9372600" cy="3358860"/>
          </a:xfrm>
        </p:spPr>
        <p:txBody>
          <a:bodyPr anchor="ctr">
            <a:normAutofit/>
          </a:bodyPr>
          <a:lstStyle>
            <a:lvl1pPr marL="0" indent="0" algn="ctr">
              <a:buNone/>
              <a:defRPr sz="60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904744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03A49C-32FF-49E6-86F3-FC2E19517B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3365" y="1825625"/>
            <a:ext cx="11215235" cy="43513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67082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7FA80A70-18DE-4DB9-9982-BA75BE54CF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681163"/>
            <a:ext cx="5157787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6" name="Text Placeholder 4">
            <a:extLst>
              <a:ext uri="{FF2B5EF4-FFF2-40B4-BE49-F238E27FC236}">
                <a16:creationId xmlns:a16="http://schemas.microsoft.com/office/drawing/2014/main" id="{2801C0EF-C078-44B0-AD01-4850E9A65EE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157788" cy="823912"/>
          </a:xfrm>
        </p:spPr>
        <p:txBody>
          <a:bodyPr anchor="t">
            <a:normAutofit/>
          </a:bodyPr>
          <a:lstStyle>
            <a:lvl1pPr marL="0" indent="0" algn="ctr">
              <a:buFont typeface="Arial" panose="020B0604020202020204" pitchFamily="34" charset="0"/>
              <a:buNone/>
              <a:defRPr sz="20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Content Placeholder 3">
            <a:extLst>
              <a:ext uri="{FF2B5EF4-FFF2-40B4-BE49-F238E27FC236}">
                <a16:creationId xmlns:a16="http://schemas.microsoft.com/office/drawing/2014/main" id="{7C9DED91-45F6-4308-A085-1EFACA6468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44500" y="2505075"/>
            <a:ext cx="5157787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8" name="Content Placeholder 5">
            <a:extLst>
              <a:ext uri="{FF2B5EF4-FFF2-40B4-BE49-F238E27FC236}">
                <a16:creationId xmlns:a16="http://schemas.microsoft.com/office/drawing/2014/main" id="{0574B5E7-B666-439B-9278-67BE1EA6EBC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75412" y="2505075"/>
            <a:ext cx="5183188" cy="3684588"/>
          </a:xfrm>
        </p:spPr>
        <p:txBody>
          <a:bodyPr>
            <a:normAutofit/>
          </a:bodyPr>
          <a:lstStyle>
            <a:lvl1pPr>
              <a:defRPr sz="1800">
                <a:solidFill>
                  <a:schemeClr val="bg1"/>
                </a:solidFill>
              </a:defRPr>
            </a:lvl1pPr>
            <a:lvl2pPr>
              <a:defRPr sz="1600">
                <a:solidFill>
                  <a:schemeClr val="bg1"/>
                </a:solidFill>
              </a:defRPr>
            </a:lvl2pPr>
            <a:lvl3pPr>
              <a:defRPr sz="1400">
                <a:solidFill>
                  <a:schemeClr val="bg1"/>
                </a:solidFill>
              </a:defRPr>
            </a:lvl3pPr>
            <a:lvl4pPr>
              <a:defRPr sz="1200">
                <a:solidFill>
                  <a:schemeClr val="bg1"/>
                </a:solidFill>
              </a:defRPr>
            </a:lvl4pPr>
            <a:lvl5pPr>
              <a:defRPr sz="12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191671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18103E00-7E4A-44CD-81AC-06433CAE1110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FE796BFF-6E5F-4DE7-B193-F501FC094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1517715"/>
            <a:ext cx="5184437" cy="4659248"/>
          </a:xfrm>
        </p:spPr>
        <p:txBody>
          <a:bodyPr>
            <a:normAutofit/>
          </a:bodyPr>
          <a:lstStyle>
            <a:lvl1pPr marL="457200" indent="-457200">
              <a:buFont typeface="Arial" panose="020B0604020202020204" pitchFamily="34" charset="0"/>
              <a:buChar char="•"/>
              <a:defRPr sz="2000">
                <a:solidFill>
                  <a:schemeClr val="bg1"/>
                </a:solidFill>
              </a:defRPr>
            </a:lvl1pPr>
            <a:lvl2pPr marL="800100" indent="-342900"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</a:defRPr>
            </a:lvl2pPr>
            <a:lvl3pPr marL="1257300" indent="-342900"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</a:defRPr>
            </a:lvl3pPr>
            <a:lvl4pPr marL="16573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4pPr>
            <a:lvl5pPr marL="2114550" indent="-285750"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21" name="Content Placeholder 3">
            <a:extLst>
              <a:ext uri="{FF2B5EF4-FFF2-40B4-BE49-F238E27FC236}">
                <a16:creationId xmlns:a16="http://schemas.microsoft.com/office/drawing/2014/main" id="{78622754-CA4D-4C27-A37F-B26E7B4C9C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1517715"/>
            <a:ext cx="5184437" cy="4659248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bg1"/>
                </a:solidFill>
              </a:defRPr>
            </a:lvl1pPr>
            <a:lvl2pPr>
              <a:defRPr sz="1800">
                <a:solidFill>
                  <a:schemeClr val="bg1"/>
                </a:solidFill>
              </a:defRPr>
            </a:lvl2pPr>
            <a:lvl3pPr>
              <a:defRPr sz="1600">
                <a:solidFill>
                  <a:schemeClr val="bg1"/>
                </a:solidFill>
              </a:defRPr>
            </a:lvl3pPr>
            <a:lvl4pPr>
              <a:defRPr sz="1400">
                <a:solidFill>
                  <a:schemeClr val="bg1"/>
                </a:solidFill>
              </a:defRPr>
            </a:lvl4pPr>
            <a:lvl5pPr>
              <a:defRPr sz="14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959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Categor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0" name="Picture Placeholder 8">
            <a:extLst>
              <a:ext uri="{FF2B5EF4-FFF2-40B4-BE49-F238E27FC236}">
                <a16:creationId xmlns:a16="http://schemas.microsoft.com/office/drawing/2014/main" id="{6D00E6B4-1CBE-404E-B943-5F1832320C1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978212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Picture Placeholder 8">
            <a:extLst>
              <a:ext uri="{FF2B5EF4-FFF2-40B4-BE49-F238E27FC236}">
                <a16:creationId xmlns:a16="http://schemas.microsoft.com/office/drawing/2014/main" id="{7CD59BFD-62BE-4E33-92A5-B84A2A9A8D3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222230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2" name="Picture Placeholder 8">
            <a:extLst>
              <a:ext uri="{FF2B5EF4-FFF2-40B4-BE49-F238E27FC236}">
                <a16:creationId xmlns:a16="http://schemas.microsoft.com/office/drawing/2014/main" id="{60DC5978-55B8-421D-91B4-29F8210A7B2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5466248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3" name="Picture Placeholder 8">
            <a:extLst>
              <a:ext uri="{FF2B5EF4-FFF2-40B4-BE49-F238E27FC236}">
                <a16:creationId xmlns:a16="http://schemas.microsoft.com/office/drawing/2014/main" id="{BE3FB8C3-2C7E-4C59-8BD5-53FA2772DB5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710266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4" name="Picture Placeholder 8">
            <a:extLst>
              <a:ext uri="{FF2B5EF4-FFF2-40B4-BE49-F238E27FC236}">
                <a16:creationId xmlns:a16="http://schemas.microsoft.com/office/drawing/2014/main" id="{FD8FA9DA-C36B-4889-B88F-28B5829E53E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954283" y="2096716"/>
            <a:ext cx="1259505" cy="1259505"/>
          </a:xfrm>
          <a:prstGeom prst="ellipse">
            <a:avLst/>
          </a:prstGeom>
          <a:pattFill prst="wdUpDiag">
            <a:fgClr>
              <a:srgbClr val="0C4360"/>
            </a:fgClr>
            <a:bgClr>
              <a:schemeClr val="accent1">
                <a:lumMod val="50000"/>
              </a:schemeClr>
            </a:bgClr>
          </a:pattFill>
          <a:ln w="38100">
            <a:solidFill>
              <a:schemeClr val="accent2"/>
            </a:solidFill>
          </a:ln>
        </p:spPr>
        <p:txBody>
          <a:bodyPr/>
          <a:lstStyle>
            <a:lvl1pPr marL="0" indent="0">
              <a:buNone/>
              <a:defRPr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19894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05F72315-51A9-431C-B80A-45E4FB1D6BD6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963912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883D1F0C-34F1-46E1-B178-E4AB82B14631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5207930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7202A849-DF14-40E7-B38D-1185F72603EC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7451948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CCFC1ADF-AC11-4CCD-AC2D-478B6FFEA5E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9695965" y="4240093"/>
            <a:ext cx="1776140" cy="1463040"/>
          </a:xfrm>
        </p:spPr>
        <p:txBody>
          <a:bodyPr lIns="0" tIns="0" rIns="0" bIns="0">
            <a:noAutofit/>
          </a:bodyPr>
          <a:lstStyle>
            <a:lvl1pPr marL="0" indent="0" algn="ctr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4CB326-DA0E-488E-B236-7017E8438FBB}"/>
              </a:ext>
            </a:extLst>
          </p:cNvPr>
          <p:cNvCxnSpPr/>
          <p:nvPr userDrawn="1"/>
        </p:nvCxnSpPr>
        <p:spPr>
          <a:xfrm>
            <a:off x="1242354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9366B533-7212-4A36-9CE2-D6302E721F8F}"/>
              </a:ext>
            </a:extLst>
          </p:cNvPr>
          <p:cNvCxnSpPr/>
          <p:nvPr userDrawn="1"/>
        </p:nvCxnSpPr>
        <p:spPr>
          <a:xfrm>
            <a:off x="3486372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AD7474CD-E230-4E14-8274-5E20F673F401}"/>
              </a:ext>
            </a:extLst>
          </p:cNvPr>
          <p:cNvCxnSpPr/>
          <p:nvPr userDrawn="1"/>
        </p:nvCxnSpPr>
        <p:spPr>
          <a:xfrm>
            <a:off x="5730390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6BF71FCE-6F39-4D2F-82BE-7D9F1D2ED59F}"/>
              </a:ext>
            </a:extLst>
          </p:cNvPr>
          <p:cNvCxnSpPr/>
          <p:nvPr userDrawn="1"/>
        </p:nvCxnSpPr>
        <p:spPr>
          <a:xfrm>
            <a:off x="7974408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AE97AC7A-17D9-4F42-9DD0-94FE4FC6BF19}"/>
              </a:ext>
            </a:extLst>
          </p:cNvPr>
          <p:cNvCxnSpPr/>
          <p:nvPr userDrawn="1"/>
        </p:nvCxnSpPr>
        <p:spPr>
          <a:xfrm>
            <a:off x="10218425" y="3825022"/>
            <a:ext cx="731221" cy="0"/>
          </a:xfrm>
          <a:prstGeom prst="line">
            <a:avLst/>
          </a:prstGeom>
          <a:ln w="38100" cap="rnd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4762663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3 Sec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  <p:sp>
        <p:nvSpPr>
          <p:cNvPr id="36" name="Text Placeholder 22">
            <a:extLst>
              <a:ext uri="{FF2B5EF4-FFF2-40B4-BE49-F238E27FC236}">
                <a16:creationId xmlns:a16="http://schemas.microsoft.com/office/drawing/2014/main" id="{642D3CE0-C3B4-4F3F-A650-AB452B3AD4B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4444169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7" name="Text Placeholder 22">
            <a:extLst>
              <a:ext uri="{FF2B5EF4-FFF2-40B4-BE49-F238E27FC236}">
                <a16:creationId xmlns:a16="http://schemas.microsoft.com/office/drawing/2014/main" id="{DBED2BB0-CDAD-40EE-8B35-C66DF45EE29D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8346244" y="4240093"/>
            <a:ext cx="32933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474571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+ Tex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6" name="Text Placeholder 22">
            <a:extLst>
              <a:ext uri="{FF2B5EF4-FFF2-40B4-BE49-F238E27FC236}">
                <a16:creationId xmlns:a16="http://schemas.microsoft.com/office/drawing/2014/main" id="{2A19101D-7C37-42BF-8167-5391EA65EC3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42094" y="4240093"/>
            <a:ext cx="9402006" cy="1463040"/>
          </a:xfrm>
        </p:spPr>
        <p:txBody>
          <a:bodyPr lIns="0" tIns="0" rIns="0" bIns="0">
            <a:noAutofit/>
          </a:bodyPr>
          <a:lstStyle>
            <a:lvl1pPr marL="0" indent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  <a:defRPr sz="1400">
                <a:solidFill>
                  <a:schemeClr val="bg1"/>
                </a:solidFill>
                <a:latin typeface="+mn-lt"/>
                <a:cs typeface="Arial" panose="020B0604020202020204" pitchFamily="34" charset="0"/>
              </a:defRPr>
            </a:lvl1pPr>
            <a:lvl2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6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lnSpc>
                <a:spcPct val="100000"/>
              </a:lnSpc>
              <a:spcBef>
                <a:spcPts val="600"/>
              </a:spcBef>
              <a:spcAft>
                <a:spcPts val="400"/>
              </a:spcAft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>
              <a:defRPr sz="14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231B97CF-FD24-4932-8459-893B1AC73D33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-2" y="1352575"/>
            <a:ext cx="12192002" cy="2289897"/>
          </a:xfrm>
        </p:spPr>
        <p:txBody>
          <a:bodyPr anchor="ctr">
            <a:normAutofit/>
          </a:bodyPr>
          <a:lstStyle>
            <a:lvl1pPr marL="0" indent="0" algn="ctr">
              <a:buNone/>
              <a:defRPr sz="1400">
                <a:solidFill>
                  <a:schemeClr val="accent2"/>
                </a:solidFill>
                <a:latin typeface="Trade Gothic LT Pro" panose="020B0503040303020004" pitchFamily="34" charset="0"/>
              </a:defRPr>
            </a:lvl1pPr>
          </a:lstStyle>
          <a:p>
            <a:r>
              <a:rPr lang="en-US" noProof="0" dirty="0"/>
              <a:t>Insert image</a:t>
            </a:r>
          </a:p>
        </p:txBody>
      </p:sp>
    </p:spTree>
    <p:extLst>
      <p:ext uri="{BB962C8B-B14F-4D97-AF65-F5344CB8AC3E}">
        <p14:creationId xmlns:p14="http://schemas.microsoft.com/office/powerpoint/2010/main" val="248682677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30B3A574-7940-4E35-857E-5CA35A5910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110087" y="1444649"/>
            <a:ext cx="7548513" cy="4579079"/>
          </a:xfrm>
        </p:spPr>
        <p:txBody>
          <a:bodyPr>
            <a:normAutofit/>
          </a:bodyPr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noProof="0"/>
              <a:t>Click icon to add picture</a:t>
            </a:r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5406501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EB3E033F-4449-40FA-BC85-BD2712D313DD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3D26743-0505-444C-80B3-E88EE87DF72B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37145E9-AC61-47D5-9288-8789940F81B6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5E2B3ED-9A49-40A7-B8A3-62595FE513F9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1599AF7E-3E34-4597-AA72-9373A7FDB020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2DF563-7FAC-46B3-B24C-7E45CD89D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535531"/>
          </a:xfrm>
        </p:spPr>
        <p:txBody>
          <a:bodyPr vert="horz" wrap="square" lIns="91440" tIns="45720" rIns="91440" bIns="45720" rtlCol="0" anchor="t">
            <a:spAutoFit/>
          </a:bodyPr>
          <a:lstStyle>
            <a:lvl1pPr>
              <a:defRPr lang="en-GB" sz="3200" b="1" spc="-70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732E1E7-45E3-4264-8F26-66758696DD1E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2E3DF883-8093-49FA-81E1-E5D77F086A25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18944C90-37E5-4BBE-89FF-060627168050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D9EBF8BB-A805-4DDB-B459-082F99815B95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9" name="Rectangle: Single Corner Snipped 18">
              <a:extLst>
                <a:ext uri="{FF2B5EF4-FFF2-40B4-BE49-F238E27FC236}">
                  <a16:creationId xmlns:a16="http://schemas.microsoft.com/office/drawing/2014/main" id="{5D638788-DD47-45E7-939A-FA108A818173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rgbClr val="0C4360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3" name="Rectangle: Single Corner Snipped 2">
              <a:extLst>
                <a:ext uri="{FF2B5EF4-FFF2-40B4-BE49-F238E27FC236}">
                  <a16:creationId xmlns:a16="http://schemas.microsoft.com/office/drawing/2014/main" id="{74BDECEF-EEFE-4332-B3B2-BDE4F82C10FC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62EEBF51-DCAD-4335-85E9-52801031A1BF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B51822-97FF-47A7-8E4E-A0F79B4EB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912B51EA-3E6F-4BF6-BE48-62128AF32B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43366" y="1444649"/>
            <a:ext cx="3365063" cy="457907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noProof="0"/>
              <a:t>Click to edit Master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A015C605-1D30-48BC-A0D6-3B11AF56CC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64290" y="1444649"/>
            <a:ext cx="7694310" cy="4579079"/>
          </a:xfrm>
        </p:spPr>
        <p:txBody>
          <a:bodyPr>
            <a:normAutofit/>
          </a:bodyPr>
          <a:lstStyle>
            <a:lvl1pPr>
              <a:defRPr sz="24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1800">
                <a:solidFill>
                  <a:schemeClr val="bg1"/>
                </a:solidFill>
              </a:defRPr>
            </a:lvl3pPr>
            <a:lvl4pPr>
              <a:defRPr sz="1600">
                <a:solidFill>
                  <a:schemeClr val="bg1"/>
                </a:solidFill>
              </a:defRPr>
            </a:lvl4pPr>
            <a:lvl5pPr>
              <a:defRPr sz="1600">
                <a:solidFill>
                  <a:schemeClr val="bg1"/>
                </a:solidFill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129895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D4494CD2-CCDD-0248-96F8-741002C44255}"/>
              </a:ext>
            </a:extLst>
          </p:cNvPr>
          <p:cNvSpPr/>
          <p:nvPr userDrawn="1"/>
        </p:nvSpPr>
        <p:spPr>
          <a:xfrm>
            <a:off x="0" y="0"/>
            <a:ext cx="12192000" cy="6884191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Freeform: Shape 9">
            <a:extLst>
              <a:ext uri="{FF2B5EF4-FFF2-40B4-BE49-F238E27FC236}">
                <a16:creationId xmlns:a16="http://schemas.microsoft.com/office/drawing/2014/main" id="{07077B00-C1EE-7241-B441-7814F92A7EDF}"/>
              </a:ext>
            </a:extLst>
          </p:cNvPr>
          <p:cNvSpPr/>
          <p:nvPr userDrawn="1"/>
        </p:nvSpPr>
        <p:spPr>
          <a:xfrm>
            <a:off x="0" y="0"/>
            <a:ext cx="12192001" cy="6884191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0" name="Freeform: Shape 17">
            <a:extLst>
              <a:ext uri="{FF2B5EF4-FFF2-40B4-BE49-F238E27FC236}">
                <a16:creationId xmlns:a16="http://schemas.microsoft.com/office/drawing/2014/main" id="{3A1AEBC4-637E-F64C-9192-69AC4BB26D0C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1" name="Freeform: Shape 11">
            <a:extLst>
              <a:ext uri="{FF2B5EF4-FFF2-40B4-BE49-F238E27FC236}">
                <a16:creationId xmlns:a16="http://schemas.microsoft.com/office/drawing/2014/main" id="{669A7039-C54C-8E46-9A8B-DDB2547D989C}"/>
              </a:ext>
            </a:extLst>
          </p:cNvPr>
          <p:cNvSpPr/>
          <p:nvPr userDrawn="1"/>
        </p:nvSpPr>
        <p:spPr>
          <a:xfrm rot="16200000" flipV="1">
            <a:off x="2664629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2" name="Freeform: Shape 7">
            <a:extLst>
              <a:ext uri="{FF2B5EF4-FFF2-40B4-BE49-F238E27FC236}">
                <a16:creationId xmlns:a16="http://schemas.microsoft.com/office/drawing/2014/main" id="{4F173B32-87BB-9A40-8C91-4C1EED2B7ABF}"/>
              </a:ext>
            </a:extLst>
          </p:cNvPr>
          <p:cNvSpPr/>
          <p:nvPr userDrawn="1"/>
        </p:nvSpPr>
        <p:spPr>
          <a:xfrm rot="16200000" flipV="1">
            <a:off x="2664628" y="-2664627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4AC87F4E-12B5-1B42-AFD2-4DB39B7645C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25" name="Freeform: Shape 15">
              <a:extLst>
                <a:ext uri="{FF2B5EF4-FFF2-40B4-BE49-F238E27FC236}">
                  <a16:creationId xmlns:a16="http://schemas.microsoft.com/office/drawing/2014/main" id="{03DD8765-59DF-A045-ADB5-E39FAEE153A0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26" name="Freeform: Shape 16">
              <a:extLst>
                <a:ext uri="{FF2B5EF4-FFF2-40B4-BE49-F238E27FC236}">
                  <a16:creationId xmlns:a16="http://schemas.microsoft.com/office/drawing/2014/main" id="{B34B796C-A407-7B4D-B4F0-E58A44FE8DB4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30" name="Freeform: Shape 23">
            <a:extLst>
              <a:ext uri="{FF2B5EF4-FFF2-40B4-BE49-F238E27FC236}">
                <a16:creationId xmlns:a16="http://schemas.microsoft.com/office/drawing/2014/main" id="{CBE3FDC9-67CB-FA42-B127-A36BFF4678BB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31" name="Slide Number Placeholder 4">
            <a:extLst>
              <a:ext uri="{FF2B5EF4-FFF2-40B4-BE49-F238E27FC236}">
                <a16:creationId xmlns:a16="http://schemas.microsoft.com/office/drawing/2014/main" id="{1E902BFF-CA8F-D745-A819-A7BB38B30E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52200" y="6315075"/>
            <a:ext cx="406400" cy="365125"/>
          </a:xfrm>
        </p:spPr>
        <p:txBody>
          <a:bodyPr/>
          <a:lstStyle>
            <a:lvl1pPr>
              <a:defRPr sz="1000">
                <a:solidFill>
                  <a:schemeClr val="bg1"/>
                </a:solidFill>
                <a:latin typeface="Trade Gothic LT Pro" panose="020B0503040303020004" pitchFamily="34" charset="0"/>
              </a:defRPr>
            </a:lvl1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7230474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EA7FF9D7-8545-4547-AC77-A0421EEB9B99}"/>
              </a:ext>
            </a:extLst>
          </p:cNvPr>
          <p:cNvGrpSpPr/>
          <p:nvPr userDrawn="1"/>
        </p:nvGrpSpPr>
        <p:grpSpPr>
          <a:xfrm>
            <a:off x="0" y="0"/>
            <a:ext cx="6881966" cy="6858876"/>
            <a:chOff x="-5321" y="1096"/>
            <a:chExt cx="5924073" cy="5904197"/>
          </a:xfrm>
        </p:grpSpPr>
        <p:sp>
          <p:nvSpPr>
            <p:cNvPr id="17" name="Right Triangle 16">
              <a:extLst>
                <a:ext uri="{FF2B5EF4-FFF2-40B4-BE49-F238E27FC236}">
                  <a16:creationId xmlns:a16="http://schemas.microsoft.com/office/drawing/2014/main" id="{8DCD5806-2A2F-4ABF-8057-245681C498E6}"/>
                </a:ext>
              </a:extLst>
            </p:cNvPr>
            <p:cNvSpPr/>
            <p:nvPr userDrawn="1"/>
          </p:nvSpPr>
          <p:spPr>
            <a:xfrm rot="16200000" flipH="1" flipV="1">
              <a:off x="4618" y="-8842"/>
              <a:ext cx="5904196" cy="5924073"/>
            </a:xfrm>
            <a:prstGeom prst="rtTriangle">
              <a:avLst/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8" name="Right Triangle 17">
              <a:extLst>
                <a:ext uri="{FF2B5EF4-FFF2-40B4-BE49-F238E27FC236}">
                  <a16:creationId xmlns:a16="http://schemas.microsoft.com/office/drawing/2014/main" id="{3A93038F-E9E4-4FFD-B3DF-28DB7C2C1490}"/>
                </a:ext>
              </a:extLst>
            </p:cNvPr>
            <p:cNvSpPr/>
            <p:nvPr userDrawn="1"/>
          </p:nvSpPr>
          <p:spPr>
            <a:xfrm rot="16200000" flipH="1" flipV="1">
              <a:off x="3941" y="-8164"/>
              <a:ext cx="5501471" cy="5519993"/>
            </a:xfrm>
            <a:prstGeom prst="rtTriangle">
              <a:avLst/>
            </a:prstGeom>
            <a:pattFill prst="dkHorz">
              <a:fgClr>
                <a:schemeClr val="accent1"/>
              </a:fgClr>
              <a:bgClr>
                <a:schemeClr val="accent2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9" name="Right Triangle 18">
              <a:extLst>
                <a:ext uri="{FF2B5EF4-FFF2-40B4-BE49-F238E27FC236}">
                  <a16:creationId xmlns:a16="http://schemas.microsoft.com/office/drawing/2014/main" id="{5DEA1E02-BBD0-4AE3-AF22-433B90272178}"/>
                </a:ext>
              </a:extLst>
            </p:cNvPr>
            <p:cNvSpPr/>
            <p:nvPr userDrawn="1"/>
          </p:nvSpPr>
          <p:spPr>
            <a:xfrm rot="16200000" flipH="1" flipV="1">
              <a:off x="3131" y="-7355"/>
              <a:ext cx="5019818" cy="5036720"/>
            </a:xfrm>
            <a:prstGeom prst="rtTriangle">
              <a:avLst/>
            </a:prstGeom>
            <a:solidFill>
              <a:schemeClr val="accent2">
                <a:alpha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5217242" y="2807208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23638614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6E739168-A5E8-443A-B392-7AD4CF8977AD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41E10E1E-5268-4F03-BA64-07E19DE26739}"/>
              </a:ext>
            </a:extLst>
          </p:cNvPr>
          <p:cNvSpPr/>
          <p:nvPr/>
        </p:nvSpPr>
        <p:spPr>
          <a:xfrm flipH="1">
            <a:off x="-16297" y="0"/>
            <a:ext cx="12208298" cy="6858000"/>
          </a:xfrm>
          <a:custGeom>
            <a:avLst/>
            <a:gdLst>
              <a:gd name="connsiteX0" fmla="*/ 8574289 w 12208298"/>
              <a:gd name="connsiteY0" fmla="*/ 0 h 6858000"/>
              <a:gd name="connsiteX1" fmla="*/ 0 w 12208298"/>
              <a:gd name="connsiteY1" fmla="*/ 0 h 6858000"/>
              <a:gd name="connsiteX2" fmla="*/ 0 w 12208298"/>
              <a:gd name="connsiteY2" fmla="*/ 6858000 h 6858000"/>
              <a:gd name="connsiteX3" fmla="*/ 532109 w 12208298"/>
              <a:gd name="connsiteY3" fmla="*/ 6858000 h 6858000"/>
              <a:gd name="connsiteX4" fmla="*/ 11495317 w 12208298"/>
              <a:gd name="connsiteY4" fmla="*/ 6858000 h 6858000"/>
              <a:gd name="connsiteX5" fmla="*/ 12208298 w 12208298"/>
              <a:gd name="connsiteY5" fmla="*/ 6858000 h 6858000"/>
              <a:gd name="connsiteX6" fmla="*/ 12208298 w 12208298"/>
              <a:gd name="connsiteY6" fmla="*/ 3146781 h 6858000"/>
              <a:gd name="connsiteX7" fmla="*/ 10353284 w 12208298"/>
              <a:gd name="connsiteY7" fmla="*/ 1291767 h 6858000"/>
              <a:gd name="connsiteX8" fmla="*/ 9866056 w 12208298"/>
              <a:gd name="connsiteY8" fmla="*/ 1291767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208298" h="6858000">
                <a:moveTo>
                  <a:pt x="8574289" y="0"/>
                </a:moveTo>
                <a:lnTo>
                  <a:pt x="0" y="0"/>
                </a:lnTo>
                <a:lnTo>
                  <a:pt x="0" y="6858000"/>
                </a:lnTo>
                <a:lnTo>
                  <a:pt x="532109" y="6858000"/>
                </a:lnTo>
                <a:lnTo>
                  <a:pt x="11495317" y="6858000"/>
                </a:lnTo>
                <a:lnTo>
                  <a:pt x="12208298" y="6858000"/>
                </a:lnTo>
                <a:lnTo>
                  <a:pt x="12208298" y="3146781"/>
                </a:lnTo>
                <a:lnTo>
                  <a:pt x="10353284" y="1291767"/>
                </a:lnTo>
                <a:lnTo>
                  <a:pt x="9866056" y="1291767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89C45D-BDFF-418F-BE79-03FF70015770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pattFill prst="wdDnDiag">
            <a:fgClr>
              <a:schemeClr val="accent1"/>
            </a:fgClr>
            <a:bgClr>
              <a:schemeClr val="accent2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0027A677-9ACB-4264-B148-4806678FB83F}"/>
              </a:ext>
            </a:extLst>
          </p:cNvPr>
          <p:cNvSpPr/>
          <p:nvPr/>
        </p:nvSpPr>
        <p:spPr>
          <a:xfrm rot="5400000" flipH="1" flipV="1">
            <a:off x="2667000" y="-2667001"/>
            <a:ext cx="6858000" cy="12192002"/>
          </a:xfrm>
          <a:custGeom>
            <a:avLst/>
            <a:gdLst>
              <a:gd name="connsiteX0" fmla="*/ 6858000 w 6858000"/>
              <a:gd name="connsiteY0" fmla="*/ 3871658 h 12192002"/>
              <a:gd name="connsiteX1" fmla="*/ 6858000 w 6858000"/>
              <a:gd name="connsiteY1" fmla="*/ 12192002 h 12192002"/>
              <a:gd name="connsiteX2" fmla="*/ 5363029 w 6858000"/>
              <a:gd name="connsiteY2" fmla="*/ 12192002 h 12192002"/>
              <a:gd name="connsiteX3" fmla="*/ 5363029 w 6858000"/>
              <a:gd name="connsiteY3" fmla="*/ 12192000 h 12192002"/>
              <a:gd name="connsiteX4" fmla="*/ 0 w 6858000"/>
              <a:gd name="connsiteY4" fmla="*/ 12192000 h 12192002"/>
              <a:gd name="connsiteX5" fmla="*/ 0 w 6858000"/>
              <a:gd name="connsiteY5" fmla="*/ 0 h 12192002"/>
              <a:gd name="connsiteX6" fmla="*/ 3539398 w 6858000"/>
              <a:gd name="connsiteY6" fmla="*/ 0 h 12192002"/>
              <a:gd name="connsiteX7" fmla="*/ 5566229 w 6858000"/>
              <a:gd name="connsiteY7" fmla="*/ 2026831 h 12192002"/>
              <a:gd name="connsiteX8" fmla="*/ 5566229 w 6858000"/>
              <a:gd name="connsiteY8" fmla="*/ 2575538 h 12192002"/>
              <a:gd name="connsiteX9" fmla="*/ 6858000 w 6858000"/>
              <a:gd name="connsiteY9" fmla="*/ 3871657 h 12192002"/>
              <a:gd name="connsiteX10" fmla="*/ 5566229 w 6858000"/>
              <a:gd name="connsiteY10" fmla="*/ 3871657 h 12192002"/>
              <a:gd name="connsiteX11" fmla="*/ 5566229 w 6858000"/>
              <a:gd name="connsiteY11" fmla="*/ 3871658 h 12192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6858000" h="12192002">
                <a:moveTo>
                  <a:pt x="6858000" y="3871658"/>
                </a:moveTo>
                <a:lnTo>
                  <a:pt x="6858000" y="12192002"/>
                </a:lnTo>
                <a:lnTo>
                  <a:pt x="5363029" y="12192002"/>
                </a:lnTo>
                <a:lnTo>
                  <a:pt x="5363029" y="12192000"/>
                </a:lnTo>
                <a:lnTo>
                  <a:pt x="0" y="12192000"/>
                </a:lnTo>
                <a:lnTo>
                  <a:pt x="0" y="0"/>
                </a:lnTo>
                <a:lnTo>
                  <a:pt x="3539398" y="0"/>
                </a:lnTo>
                <a:lnTo>
                  <a:pt x="5566229" y="2026831"/>
                </a:lnTo>
                <a:lnTo>
                  <a:pt x="5566229" y="2575538"/>
                </a:lnTo>
                <a:lnTo>
                  <a:pt x="6858000" y="3871657"/>
                </a:lnTo>
                <a:lnTo>
                  <a:pt x="5566229" y="3871657"/>
                </a:lnTo>
                <a:lnTo>
                  <a:pt x="5566229" y="3871658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E597736-C478-4C26-9BAF-205FE31E977C}"/>
              </a:ext>
            </a:extLst>
          </p:cNvPr>
          <p:cNvSpPr>
            <a:spLocks noGrp="1"/>
          </p:cNvSpPr>
          <p:nvPr userDrawn="1">
            <p:ph type="ctrTitle" hasCustomPrompt="1"/>
          </p:nvPr>
        </p:nvSpPr>
        <p:spPr>
          <a:xfrm>
            <a:off x="6360242" y="3429000"/>
            <a:ext cx="4945598" cy="1243584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GB" sz="5400" b="1" dirty="0">
                <a:solidFill>
                  <a:schemeClr val="bg1"/>
                </a:solidFill>
                <a:latin typeface="+mj-lt"/>
                <a:ea typeface="Tahoma" panose="020B0604030504040204" pitchFamily="34" charset="0"/>
                <a:cs typeface="Tahoma" panose="020B0604030504040204" pitchFamily="34" charset="0"/>
              </a:defRPr>
            </a:lvl1pPr>
          </a:lstStyle>
          <a:p>
            <a:pPr lvl="0"/>
            <a:r>
              <a:rPr lang="en-US" noProof="0"/>
              <a:t>Thank You</a:t>
            </a:r>
          </a:p>
        </p:txBody>
      </p:sp>
      <p:sp>
        <p:nvSpPr>
          <p:cNvPr id="35" name="Freeform: Shape 34">
            <a:extLst>
              <a:ext uri="{FF2B5EF4-FFF2-40B4-BE49-F238E27FC236}">
                <a16:creationId xmlns:a16="http://schemas.microsoft.com/office/drawing/2014/main" id="{C024DCDB-C6BF-455E-AAB8-EAF9DAB302A1}"/>
              </a:ext>
            </a:extLst>
          </p:cNvPr>
          <p:cNvSpPr/>
          <p:nvPr userDrawn="1"/>
        </p:nvSpPr>
        <p:spPr>
          <a:xfrm rot="13500000">
            <a:off x="-729899" y="-1215856"/>
            <a:ext cx="6043521" cy="8427077"/>
          </a:xfrm>
          <a:custGeom>
            <a:avLst/>
            <a:gdLst>
              <a:gd name="connsiteX0" fmla="*/ 6043521 w 6043521"/>
              <a:gd name="connsiteY0" fmla="*/ 4267535 h 8427077"/>
              <a:gd name="connsiteX1" fmla="*/ 1883979 w 6043521"/>
              <a:gd name="connsiteY1" fmla="*/ 8427077 h 8427077"/>
              <a:gd name="connsiteX2" fmla="*/ 0 w 6043521"/>
              <a:gd name="connsiteY2" fmla="*/ 8427077 h 8427077"/>
              <a:gd name="connsiteX3" fmla="*/ 0 w 6043521"/>
              <a:gd name="connsiteY3" fmla="*/ 1775986 h 8427077"/>
              <a:gd name="connsiteX4" fmla="*/ 1775985 w 6043521"/>
              <a:gd name="connsiteY4" fmla="*/ 0 h 84270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8427077">
                <a:moveTo>
                  <a:pt x="6043521" y="4267535"/>
                </a:moveTo>
                <a:lnTo>
                  <a:pt x="1883979" y="8427077"/>
                </a:lnTo>
                <a:lnTo>
                  <a:pt x="0" y="8427077"/>
                </a:lnTo>
                <a:lnTo>
                  <a:pt x="0" y="1775986"/>
                </a:lnTo>
                <a:lnTo>
                  <a:pt x="1775985" y="0"/>
                </a:lnTo>
                <a:close/>
              </a:path>
            </a:pathLst>
          </a:custGeom>
          <a:solidFill>
            <a:schemeClr val="accent1">
              <a:lumMod val="50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2" name="Freeform: Shape 31">
            <a:extLst>
              <a:ext uri="{FF2B5EF4-FFF2-40B4-BE49-F238E27FC236}">
                <a16:creationId xmlns:a16="http://schemas.microsoft.com/office/drawing/2014/main" id="{26AFB47A-5D51-4F9C-B01B-977CE5E3C093}"/>
              </a:ext>
            </a:extLst>
          </p:cNvPr>
          <p:cNvSpPr/>
          <p:nvPr userDrawn="1"/>
        </p:nvSpPr>
        <p:spPr>
          <a:xfrm rot="13500000">
            <a:off x="-1145231" y="-2123853"/>
            <a:ext cx="6043521" cy="9008880"/>
          </a:xfrm>
          <a:custGeom>
            <a:avLst/>
            <a:gdLst>
              <a:gd name="connsiteX0" fmla="*/ 6043521 w 6043521"/>
              <a:gd name="connsiteY0" fmla="*/ 4849338 h 9008880"/>
              <a:gd name="connsiteX1" fmla="*/ 1883979 w 6043521"/>
              <a:gd name="connsiteY1" fmla="*/ 9008880 h 9008880"/>
              <a:gd name="connsiteX2" fmla="*/ 0 w 6043521"/>
              <a:gd name="connsiteY2" fmla="*/ 9008880 h 9008880"/>
              <a:gd name="connsiteX3" fmla="*/ 0 w 6043521"/>
              <a:gd name="connsiteY3" fmla="*/ 1194182 h 9008880"/>
              <a:gd name="connsiteX4" fmla="*/ 1194182 w 6043521"/>
              <a:gd name="connsiteY4" fmla="*/ 0 h 9008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043521" h="9008880">
                <a:moveTo>
                  <a:pt x="6043521" y="4849338"/>
                </a:moveTo>
                <a:lnTo>
                  <a:pt x="1883979" y="9008880"/>
                </a:lnTo>
                <a:lnTo>
                  <a:pt x="0" y="9008880"/>
                </a:lnTo>
                <a:lnTo>
                  <a:pt x="0" y="1194182"/>
                </a:lnTo>
                <a:lnTo>
                  <a:pt x="1194182" y="0"/>
                </a:lnTo>
                <a:close/>
              </a:path>
            </a:pathLst>
          </a:custGeom>
          <a:pattFill prst="wdDnDiag">
            <a:fgClr>
              <a:schemeClr val="accent1">
                <a:lumMod val="60000"/>
                <a:lumOff val="40000"/>
              </a:schemeClr>
            </a:fgClr>
            <a:bgClr>
              <a:schemeClr val="accent2">
                <a:lumMod val="50000"/>
              </a:schemeClr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6997A4FF-7390-4173-8ACD-6CF7145AACEC}"/>
              </a:ext>
            </a:extLst>
          </p:cNvPr>
          <p:cNvSpPr/>
          <p:nvPr userDrawn="1"/>
        </p:nvSpPr>
        <p:spPr>
          <a:xfrm rot="18900000" flipH="1">
            <a:off x="-2681153" y="-465959"/>
            <a:ext cx="8639119" cy="5739762"/>
          </a:xfrm>
          <a:custGeom>
            <a:avLst/>
            <a:gdLst>
              <a:gd name="connsiteX0" fmla="*/ 3789781 w 8639119"/>
              <a:gd name="connsiteY0" fmla="*/ 0 h 5739762"/>
              <a:gd name="connsiteX1" fmla="*/ 0 w 8639119"/>
              <a:gd name="connsiteY1" fmla="*/ 3789782 h 5739762"/>
              <a:gd name="connsiteX2" fmla="*/ 0 w 8639119"/>
              <a:gd name="connsiteY2" fmla="*/ 5739761 h 5739762"/>
              <a:gd name="connsiteX3" fmla="*/ 7748695 w 8639119"/>
              <a:gd name="connsiteY3" fmla="*/ 5739762 h 5739762"/>
              <a:gd name="connsiteX4" fmla="*/ 8639119 w 8639119"/>
              <a:gd name="connsiteY4" fmla="*/ 4849338 h 57397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639119" h="5739762">
                <a:moveTo>
                  <a:pt x="3789781" y="0"/>
                </a:moveTo>
                <a:lnTo>
                  <a:pt x="0" y="3789782"/>
                </a:lnTo>
                <a:lnTo>
                  <a:pt x="0" y="5739761"/>
                </a:lnTo>
                <a:lnTo>
                  <a:pt x="7748695" y="5739762"/>
                </a:lnTo>
                <a:lnTo>
                  <a:pt x="8639119" y="4849338"/>
                </a:lnTo>
                <a:close/>
              </a:path>
            </a:pathLst>
          </a:custGeom>
          <a:solidFill>
            <a:schemeClr val="accent1">
              <a:lumMod val="50000"/>
              <a:alpha val="51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185180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61B0E15-6FC5-434E-8780-B186D9DB0C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8204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C7B128-34F3-405C-B601-8BAFDB4349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8204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5A7754-E8C7-438B-922D-9027C6CF58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12500" y="6356350"/>
            <a:ext cx="660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63D6C4-4840-40CC-AC84-17E24B3B7BDE}" type="slidenum">
              <a:rPr lang="en-US" noProof="0" smtClean="0"/>
              <a:t>‹#›</a:t>
            </a:fld>
            <a:endParaRPr lang="en-US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CDDDB7D-9189-9548-A2B9-81DC62C3C1A3}"/>
              </a:ext>
            </a:extLst>
          </p:cNvPr>
          <p:cNvSpPr/>
          <p:nvPr userDrawn="1"/>
        </p:nvSpPr>
        <p:spPr>
          <a:xfrm>
            <a:off x="0" y="1"/>
            <a:ext cx="12192000" cy="6857999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7" name="Freeform: Shape 9">
            <a:extLst>
              <a:ext uri="{FF2B5EF4-FFF2-40B4-BE49-F238E27FC236}">
                <a16:creationId xmlns:a16="http://schemas.microsoft.com/office/drawing/2014/main" id="{096D8877-6B4A-4540-8927-767DD7401718}"/>
              </a:ext>
            </a:extLst>
          </p:cNvPr>
          <p:cNvSpPr/>
          <p:nvPr userDrawn="1"/>
        </p:nvSpPr>
        <p:spPr>
          <a:xfrm>
            <a:off x="0" y="1"/>
            <a:ext cx="12192001" cy="6857999"/>
          </a:xfrm>
          <a:custGeom>
            <a:avLst/>
            <a:gdLst>
              <a:gd name="connsiteX0" fmla="*/ 0 w 12192001"/>
              <a:gd name="connsiteY0" fmla="*/ 0 h 6884191"/>
              <a:gd name="connsiteX1" fmla="*/ 7540222 w 12192001"/>
              <a:gd name="connsiteY1" fmla="*/ 0 h 6884191"/>
              <a:gd name="connsiteX2" fmla="*/ 10260629 w 12192001"/>
              <a:gd name="connsiteY2" fmla="*/ 2725573 h 6884191"/>
              <a:gd name="connsiteX3" fmla="*/ 11286710 w 12192001"/>
              <a:gd name="connsiteY3" fmla="*/ 2725573 h 6884191"/>
              <a:gd name="connsiteX4" fmla="*/ 12192000 w 12192001"/>
              <a:gd name="connsiteY4" fmla="*/ 3632581 h 6884191"/>
              <a:gd name="connsiteX5" fmla="*/ 12192001 w 12192001"/>
              <a:gd name="connsiteY5" fmla="*/ 6884191 h 6884191"/>
              <a:gd name="connsiteX6" fmla="*/ 0 w 12192001"/>
              <a:gd name="connsiteY6" fmla="*/ 6884191 h 68841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92001" h="6884191">
                <a:moveTo>
                  <a:pt x="0" y="0"/>
                </a:moveTo>
                <a:lnTo>
                  <a:pt x="7540222" y="0"/>
                </a:lnTo>
                <a:lnTo>
                  <a:pt x="10260629" y="2725573"/>
                </a:lnTo>
                <a:lnTo>
                  <a:pt x="11286710" y="2725573"/>
                </a:lnTo>
                <a:lnTo>
                  <a:pt x="12192000" y="3632581"/>
                </a:lnTo>
                <a:lnTo>
                  <a:pt x="12192001" y="6884191"/>
                </a:lnTo>
                <a:lnTo>
                  <a:pt x="0" y="6884191"/>
                </a:lnTo>
                <a:close/>
              </a:path>
            </a:pathLst>
          </a:custGeom>
          <a:solidFill>
            <a:schemeClr val="accent2">
              <a:alpha val="7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17">
            <a:extLst>
              <a:ext uri="{FF2B5EF4-FFF2-40B4-BE49-F238E27FC236}">
                <a16:creationId xmlns:a16="http://schemas.microsoft.com/office/drawing/2014/main" id="{5AF2E123-FE0F-8541-8E36-5030C450AA7E}"/>
              </a:ext>
            </a:extLst>
          </p:cNvPr>
          <p:cNvSpPr/>
          <p:nvPr userDrawn="1"/>
        </p:nvSpPr>
        <p:spPr>
          <a:xfrm rot="16200000" flipV="1">
            <a:off x="2964809" y="-2364446"/>
            <a:ext cx="6862744" cy="11591639"/>
          </a:xfrm>
          <a:custGeom>
            <a:avLst/>
            <a:gdLst>
              <a:gd name="connsiteX0" fmla="*/ 6862744 w 6862744"/>
              <a:gd name="connsiteY0" fmla="*/ 11591639 h 11591639"/>
              <a:gd name="connsiteX1" fmla="*/ 6862744 w 6862744"/>
              <a:gd name="connsiteY1" fmla="*/ 5240223 h 11591639"/>
              <a:gd name="connsiteX2" fmla="*/ 4145656 w 6862744"/>
              <a:gd name="connsiteY2" fmla="*/ 5240223 h 11591639"/>
              <a:gd name="connsiteX3" fmla="*/ 4145656 w 6862744"/>
              <a:gd name="connsiteY3" fmla="*/ 5240222 h 11591639"/>
              <a:gd name="connsiteX4" fmla="*/ 6862744 w 6862744"/>
              <a:gd name="connsiteY4" fmla="*/ 5240222 h 11591639"/>
              <a:gd name="connsiteX5" fmla="*/ 4145656 w 6862744"/>
              <a:gd name="connsiteY5" fmla="*/ 2519152 h 11591639"/>
              <a:gd name="connsiteX6" fmla="*/ 4145656 w 6862744"/>
              <a:gd name="connsiteY6" fmla="*/ 1367198 h 11591639"/>
              <a:gd name="connsiteX7" fmla="*/ 2775863 w 6862744"/>
              <a:gd name="connsiteY7" fmla="*/ 0 h 11591639"/>
              <a:gd name="connsiteX8" fmla="*/ 0 w 6862744"/>
              <a:gd name="connsiteY8" fmla="*/ 0 h 11591639"/>
              <a:gd name="connsiteX9" fmla="*/ 0 w 6862744"/>
              <a:gd name="connsiteY9" fmla="*/ 11591639 h 11591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62744" h="11591639">
                <a:moveTo>
                  <a:pt x="6862744" y="11591639"/>
                </a:moveTo>
                <a:lnTo>
                  <a:pt x="6862744" y="5240223"/>
                </a:lnTo>
                <a:lnTo>
                  <a:pt x="4145656" y="5240223"/>
                </a:lnTo>
                <a:lnTo>
                  <a:pt x="4145656" y="5240222"/>
                </a:lnTo>
                <a:lnTo>
                  <a:pt x="6862744" y="5240222"/>
                </a:lnTo>
                <a:lnTo>
                  <a:pt x="4145656" y="2519152"/>
                </a:lnTo>
                <a:lnTo>
                  <a:pt x="4145656" y="1367198"/>
                </a:lnTo>
                <a:lnTo>
                  <a:pt x="2775863" y="0"/>
                </a:lnTo>
                <a:lnTo>
                  <a:pt x="0" y="0"/>
                </a:lnTo>
                <a:lnTo>
                  <a:pt x="0" y="11591639"/>
                </a:lnTo>
                <a:close/>
              </a:path>
            </a:pathLst>
          </a:custGeom>
          <a:pattFill prst="wdDnDiag">
            <a:fgClr>
              <a:schemeClr val="accent2"/>
            </a:fgClr>
            <a:bgClr>
              <a:schemeClr val="accent2">
                <a:lumMod val="75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E5519D99-3B68-924A-9CD0-14B911711CA8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pattFill prst="wdUpDiag">
            <a:fgClr>
              <a:schemeClr val="accent2"/>
            </a:fgClr>
            <a:bgClr>
              <a:schemeClr val="accent2">
                <a:lumMod val="50000"/>
              </a:schemeClr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Freeform: Shape 7">
            <a:extLst>
              <a:ext uri="{FF2B5EF4-FFF2-40B4-BE49-F238E27FC236}">
                <a16:creationId xmlns:a16="http://schemas.microsoft.com/office/drawing/2014/main" id="{A09E21A9-FBEF-144C-A152-FE484F3C55C1}"/>
              </a:ext>
            </a:extLst>
          </p:cNvPr>
          <p:cNvSpPr/>
          <p:nvPr userDrawn="1"/>
        </p:nvSpPr>
        <p:spPr>
          <a:xfrm rot="16200000" flipV="1">
            <a:off x="2664629" y="-2669372"/>
            <a:ext cx="6862744" cy="12192000"/>
          </a:xfrm>
          <a:custGeom>
            <a:avLst/>
            <a:gdLst>
              <a:gd name="connsiteX0" fmla="*/ 6849744 w 6849744"/>
              <a:gd name="connsiteY0" fmla="*/ 12192000 h 12192000"/>
              <a:gd name="connsiteX1" fmla="*/ 6849744 w 6849744"/>
              <a:gd name="connsiteY1" fmla="*/ 5840584 h 12192000"/>
              <a:gd name="connsiteX2" fmla="*/ 4137803 w 6849744"/>
              <a:gd name="connsiteY2" fmla="*/ 5840584 h 12192000"/>
              <a:gd name="connsiteX3" fmla="*/ 4137803 w 6849744"/>
              <a:gd name="connsiteY3" fmla="*/ 5840583 h 12192000"/>
              <a:gd name="connsiteX4" fmla="*/ 6849744 w 6849744"/>
              <a:gd name="connsiteY4" fmla="*/ 5840583 h 12192000"/>
              <a:gd name="connsiteX5" fmla="*/ 4137803 w 6849744"/>
              <a:gd name="connsiteY5" fmla="*/ 3119513 h 12192000"/>
              <a:gd name="connsiteX6" fmla="*/ 4137803 w 6849744"/>
              <a:gd name="connsiteY6" fmla="*/ 1967559 h 12192000"/>
              <a:gd name="connsiteX7" fmla="*/ 2170243 w 6849744"/>
              <a:gd name="connsiteY7" fmla="*/ 0 h 12192000"/>
              <a:gd name="connsiteX8" fmla="*/ 0 w 6849744"/>
              <a:gd name="connsiteY8" fmla="*/ 0 h 12192000"/>
              <a:gd name="connsiteX9" fmla="*/ 0 w 6849744"/>
              <a:gd name="connsiteY9" fmla="*/ 12192000 h 1219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849744" h="12192000">
                <a:moveTo>
                  <a:pt x="6849744" y="12192000"/>
                </a:moveTo>
                <a:lnTo>
                  <a:pt x="6849744" y="5840584"/>
                </a:lnTo>
                <a:lnTo>
                  <a:pt x="4137803" y="5840584"/>
                </a:lnTo>
                <a:lnTo>
                  <a:pt x="4137803" y="5840583"/>
                </a:lnTo>
                <a:lnTo>
                  <a:pt x="6849744" y="5840583"/>
                </a:lnTo>
                <a:lnTo>
                  <a:pt x="4137803" y="3119513"/>
                </a:lnTo>
                <a:lnTo>
                  <a:pt x="4137803" y="1967559"/>
                </a:lnTo>
                <a:lnTo>
                  <a:pt x="2170243" y="0"/>
                </a:lnTo>
                <a:lnTo>
                  <a:pt x="0" y="0"/>
                </a:lnTo>
                <a:lnTo>
                  <a:pt x="0" y="12192000"/>
                </a:lnTo>
                <a:close/>
              </a:path>
            </a:pathLst>
          </a:custGeom>
          <a:solidFill>
            <a:schemeClr val="accent1">
              <a:lumMod val="50000"/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70C7F2CB-A8CE-1545-A08D-93592C4BAEEA}"/>
              </a:ext>
            </a:extLst>
          </p:cNvPr>
          <p:cNvSpPr txBox="1">
            <a:spLocks/>
          </p:cNvSpPr>
          <p:nvPr userDrawn="1"/>
        </p:nvSpPr>
        <p:spPr>
          <a:xfrm>
            <a:off x="444500" y="542925"/>
            <a:ext cx="11214100" cy="535531"/>
          </a:xfrm>
          <a:prstGeom prst="rect">
            <a:avLst/>
          </a:prstGeom>
        </p:spPr>
        <p:txBody>
          <a:bodyPr vert="horz" wrap="square" lIns="91440" tIns="45720" rIns="91440" bIns="45720" rtlCol="0" anchor="t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n-GB" sz="3200" b="1" kern="1200" spc="-70" baseline="0" dirty="0">
                <a:solidFill>
                  <a:schemeClr val="bg1"/>
                </a:solidFill>
                <a:latin typeface="Trebuchet MS" panose="020B0603020202020204" pitchFamily="34" charset="0"/>
                <a:ea typeface="+mj-ea"/>
                <a:cs typeface="+mj-cs"/>
              </a:defRPr>
            </a:lvl1pPr>
          </a:lstStyle>
          <a:p>
            <a:r>
              <a:rPr lang="en-US" noProof="0" dirty="0">
                <a:latin typeface="+mj-lt"/>
              </a:rPr>
              <a:t>Click to edit Master title style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7068FCE4-1B47-3C4B-B091-013120A97D09}"/>
              </a:ext>
            </a:extLst>
          </p:cNvPr>
          <p:cNvGrpSpPr/>
          <p:nvPr userDrawn="1"/>
        </p:nvGrpSpPr>
        <p:grpSpPr>
          <a:xfrm rot="16200000">
            <a:off x="499388" y="-322655"/>
            <a:ext cx="535531" cy="645309"/>
            <a:chOff x="10945855" y="7317026"/>
            <a:chExt cx="2483924" cy="2993104"/>
          </a:xfrm>
        </p:grpSpPr>
        <p:sp>
          <p:nvSpPr>
            <p:cNvPr id="13" name="Freeform: Shape 15">
              <a:extLst>
                <a:ext uri="{FF2B5EF4-FFF2-40B4-BE49-F238E27FC236}">
                  <a16:creationId xmlns:a16="http://schemas.microsoft.com/office/drawing/2014/main" id="{FEC3FDE7-F27E-5E4E-8752-287CAB7792D4}"/>
                </a:ext>
              </a:extLst>
            </p:cNvPr>
            <p:cNvSpPr/>
            <p:nvPr/>
          </p:nvSpPr>
          <p:spPr>
            <a:xfrm rot="2700000">
              <a:off x="10945855" y="7826207"/>
              <a:ext cx="2483923" cy="2483924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50000"/>
              </a:schemeClr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14" name="Freeform: Shape 16">
              <a:extLst>
                <a:ext uri="{FF2B5EF4-FFF2-40B4-BE49-F238E27FC236}">
                  <a16:creationId xmlns:a16="http://schemas.microsoft.com/office/drawing/2014/main" id="{81C902DB-0D21-5044-82B6-9E7A70A1BF62}"/>
                </a:ext>
              </a:extLst>
            </p:cNvPr>
            <p:cNvSpPr/>
            <p:nvPr/>
          </p:nvSpPr>
          <p:spPr>
            <a:xfrm rot="8100000" flipH="1">
              <a:off x="10986797" y="7317026"/>
              <a:ext cx="2402031" cy="2402032"/>
            </a:xfrm>
            <a:custGeom>
              <a:avLst/>
              <a:gdLst>
                <a:gd name="connsiteX0" fmla="*/ 754341 w 754341"/>
                <a:gd name="connsiteY0" fmla="*/ 754341 h 754341"/>
                <a:gd name="connsiteX1" fmla="*/ 0 w 754341"/>
                <a:gd name="connsiteY1" fmla="*/ 754341 h 754341"/>
                <a:gd name="connsiteX2" fmla="*/ 0 w 754341"/>
                <a:gd name="connsiteY2" fmla="*/ 0 h 7543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754341" h="754341">
                  <a:moveTo>
                    <a:pt x="754341" y="754341"/>
                  </a:moveTo>
                  <a:lnTo>
                    <a:pt x="0" y="754341"/>
                  </a:lnTo>
                  <a:lnTo>
                    <a:pt x="0" y="0"/>
                  </a:lnTo>
                  <a:close/>
                </a:path>
              </a:pathLst>
            </a:custGeom>
            <a:pattFill prst="dkHorz">
              <a:fgClr>
                <a:schemeClr val="accent1">
                  <a:lumMod val="60000"/>
                  <a:lumOff val="40000"/>
                </a:schemeClr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BE1E08A0-195D-694F-947B-986A76FBB93E}"/>
              </a:ext>
            </a:extLst>
          </p:cNvPr>
          <p:cNvGrpSpPr/>
          <p:nvPr userDrawn="1"/>
        </p:nvGrpSpPr>
        <p:grpSpPr>
          <a:xfrm>
            <a:off x="-1" y="1357409"/>
            <a:ext cx="12192001" cy="4846320"/>
            <a:chOff x="-1" y="1357409"/>
            <a:chExt cx="12192001" cy="4917518"/>
          </a:xfrm>
        </p:grpSpPr>
        <p:sp>
          <p:nvSpPr>
            <p:cNvPr id="16" name="Rectangle: Single Corner Snipped 18">
              <a:extLst>
                <a:ext uri="{FF2B5EF4-FFF2-40B4-BE49-F238E27FC236}">
                  <a16:creationId xmlns:a16="http://schemas.microsoft.com/office/drawing/2014/main" id="{ED5DFFCD-1EE3-E64E-B51F-BD7D72413E0B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0" cy="4917518"/>
            </a:xfrm>
            <a:prstGeom prst="snip1Rect">
              <a:avLst>
                <a:gd name="adj" fmla="val 0"/>
              </a:avLst>
            </a:prstGeom>
            <a:pattFill prst="dkVert">
              <a:fgClr>
                <a:schemeClr val="accent5"/>
              </a:fgClr>
              <a:bgClr>
                <a:schemeClr val="accent2">
                  <a:lumMod val="50000"/>
                </a:schemeClr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lvl="0" algn="ctr"/>
              <a:endParaRPr lang="en-US" noProof="0" dirty="0"/>
            </a:p>
          </p:txBody>
        </p:sp>
        <p:sp>
          <p:nvSpPr>
            <p:cNvPr id="17" name="Rectangle: Single Corner Snipped 2">
              <a:extLst>
                <a:ext uri="{FF2B5EF4-FFF2-40B4-BE49-F238E27FC236}">
                  <a16:creationId xmlns:a16="http://schemas.microsoft.com/office/drawing/2014/main" id="{C12DB3CA-8E64-AA43-BFBE-A2CA9A816DBE}"/>
                </a:ext>
              </a:extLst>
            </p:cNvPr>
            <p:cNvSpPr/>
            <p:nvPr userDrawn="1"/>
          </p:nvSpPr>
          <p:spPr>
            <a:xfrm flipV="1">
              <a:off x="-1" y="1357409"/>
              <a:ext cx="12192001" cy="4917518"/>
            </a:xfrm>
            <a:prstGeom prst="snip1Rect">
              <a:avLst>
                <a:gd name="adj" fmla="val 19670"/>
              </a:avLst>
            </a:prstGeom>
            <a:solidFill>
              <a:schemeClr val="accent1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sp>
        <p:nvSpPr>
          <p:cNvPr id="18" name="Freeform: Shape 23">
            <a:extLst>
              <a:ext uri="{FF2B5EF4-FFF2-40B4-BE49-F238E27FC236}">
                <a16:creationId xmlns:a16="http://schemas.microsoft.com/office/drawing/2014/main" id="{A587DEFD-D470-4142-8E0D-A71DDB147C92}"/>
              </a:ext>
            </a:extLst>
          </p:cNvPr>
          <p:cNvSpPr/>
          <p:nvPr userDrawn="1"/>
        </p:nvSpPr>
        <p:spPr>
          <a:xfrm flipH="1">
            <a:off x="10782300" y="5448297"/>
            <a:ext cx="1409700" cy="1409703"/>
          </a:xfrm>
          <a:custGeom>
            <a:avLst/>
            <a:gdLst>
              <a:gd name="connsiteX0" fmla="*/ 754341 w 754341"/>
              <a:gd name="connsiteY0" fmla="*/ 754341 h 754341"/>
              <a:gd name="connsiteX1" fmla="*/ 0 w 754341"/>
              <a:gd name="connsiteY1" fmla="*/ 754341 h 754341"/>
              <a:gd name="connsiteX2" fmla="*/ 0 w 754341"/>
              <a:gd name="connsiteY2" fmla="*/ 0 h 7543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754341" h="754341">
                <a:moveTo>
                  <a:pt x="754341" y="754341"/>
                </a:moveTo>
                <a:lnTo>
                  <a:pt x="0" y="754341"/>
                </a:lnTo>
                <a:lnTo>
                  <a:pt x="0" y="0"/>
                </a:lnTo>
                <a:close/>
              </a:path>
            </a:pathLst>
          </a:custGeom>
          <a:pattFill prst="dkHorz">
            <a:fgClr>
              <a:schemeClr val="accent2">
                <a:lumMod val="50000"/>
              </a:schemeClr>
            </a:fgClr>
            <a:bgClr>
              <a:schemeClr val="accent2"/>
            </a:bgClr>
          </a:patt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Slide Number Placeholder 4">
            <a:extLst>
              <a:ext uri="{FF2B5EF4-FFF2-40B4-BE49-F238E27FC236}">
                <a16:creationId xmlns:a16="http://schemas.microsoft.com/office/drawing/2014/main" id="{7D9BF857-7910-734D-A217-5E3344220AA2}"/>
              </a:ext>
            </a:extLst>
          </p:cNvPr>
          <p:cNvSpPr txBox="1">
            <a:spLocks/>
          </p:cNvSpPr>
          <p:nvPr userDrawn="1"/>
        </p:nvSpPr>
        <p:spPr>
          <a:xfrm>
            <a:off x="11252200" y="6315075"/>
            <a:ext cx="406400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/>
                </a:solidFill>
                <a:latin typeface="Trade Gothic LT Pro" panose="020B05030403030200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C263D6C4-4840-40CC-AC84-17E24B3B7BDE}" type="slidenum">
              <a:rPr lang="en-US" noProof="0" smtClean="0"/>
              <a:pPr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660933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60" r:id="rId3"/>
    <p:sldLayoutId id="2147483666" r:id="rId4"/>
    <p:sldLayoutId id="2147483654" r:id="rId5"/>
    <p:sldLayoutId id="2147483661" r:id="rId6"/>
    <p:sldLayoutId id="2147483677" r:id="rId7"/>
    <p:sldLayoutId id="2147483674" r:id="rId8"/>
    <p:sldLayoutId id="2147483665" r:id="rId9"/>
    <p:sldLayoutId id="2147483673" r:id="rId10"/>
    <p:sldLayoutId id="2147483662" r:id="rId11"/>
    <p:sldLayoutId id="2147483663" r:id="rId12"/>
    <p:sldLayoutId id="2147483664" r:id="rId13"/>
    <p:sldLayoutId id="2147483675" r:id="rId14"/>
    <p:sldLayoutId id="2147483676" r:id="rId15"/>
    <p:sldLayoutId id="2147483672" r:id="rId16"/>
    <p:sldLayoutId id="2147483667" r:id="rId17"/>
    <p:sldLayoutId id="2147483668" r:id="rId1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336" userDrawn="1">
          <p15:clr>
            <a:srgbClr val="F26B43"/>
          </p15:clr>
        </p15:guide>
        <p15:guide id="4" orient="horz" pos="336" userDrawn="1">
          <p15:clr>
            <a:srgbClr val="F26B43"/>
          </p15:clr>
        </p15:guide>
        <p15:guide id="5" pos="7344" userDrawn="1">
          <p15:clr>
            <a:srgbClr val="F26B43"/>
          </p15:clr>
        </p15:guide>
        <p15:guide id="6" orient="horz" pos="3984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36437" y="419145"/>
            <a:ext cx="7077457" cy="4439181"/>
          </a:xfrm>
        </p:spPr>
        <p:txBody>
          <a:bodyPr/>
          <a:lstStyle/>
          <a:p>
            <a:r>
              <a:rPr lang="en-US" sz="4800" dirty="0">
                <a:solidFill>
                  <a:srgbClr val="00B0F0"/>
                </a:solidFill>
                <a:latin typeface="Garet Bold"/>
                <a:ea typeface="Garet Bold"/>
                <a:cs typeface="Garet Bold"/>
                <a:sym typeface="Garet Bold"/>
              </a:rPr>
              <a:t>FOODTRENDS UNDERSTANDING CUSTOMER PREFERENCES IN FB</a:t>
            </a:r>
            <a:br>
              <a:rPr lang="en-US" sz="4800" dirty="0">
                <a:solidFill>
                  <a:srgbClr val="00B0F0"/>
                </a:solidFill>
                <a:latin typeface="Garet Bold"/>
                <a:ea typeface="Garet Bold"/>
                <a:cs typeface="Garet Bold"/>
                <a:sym typeface="Garet Bold"/>
              </a:rPr>
            </a:br>
            <a:endParaRPr lang="en-US" sz="48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537F64-4C96-4AA8-BB21-E8053A3186D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1671" y="5008217"/>
            <a:ext cx="7077456" cy="858797"/>
          </a:xfrm>
        </p:spPr>
        <p:txBody>
          <a:bodyPr>
            <a:normAutofit/>
          </a:bodyPr>
          <a:lstStyle/>
          <a:p>
            <a:r>
              <a:rPr lang="en-US" sz="2000" b="1" dirty="0">
                <a:latin typeface="Garet"/>
                <a:ea typeface="Garet"/>
                <a:cs typeface="Garet"/>
                <a:sym typeface="Garet"/>
              </a:rPr>
              <a:t>Submitted By: Vanshika</a:t>
            </a:r>
          </a:p>
          <a:p>
            <a:r>
              <a:rPr lang="en-US" sz="2000" b="1" dirty="0">
                <a:latin typeface="Garet"/>
                <a:ea typeface="Garet"/>
                <a:cs typeface="Garet"/>
                <a:sym typeface="Garet"/>
              </a:rPr>
              <a:t>                     TEAM B </a:t>
            </a:r>
          </a:p>
          <a:p>
            <a:pPr marL="0" indent="0">
              <a:buNone/>
            </a:pPr>
            <a:endParaRPr lang="en-US" sz="2000" b="1" dirty="0"/>
          </a:p>
        </p:txBody>
      </p:sp>
      <p:grpSp>
        <p:nvGrpSpPr>
          <p:cNvPr id="4" name="Group 14">
            <a:extLst>
              <a:ext uri="{FF2B5EF4-FFF2-40B4-BE49-F238E27FC236}">
                <a16:creationId xmlns:a16="http://schemas.microsoft.com/office/drawing/2014/main" id="{943391C3-61B4-3777-F8F7-73F45929A06D}"/>
              </a:ext>
            </a:extLst>
          </p:cNvPr>
          <p:cNvGrpSpPr/>
          <p:nvPr/>
        </p:nvGrpSpPr>
        <p:grpSpPr>
          <a:xfrm>
            <a:off x="7786255" y="990986"/>
            <a:ext cx="4276436" cy="3867340"/>
            <a:chOff x="0" y="0"/>
            <a:chExt cx="812800" cy="812800"/>
          </a:xfrm>
        </p:grpSpPr>
        <p:sp>
          <p:nvSpPr>
            <p:cNvPr id="5" name="Freeform 15">
              <a:extLst>
                <a:ext uri="{FF2B5EF4-FFF2-40B4-BE49-F238E27FC236}">
                  <a16:creationId xmlns:a16="http://schemas.microsoft.com/office/drawing/2014/main" id="{72127176-95C2-1B8C-3F51-AA56EF5377A8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lnTo>
                    <a:pt x="812800" y="406400"/>
                  </a:lnTo>
                  <a:lnTo>
                    <a:pt x="406400" y="812800"/>
                  </a:lnTo>
                  <a:lnTo>
                    <a:pt x="0" y="406400"/>
                  </a:lnTo>
                  <a:lnTo>
                    <a:pt x="406400" y="0"/>
                  </a:lnTo>
                  <a:close/>
                </a:path>
              </a:pathLst>
            </a:custGeom>
            <a:blipFill>
              <a:blip r:embed="rId2"/>
              <a:stretch>
                <a:fillRect l="-8250" r="-8250"/>
              </a:stretch>
            </a:blipFill>
            <a:ln w="76200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en-IN"/>
            </a:p>
          </p:txBody>
        </p:sp>
      </p:grpSp>
    </p:spTree>
    <p:extLst>
      <p:ext uri="{BB962C8B-B14F-4D97-AF65-F5344CB8AC3E}">
        <p14:creationId xmlns:p14="http://schemas.microsoft.com/office/powerpoint/2010/main" val="3946934594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3BD8413-C238-49D7-A4E1-E8FEF1811A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935024" cy="2025073"/>
          </a:xfrm>
        </p:spPr>
        <p:txBody>
          <a:bodyPr>
            <a:normAutofit/>
          </a:bodyPr>
          <a:lstStyle/>
          <a:p>
            <a:r>
              <a:rPr lang="en-US" sz="4400" dirty="0"/>
              <a:t>PROJECT OBJECTIVE &amp; DESCRIPTION</a:t>
            </a:r>
            <a:br>
              <a:rPr lang="en-US" sz="4400" dirty="0"/>
            </a:br>
            <a:endParaRPr lang="en-US" sz="440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A95F4DE-39B7-4CE2-BC1E-8B8AE662A8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704" y="1426094"/>
            <a:ext cx="9771496" cy="5122488"/>
          </a:xfrm>
        </p:spPr>
        <p:txBody>
          <a:bodyPr>
            <a:normAutofit/>
          </a:bodyPr>
          <a:lstStyle/>
          <a:p>
            <a:endParaRPr lang="en-US" sz="3600" b="1" dirty="0">
              <a:solidFill>
                <a:schemeClr val="bg1"/>
              </a:solidFill>
            </a:endParaRPr>
          </a:p>
          <a:p>
            <a:r>
              <a:rPr lang="en-US" sz="3600" b="1" dirty="0">
                <a:solidFill>
                  <a:schemeClr val="bg1"/>
                </a:solidFill>
              </a:rPr>
              <a:t>Objective:</a:t>
            </a:r>
          </a:p>
          <a:p>
            <a:r>
              <a:rPr lang="en-US" sz="2400" dirty="0"/>
              <a:t>To </a:t>
            </a:r>
            <a:r>
              <a:rPr lang="en-US" sz="2400" dirty="0" err="1"/>
              <a:t>analyse</a:t>
            </a:r>
            <a:r>
              <a:rPr lang="en-US" sz="2400" dirty="0"/>
              <a:t> 138,000+ transaction records to bridge the gap between "Customer Demand" (what they order) and "Operational Supply" (how we deliver).</a:t>
            </a:r>
          </a:p>
          <a:p>
            <a:endParaRPr lang="en-US" sz="2400" dirty="0"/>
          </a:p>
          <a:p>
            <a:r>
              <a:rPr lang="en-US" sz="3200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Description:</a:t>
            </a:r>
          </a:p>
          <a:p>
            <a:r>
              <a:rPr lang="en-US" sz="2000" dirty="0"/>
              <a:t>The FB industry operates on thin margins. This project </a:t>
            </a:r>
            <a:r>
              <a:rPr lang="en-US" sz="2000" dirty="0" err="1"/>
              <a:t>utilises</a:t>
            </a:r>
            <a:r>
              <a:rPr lang="en-US" sz="2000" dirty="0"/>
              <a:t> Power BI to transform raw transactional data into a strategic decision-support system, focusing on Menu </a:t>
            </a:r>
            <a:r>
              <a:rPr lang="en-US" sz="2000" dirty="0" err="1"/>
              <a:t>Optimisation</a:t>
            </a:r>
            <a:r>
              <a:rPr lang="en-US" sz="2000" dirty="0"/>
              <a:t>, Logistics Efficiency, and Customer Segmentation.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B24BF10-2B55-43AB-9F77-F1A1410384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2794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D179B88-D43C-4A31-9A52-3498E9430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4049" y="1410854"/>
            <a:ext cx="11221351" cy="859055"/>
          </a:xfrm>
        </p:spPr>
        <p:txBody>
          <a:bodyPr>
            <a:normAutofit fontScale="90000"/>
          </a:bodyPr>
          <a:lstStyle/>
          <a:p>
            <a:r>
              <a:rPr lang="en-US" dirty="0">
                <a:latin typeface="Garet Bold"/>
                <a:ea typeface="Garet Bold"/>
                <a:cs typeface="Garet Bold"/>
                <a:sym typeface="Garet Bold"/>
              </a:rPr>
              <a:t>SYSTEM DESIGN &amp; WORKFLOW</a:t>
            </a:r>
            <a:br>
              <a:rPr lang="en-US" dirty="0">
                <a:latin typeface="Garet Bold"/>
                <a:ea typeface="Garet Bold"/>
                <a:cs typeface="Garet Bold"/>
                <a:sym typeface="Garet Bold"/>
              </a:rPr>
            </a:b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DDBE65-9AB1-4989-AF86-726591A6A12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2509" y="1847273"/>
            <a:ext cx="10418618" cy="4832927"/>
          </a:xfrm>
        </p:spPr>
        <p:txBody>
          <a:bodyPr>
            <a:normAutofit lnSpcReduction="10000"/>
          </a:bodyPr>
          <a:lstStyle/>
          <a:p>
            <a:r>
              <a:rPr lang="en-US" sz="1800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Data Architecture:</a:t>
            </a:r>
          </a:p>
          <a:p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sym typeface="Garet Bold"/>
              </a:rPr>
              <a:t>Implemented a Star Schema Data Model connecting a central </a:t>
            </a:r>
            <a:r>
              <a:rPr lang="en-US" b="1" dirty="0" err="1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sym typeface="Garet Bold"/>
              </a:rPr>
              <a:t>Fact_Orders</a:t>
            </a:r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sym typeface="Garet Bold"/>
              </a:rPr>
              <a:t> table to 5 Dimension tables (Dim_Customer, </a:t>
            </a:r>
            <a:r>
              <a:rPr lang="en-US" b="1" dirty="0" err="1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sym typeface="Garet Bold"/>
              </a:rPr>
              <a:t>Dim_Restaurant</a:t>
            </a:r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sym typeface="Garet Bold"/>
              </a:rPr>
              <a:t>, etc.).</a:t>
            </a:r>
          </a:p>
          <a:p>
            <a:endParaRPr lang="en-US" sz="1800" b="1" dirty="0">
              <a:solidFill>
                <a:schemeClr val="bg1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r>
              <a:rPr lang="en-US" sz="1800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ETL:</a:t>
            </a:r>
          </a:p>
          <a:p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cs typeface="Garet Bold"/>
                <a:sym typeface="Garet Bold"/>
              </a:rPr>
              <a:t>Cleaned null ratings and </a:t>
            </a:r>
            <a:r>
              <a:rPr lang="en-US" b="1" dirty="0" err="1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cs typeface="Garet Bold"/>
                <a:sym typeface="Garet Bold"/>
              </a:rPr>
              <a:t>standardised</a:t>
            </a:r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cs typeface="Garet Bold"/>
                <a:sym typeface="Garet Bold"/>
              </a:rPr>
              <a:t> city names using Power Query to ensure data integrity.</a:t>
            </a:r>
          </a:p>
          <a:p>
            <a:endParaRPr lang="en-US" sz="1800" b="1" dirty="0">
              <a:solidFill>
                <a:schemeClr val="bg1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r>
              <a:rPr lang="en-US" sz="1800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Modelling:</a:t>
            </a:r>
          </a:p>
          <a:p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latin typeface="Arial" panose="020B0604020202020204" pitchFamily="34" charset="0"/>
                <a:ea typeface="Garet Bold"/>
                <a:sym typeface="Garet Bold"/>
              </a:rPr>
              <a:t>Established active One-to-Many relationships for accurate filtering and robust data analysis.</a:t>
            </a:r>
          </a:p>
          <a:p>
            <a:endParaRPr lang="en-US" sz="1800" b="1" dirty="0">
              <a:solidFill>
                <a:schemeClr val="bg1"/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r>
              <a:rPr lang="en-US" sz="1800" b="1" dirty="0" err="1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Visualisation</a:t>
            </a:r>
            <a:r>
              <a:rPr lang="en-US" sz="1800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:</a:t>
            </a:r>
          </a:p>
          <a:p>
            <a:r>
              <a:rPr lang="en-US" b="1" dirty="0">
                <a:solidFill>
                  <a:schemeClr val="accent2">
                    <a:lumMod val="40000"/>
                    <a:lumOff val="60000"/>
                  </a:schemeClr>
                </a:solidFill>
                <a:ea typeface="Garet Bold"/>
                <a:cs typeface="Garet Bold"/>
                <a:sym typeface="Garet Bold"/>
              </a:rPr>
              <a:t>Built 7 interactive dashboards for end-to-end analysis, providing comprehensive insights.</a:t>
            </a:r>
          </a:p>
          <a:p>
            <a:endParaRPr lang="en-US" b="1" dirty="0">
              <a:solidFill>
                <a:schemeClr val="accent2">
                  <a:lumMod val="40000"/>
                  <a:lumOff val="60000"/>
                </a:schemeClr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endParaRPr lang="en-US" b="1" dirty="0">
              <a:solidFill>
                <a:schemeClr val="accent2">
                  <a:lumMod val="40000"/>
                  <a:lumOff val="60000"/>
                </a:schemeClr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endParaRPr lang="en-US" dirty="0"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B065C75-272B-4BB5-BA23-D80E8654D6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9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875C19A-1AAE-476A-A316-A2CF92D763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1311128"/>
          </a:xfrm>
        </p:spPr>
        <p:txBody>
          <a:bodyPr/>
          <a:lstStyle/>
          <a:p>
            <a:r>
              <a:rPr lang="en-US" sz="4400" dirty="0"/>
              <a:t>PROJECT EXECUTION MILESTONES</a:t>
            </a:r>
            <a:br>
              <a:rPr lang="en-US" sz="4400" dirty="0"/>
            </a:br>
            <a:endParaRPr lang="en-US" sz="440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EF2BC084-E6DB-4DE7-B309-042A85EBA70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03490" y="1626920"/>
            <a:ext cx="5032664" cy="1958323"/>
          </a:xfrm>
        </p:spPr>
        <p:txBody>
          <a:bodyPr/>
          <a:lstStyle/>
          <a:p>
            <a:pPr marL="0" indent="0">
              <a:buNone/>
            </a:pPr>
            <a:r>
              <a:rPr lang="en-US" sz="1800" b="1" dirty="0">
                <a:latin typeface="Garet Bold"/>
                <a:ea typeface="Garet Bold"/>
                <a:cs typeface="Garet Bold"/>
                <a:sym typeface="Garet Bold"/>
              </a:rPr>
              <a:t>Milestone 1: Data Discovery</a:t>
            </a:r>
          </a:p>
          <a:p>
            <a:pPr marL="523239" lvl="1" indent="-285750"/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Collected raw datasets from </a:t>
            </a:r>
            <a:r>
              <a:rPr lang="en-US" sz="16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 Bold"/>
                <a:ea typeface="Telegraf Bold"/>
                <a:cs typeface="Telegraf Bold"/>
                <a:sym typeface="Telegraf Bold"/>
              </a:rPr>
              <a:t>Kaggle</a:t>
            </a:r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 and performed extensive cleaning.</a:t>
            </a:r>
          </a:p>
          <a:p>
            <a:pPr marL="523239" lvl="1" indent="-285750"/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Created technical documentation for all preprocessing steps (handling nulls in ratings, fixing date formats, and normalizing text).</a:t>
            </a:r>
          </a:p>
          <a:p>
            <a:endParaRPr lang="en-US" sz="500" b="1" dirty="0">
              <a:solidFill>
                <a:schemeClr val="accent1">
                  <a:lumMod val="40000"/>
                  <a:lumOff val="60000"/>
                </a:schemeClr>
              </a:solidFill>
              <a:latin typeface="Garet Bold"/>
              <a:ea typeface="Garet Bold"/>
              <a:cs typeface="Garet Bold"/>
              <a:sym typeface="Garet Bold"/>
            </a:endParaRPr>
          </a:p>
          <a:p>
            <a:endParaRPr lang="en-US" sz="500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E9800F6-D571-48C4-8466-12AA1ADB6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3F493B9-CFDA-6E0A-E941-728FD67E0606}"/>
              </a:ext>
            </a:extLst>
          </p:cNvPr>
          <p:cNvSpPr txBox="1"/>
          <p:nvPr/>
        </p:nvSpPr>
        <p:spPr>
          <a:xfrm>
            <a:off x="5948217" y="1428281"/>
            <a:ext cx="4638964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89" lvl="1"/>
            <a:r>
              <a:rPr lang="en-US" sz="2000" b="1" dirty="0">
                <a:solidFill>
                  <a:schemeClr val="bg1"/>
                </a:solidFill>
                <a:latin typeface="Telegraf Bold"/>
                <a:ea typeface="Telegraf Bold"/>
                <a:cs typeface="Telegraf Bold"/>
                <a:sym typeface="Telegraf Bold"/>
              </a:rPr>
              <a:t>Milestone 3: Deep Dive</a:t>
            </a:r>
          </a:p>
          <a:p>
            <a:pPr marL="237489" lvl="1"/>
            <a:endParaRPr lang="en-US" sz="1600" dirty="0">
              <a:solidFill>
                <a:schemeClr val="accent1">
                  <a:lumMod val="40000"/>
                  <a:lumOff val="60000"/>
                </a:schemeClr>
              </a:solidFill>
              <a:latin typeface="Telegraf"/>
              <a:ea typeface="Telegraf"/>
              <a:cs typeface="Telegraf"/>
              <a:sym typeface="Telegraf"/>
            </a:endParaRPr>
          </a:p>
          <a:p>
            <a:pPr marL="5232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Added Menu Analysis and Sentiment Analysis pages.</a:t>
            </a:r>
          </a:p>
          <a:p>
            <a:pPr marL="523239" lvl="1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  <a:latin typeface="Telegraf"/>
              <a:ea typeface="Telegraf"/>
              <a:cs typeface="Telegraf"/>
              <a:sym typeface="Telegraf"/>
            </a:endParaRPr>
          </a:p>
          <a:p>
            <a:pPr marL="523239" lvl="1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Updated documentation to include new DAX measures for product performance</a:t>
            </a:r>
          </a:p>
          <a:p>
            <a:pPr marL="237489" lvl="1"/>
            <a:endParaRPr lang="en-US" sz="1600" dirty="0">
              <a:solidFill>
                <a:schemeClr val="accent1">
                  <a:lumMod val="40000"/>
                  <a:lumOff val="60000"/>
                </a:schemeClr>
              </a:solidFill>
              <a:latin typeface="Telegraf"/>
              <a:ea typeface="Telegraf"/>
              <a:cs typeface="Telegraf"/>
              <a:sym typeface="Telegraf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8275387-3C37-2E97-A645-A0B61EBDE851}"/>
              </a:ext>
            </a:extLst>
          </p:cNvPr>
          <p:cNvSpPr txBox="1"/>
          <p:nvPr/>
        </p:nvSpPr>
        <p:spPr>
          <a:xfrm>
            <a:off x="-14434" y="4356752"/>
            <a:ext cx="5449455" cy="18196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89" lvl="1">
              <a:lnSpc>
                <a:spcPts val="3079"/>
              </a:lnSpc>
            </a:pPr>
            <a:r>
              <a:rPr lang="en-US" b="1" dirty="0">
                <a:solidFill>
                  <a:schemeClr val="bg1"/>
                </a:solidFill>
                <a:latin typeface="Telegraf Bold"/>
                <a:ea typeface="Telegraf Bold"/>
                <a:cs typeface="Telegraf Bold"/>
                <a:sym typeface="Telegraf Bold"/>
              </a:rPr>
              <a:t>Milestone 2: Core Analysis </a:t>
            </a:r>
          </a:p>
          <a:p>
            <a:pPr marL="474979" lvl="1" indent="-237490">
              <a:buFont typeface="Arial"/>
              <a:buChar char="•"/>
            </a:pPr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Built foundational views:</a:t>
            </a:r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 Bold"/>
                <a:ea typeface="Telegraf Bold"/>
                <a:cs typeface="Telegraf Bold"/>
                <a:sym typeface="Telegraf Bold"/>
              </a:rPr>
              <a:t> Market Demand, Customer Segments, and Service Qualit</a:t>
            </a:r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y.</a:t>
            </a:r>
          </a:p>
          <a:p>
            <a:pPr marL="474979" lvl="1" indent="-237490">
              <a:buFont typeface="Arial"/>
              <a:buChar char="•"/>
            </a:pPr>
            <a:r>
              <a:rPr lang="en-US" sz="1600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Completed first set of Team and Individual documentation to track design choices</a:t>
            </a:r>
          </a:p>
          <a:p>
            <a:pPr marL="237489" lvl="1">
              <a:lnSpc>
                <a:spcPts val="3079"/>
              </a:lnSpc>
            </a:pPr>
            <a:endParaRPr lang="en-US" sz="1600" dirty="0">
              <a:solidFill>
                <a:schemeClr val="accent2">
                  <a:lumMod val="40000"/>
                  <a:lumOff val="60000"/>
                </a:schemeClr>
              </a:solidFill>
              <a:latin typeface="Telegraf"/>
              <a:ea typeface="Telegraf"/>
              <a:cs typeface="Telegraf"/>
              <a:sym typeface="Telegraf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77971FD-2BD5-0EA8-5244-BDAFFF6883DD}"/>
              </a:ext>
            </a:extLst>
          </p:cNvPr>
          <p:cNvSpPr txBox="1"/>
          <p:nvPr/>
        </p:nvSpPr>
        <p:spPr>
          <a:xfrm>
            <a:off x="5948217" y="4356752"/>
            <a:ext cx="5449454" cy="22256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37489" lvl="1">
              <a:lnSpc>
                <a:spcPts val="3079"/>
              </a:lnSpc>
            </a:pPr>
            <a:r>
              <a:rPr lang="en-US" b="1" dirty="0">
                <a:solidFill>
                  <a:schemeClr val="bg1"/>
                </a:solidFill>
                <a:latin typeface="Garet Bold"/>
                <a:ea typeface="Garet Bold"/>
                <a:cs typeface="Garet Bold"/>
                <a:sym typeface="Garet Bold"/>
              </a:rPr>
              <a:t>Milestone 4: Advanced Strategy</a:t>
            </a:r>
          </a:p>
          <a:p>
            <a:pPr marL="474979" lvl="1" indent="-237490">
              <a:buFont typeface="Arial"/>
              <a:buChar char="•"/>
            </a:pP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  <a:ea typeface="Telegraf"/>
                <a:cs typeface="Telegraf"/>
                <a:sym typeface="Telegraf"/>
              </a:rPr>
              <a:t>Developed the final complex pages: </a:t>
            </a:r>
            <a:r>
              <a:rPr lang="en-US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  <a:ea typeface="Telegraf Bold"/>
                <a:cs typeface="Telegraf Bold"/>
                <a:sym typeface="Telegraf Bold"/>
              </a:rPr>
              <a:t>Operational Efficiency and Growth &amp; Loyalty</a:t>
            </a: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  <a:ea typeface="Telegraf"/>
                <a:cs typeface="Telegraf"/>
                <a:sym typeface="Telegraf"/>
              </a:rPr>
              <a:t>.</a:t>
            </a:r>
          </a:p>
          <a:p>
            <a:pPr marL="474979" lvl="1" indent="-237490">
              <a:buFont typeface="Arial"/>
              <a:buChar char="•"/>
            </a:pPr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+mj-lt"/>
                <a:ea typeface="Telegraf"/>
                <a:cs typeface="Telegraf"/>
                <a:sym typeface="Telegraf"/>
              </a:rPr>
              <a:t>Finalized all project docs, including individual analysis of business "friction points</a:t>
            </a:r>
            <a:endParaRPr lang="en-US" b="1" dirty="0">
              <a:solidFill>
                <a:schemeClr val="accent1">
                  <a:lumMod val="40000"/>
                  <a:lumOff val="60000"/>
                </a:schemeClr>
              </a:solidFill>
              <a:latin typeface="+mj-lt"/>
              <a:ea typeface="Garet Bold"/>
              <a:cs typeface="Garet Bold"/>
              <a:sym typeface="Garet Bold"/>
            </a:endParaRPr>
          </a:p>
          <a:p>
            <a:pPr marL="237489" lvl="1" algn="l">
              <a:lnSpc>
                <a:spcPts val="3079"/>
              </a:lnSpc>
            </a:pPr>
            <a:endParaRPr lang="en-US" sz="1800" dirty="0">
              <a:solidFill>
                <a:srgbClr val="343434"/>
              </a:solidFill>
              <a:latin typeface="Telegraf"/>
              <a:ea typeface="Telegraf"/>
              <a:cs typeface="Telegraf"/>
              <a:sym typeface="Telegraf"/>
            </a:endParaRP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78143AED-6AC6-8642-1C03-14E9938A9642}"/>
              </a:ext>
            </a:extLst>
          </p:cNvPr>
          <p:cNvCxnSpPr/>
          <p:nvPr/>
        </p:nvCxnSpPr>
        <p:spPr>
          <a:xfrm>
            <a:off x="241300" y="3980452"/>
            <a:ext cx="10984345" cy="0"/>
          </a:xfrm>
          <a:prstGeom prst="line">
            <a:avLst/>
          </a:prstGeom>
          <a:ln w="9525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4" name="Rectangle 23">
            <a:extLst>
              <a:ext uri="{FF2B5EF4-FFF2-40B4-BE49-F238E27FC236}">
                <a16:creationId xmlns:a16="http://schemas.microsoft.com/office/drawing/2014/main" id="{D74659C3-4EEF-EBF3-C37A-822EF6238594}"/>
              </a:ext>
            </a:extLst>
          </p:cNvPr>
          <p:cNvSpPr/>
          <p:nvPr/>
        </p:nvSpPr>
        <p:spPr>
          <a:xfrm>
            <a:off x="3845214" y="3837673"/>
            <a:ext cx="461818" cy="3786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7D787F-D129-5A86-3E63-CCFFD164D13A}"/>
              </a:ext>
            </a:extLst>
          </p:cNvPr>
          <p:cNvSpPr/>
          <p:nvPr/>
        </p:nvSpPr>
        <p:spPr>
          <a:xfrm>
            <a:off x="1604819" y="3830390"/>
            <a:ext cx="461818" cy="3786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95CD97F1-5AEE-6D26-451A-BD9F15CAACB1}"/>
              </a:ext>
            </a:extLst>
          </p:cNvPr>
          <p:cNvSpPr/>
          <p:nvPr/>
        </p:nvSpPr>
        <p:spPr>
          <a:xfrm>
            <a:off x="8835160" y="3791114"/>
            <a:ext cx="461818" cy="3786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9807CA0-FAAD-AE88-37E7-8806142D75C4}"/>
              </a:ext>
            </a:extLst>
          </p:cNvPr>
          <p:cNvSpPr/>
          <p:nvPr/>
        </p:nvSpPr>
        <p:spPr>
          <a:xfrm>
            <a:off x="6201643" y="3830390"/>
            <a:ext cx="461818" cy="378676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334860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1200329"/>
          </a:xfrm>
        </p:spPr>
        <p:txBody>
          <a:bodyPr/>
          <a:lstStyle/>
          <a:p>
            <a:r>
              <a:rPr lang="en-US" sz="4000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  <a:t>TOP VISUALISATIONS USED</a:t>
            </a:r>
            <a:br>
              <a:rPr lang="en-US" sz="4000" dirty="0">
                <a:solidFill>
                  <a:srgbClr val="FFFFFF"/>
                </a:solidFill>
                <a:latin typeface="Garet Bold"/>
                <a:ea typeface="Garet Bold"/>
                <a:cs typeface="Garet Bold"/>
                <a:sym typeface="Garet Bold"/>
              </a:rPr>
            </a:br>
            <a:endParaRPr lang="en-US" sz="40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0FC4EE-F318-4344-9E3C-B950ADB63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74126B4-1E6C-4FFF-9282-40E18A85A07F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/>
        <p:txBody>
          <a:bodyPr/>
          <a:lstStyle/>
          <a:p>
            <a:pPr algn="l"/>
            <a:r>
              <a:rPr lang="en-US" dirty="0">
                <a:latin typeface="Telegraf Bold"/>
                <a:ea typeface="Telegraf Bold"/>
                <a:cs typeface="Telegraf Bold"/>
                <a:sym typeface="Telegraf Bold"/>
              </a:rPr>
              <a:t>Operational Stress Test (Line &amp; Column Chart):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0C87788-476B-4620-8002-A5C1177AD6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00812" y="1681163"/>
            <a:ext cx="5598824" cy="823912"/>
          </a:xfrm>
        </p:spPr>
        <p:txBody>
          <a:bodyPr>
            <a:normAutofit/>
          </a:bodyPr>
          <a:lstStyle/>
          <a:p>
            <a:pPr algn="l"/>
            <a:r>
              <a:rPr lang="en-US" dirty="0">
                <a:latin typeface="Telegraf Bold"/>
                <a:ea typeface="Telegraf Bold"/>
                <a:cs typeface="Telegraf Bold"/>
                <a:sym typeface="Telegraf Bold"/>
              </a:rPr>
              <a:t>Service Friction Map (Bubble Chart):</a:t>
            </a:r>
          </a:p>
          <a:p>
            <a:pPr algn="l"/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7DC4E62-1A34-4F98-A451-214F1808519C}"/>
              </a:ext>
            </a:extLst>
          </p:cNvPr>
          <p:cNvSpPr>
            <a:spLocks noGrp="1"/>
          </p:cNvSpPr>
          <p:nvPr>
            <p:ph type="body" sz="quarter" idx="2"/>
          </p:nvPr>
        </p:nvSpPr>
        <p:spPr/>
        <p:txBody>
          <a:bodyPr/>
          <a:lstStyle/>
          <a:p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Purpose: To identify the exact time when delivery speed "breaks" due to high order volume.</a:t>
            </a:r>
          </a:p>
          <a:p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00A9570-5EF6-4AFB-9FCA-7C8998E3FEB1}"/>
              </a:ext>
            </a:extLst>
          </p:cNvPr>
          <p:cNvSpPr>
            <a:spLocks noGrp="1"/>
          </p:cNvSpPr>
          <p:nvPr>
            <p:ph type="body" sz="quarter" idx="4"/>
          </p:nvPr>
        </p:nvSpPr>
        <p:spPr>
          <a:xfrm>
            <a:off x="6500812" y="2139950"/>
            <a:ext cx="5183188" cy="3684588"/>
          </a:xfrm>
        </p:spPr>
        <p:txBody>
          <a:bodyPr/>
          <a:lstStyle/>
          <a:p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  <a:latin typeface="Telegraf"/>
              <a:ea typeface="Telegraf"/>
              <a:cs typeface="Telegraf"/>
              <a:sym typeface="Telegraf"/>
            </a:endParaRPr>
          </a:p>
          <a:p>
            <a:r>
              <a:rPr lang="en-US" dirty="0">
                <a:solidFill>
                  <a:schemeClr val="accent1">
                    <a:lumMod val="40000"/>
                    <a:lumOff val="60000"/>
                  </a:schemeClr>
                </a:solidFill>
                <a:latin typeface="Telegraf"/>
                <a:ea typeface="Telegraf"/>
                <a:cs typeface="Telegraf"/>
                <a:sym typeface="Telegraf"/>
              </a:rPr>
              <a:t>Purpose: To map the relationship between distance and delivery time to find our "Maximum Service Radius."</a:t>
            </a:r>
          </a:p>
          <a:p>
            <a:endParaRPr lang="en-US" dirty="0">
              <a:solidFill>
                <a:schemeClr val="accent1">
                  <a:lumMod val="40000"/>
                  <a:lumOff val="60000"/>
                </a:schemeClr>
              </a:solidFill>
            </a:endParaRPr>
          </a:p>
        </p:txBody>
      </p:sp>
      <p:graphicFrame>
        <p:nvGraphicFramePr>
          <p:cNvPr id="11" name="Chart 10">
            <a:extLst>
              <a:ext uri="{FF2B5EF4-FFF2-40B4-BE49-F238E27FC236}">
                <a16:creationId xmlns:a16="http://schemas.microsoft.com/office/drawing/2014/main" id="{EB12189C-4F83-6F45-07F3-1B4E2F0DE78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92253749"/>
              </p:ext>
            </p:extLst>
          </p:nvPr>
        </p:nvGraphicFramePr>
        <p:xfrm>
          <a:off x="840508" y="3266896"/>
          <a:ext cx="3749965" cy="220103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7" name="Chart 16">
            <a:extLst>
              <a:ext uri="{FF2B5EF4-FFF2-40B4-BE49-F238E27FC236}">
                <a16:creationId xmlns:a16="http://schemas.microsoft.com/office/drawing/2014/main" id="{9DB45040-A0CA-10A0-1A94-0DE06765233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95062844"/>
              </p:ext>
            </p:extLst>
          </p:nvPr>
        </p:nvGraphicFramePr>
        <p:xfrm>
          <a:off x="6973454" y="3643313"/>
          <a:ext cx="4378037" cy="21812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6072704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A5AD7-FD2A-C90D-1A9E-24AF4E5678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dirty="0">
                <a:latin typeface="Garet Bold"/>
                <a:ea typeface="Garet Bold"/>
                <a:cs typeface="Garet Bold"/>
                <a:sym typeface="Garet Bold"/>
              </a:rPr>
              <a:t>DASHBOARD SHOWCASE</a:t>
            </a:r>
            <a:br>
              <a:rPr lang="en-US" dirty="0">
                <a:latin typeface="Garet Bold"/>
                <a:ea typeface="Garet Bold"/>
                <a:cs typeface="Garet Bold"/>
                <a:sym typeface="Garet Bold"/>
              </a:rPr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8B1D7E-FCDC-98A5-ED8D-7B4082660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6</a:t>
            </a:fld>
            <a:endParaRPr lang="en-US" noProof="0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9D3287F-AAFD-FAAA-8B32-68AF23E0C3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1597" y="1450109"/>
            <a:ext cx="3455563" cy="196040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819DD87E-424B-8F42-958E-F97138227E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145" y="1450109"/>
            <a:ext cx="3370910" cy="1919064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B10AE7F-2577-D570-9010-E509EB5EA3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4001" y="5126147"/>
            <a:ext cx="3135677" cy="1731853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BD715497-238D-5A43-B3B1-5FD360CF8B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7954" y="3369173"/>
            <a:ext cx="3119951" cy="1771073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B9A2712C-F79F-5B50-A7F6-202A27003F0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9785" y="3342588"/>
            <a:ext cx="3123530" cy="1771073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BA40A5F0-580A-DADA-E33A-367C059B590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74894" y="3342588"/>
            <a:ext cx="2949740" cy="1721630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6F8F57CD-2C7F-F9D1-2042-FAC0E320906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88364" y="5064219"/>
            <a:ext cx="3233996" cy="1826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2790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15E3981-F0D7-482C-A8E0-6A57700BE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1089529"/>
          </a:xfrm>
        </p:spPr>
        <p:txBody>
          <a:bodyPr/>
          <a:lstStyle/>
          <a:p>
            <a:r>
              <a:rPr lang="en-US" sz="3600" dirty="0">
                <a:latin typeface="Garet Bold"/>
                <a:ea typeface="Garet Bold"/>
                <a:cs typeface="Garet Bold"/>
                <a:sym typeface="Garet Bold"/>
              </a:rPr>
              <a:t>CHALLENGES &amp; RESOLUTIONS</a:t>
            </a:r>
            <a:br>
              <a:rPr lang="en-US" sz="3600" dirty="0">
                <a:latin typeface="Garet Bold"/>
                <a:ea typeface="Garet Bold"/>
                <a:cs typeface="Garet Bold"/>
                <a:sym typeface="Garet Bold"/>
              </a:rPr>
            </a:br>
            <a:endParaRPr lang="en-US" sz="3600" dirty="0"/>
          </a:p>
        </p:txBody>
      </p:sp>
      <p:pic>
        <p:nvPicPr>
          <p:cNvPr id="20" name="Picture Placeholder 19" descr="Triangular pattern design with dimension">
            <a:extLst>
              <a:ext uri="{FF2B5EF4-FFF2-40B4-BE49-F238E27FC236}">
                <a16:creationId xmlns:a16="http://schemas.microsoft.com/office/drawing/2014/main" id="{3DCA2B8E-64D3-7645-8DEB-688ED5756F52}"/>
              </a:ext>
            </a:extLst>
          </p:cNvPr>
          <p:cNvPicPr>
            <a:picLocks noGrp="1" noChangeAspect="1"/>
          </p:cNvPicPr>
          <p:nvPr>
            <p:ph type="pic" sz="quarter" idx="19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-2" y="1334103"/>
            <a:ext cx="12192002" cy="2289897"/>
          </a:xfrm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782206B1-586F-4254-9B36-D06C4E294AC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33400" y="1514951"/>
            <a:ext cx="5422936" cy="4313194"/>
          </a:xfrm>
        </p:spPr>
        <p:txBody>
          <a:bodyPr/>
          <a:lstStyle/>
          <a:p>
            <a:r>
              <a:rPr lang="en-US" sz="2400" b="1" dirty="0">
                <a:latin typeface="Petrona Bold"/>
                <a:ea typeface="Petrona Bold"/>
                <a:cs typeface="Petrona Bold"/>
                <a:sym typeface="Petrona Bold"/>
              </a:rPr>
              <a:t>Challenge 1: Visual Performance Lag</a:t>
            </a:r>
          </a:p>
          <a:p>
            <a:r>
              <a:rPr lang="en-US" sz="2400" dirty="0">
                <a:latin typeface="Inter"/>
                <a:ea typeface="Inter"/>
                <a:cs typeface="Inter"/>
                <a:sym typeface="Inter"/>
              </a:rPr>
              <a:t>Plotting 138k individual points on a Scatter Plot caused system crashes.</a:t>
            </a:r>
          </a:p>
          <a:p>
            <a:endParaRPr lang="en-US" sz="1800" b="1" dirty="0">
              <a:latin typeface="Petrona Bold"/>
              <a:ea typeface="Petrona Bold"/>
              <a:cs typeface="Petrona Bold"/>
              <a:sym typeface="Petrona Bold"/>
            </a:endParaRPr>
          </a:p>
          <a:p>
            <a:r>
              <a:rPr lang="en-US" sz="2800" b="1" dirty="0">
                <a:latin typeface="Petrona Bold"/>
                <a:ea typeface="Petrona Bold"/>
                <a:cs typeface="Petrona Bold"/>
                <a:sym typeface="Petrona Bold"/>
              </a:rPr>
              <a:t>Resolution:</a:t>
            </a:r>
          </a:p>
          <a:p>
            <a:endParaRPr lang="en-US" sz="2000" dirty="0">
              <a:latin typeface="Inter"/>
              <a:ea typeface="Inter"/>
              <a:cs typeface="Inter"/>
              <a:sym typeface="Inter"/>
            </a:endParaRPr>
          </a:p>
          <a:p>
            <a:r>
              <a:rPr lang="en-US" sz="2000" dirty="0">
                <a:latin typeface="Inter"/>
                <a:ea typeface="Inter"/>
                <a:cs typeface="Inter"/>
                <a:sym typeface="Inter"/>
              </a:rPr>
              <a:t>Aggregated the data by "Restaurant Name" to </a:t>
            </a:r>
            <a:r>
              <a:rPr lang="en-US" sz="2000" dirty="0" err="1">
                <a:latin typeface="Inter"/>
                <a:ea typeface="Inter"/>
                <a:cs typeface="Inter"/>
                <a:sym typeface="Inter"/>
              </a:rPr>
              <a:t>optimise</a:t>
            </a:r>
            <a:r>
              <a:rPr lang="en-US" sz="2000" dirty="0">
                <a:latin typeface="Inter"/>
                <a:ea typeface="Inter"/>
                <a:cs typeface="Inter"/>
                <a:sym typeface="Inter"/>
              </a:rPr>
              <a:t> rendering speed and maintain system stability.</a:t>
            </a:r>
          </a:p>
          <a:p>
            <a:endParaRPr lang="en-US" b="1" dirty="0">
              <a:solidFill>
                <a:srgbClr val="272525"/>
              </a:solidFill>
              <a:latin typeface="Petrona Bold"/>
              <a:ea typeface="Petrona Bold"/>
              <a:cs typeface="Petrona Bold"/>
              <a:sym typeface="Petrona Bold"/>
            </a:endParaRPr>
          </a:p>
          <a:p>
            <a:endParaRPr lang="en-US" dirty="0"/>
          </a:p>
        </p:txBody>
      </p:sp>
      <p:sp>
        <p:nvSpPr>
          <p:cNvPr id="21" name="Text Placeholder 20">
            <a:extLst>
              <a:ext uri="{FF2B5EF4-FFF2-40B4-BE49-F238E27FC236}">
                <a16:creationId xmlns:a16="http://schemas.microsoft.com/office/drawing/2014/main" id="{1B8F0371-4F69-4131-91BF-9AB99E6EE89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235666" y="1514950"/>
            <a:ext cx="5511834" cy="4470213"/>
          </a:xfrm>
        </p:spPr>
        <p:txBody>
          <a:bodyPr/>
          <a:lstStyle/>
          <a:p>
            <a:r>
              <a:rPr lang="en-US" sz="2400" b="1" dirty="0">
                <a:latin typeface="Petrona Bold"/>
                <a:ea typeface="Petrona Bold"/>
                <a:cs typeface="Petrona Bold"/>
                <a:sym typeface="Petrona Bold"/>
              </a:rPr>
              <a:t>Challenge 2: Inactive Relationships</a:t>
            </a:r>
          </a:p>
          <a:p>
            <a:r>
              <a:rPr lang="en-US" sz="2000" dirty="0">
                <a:latin typeface="Inter"/>
                <a:ea typeface="Inter"/>
                <a:cs typeface="Inter"/>
                <a:sym typeface="Inter"/>
              </a:rPr>
              <a:t>Revenue visuals flat-lined due to disconnected tables, leading to inaccurate reporting.</a:t>
            </a:r>
          </a:p>
          <a:p>
            <a:endParaRPr lang="en-US" sz="2400" b="1" dirty="0">
              <a:latin typeface="Petrona Bold"/>
              <a:ea typeface="Petrona Bold"/>
              <a:cs typeface="Petrona Bold"/>
              <a:sym typeface="Petrona Bold"/>
            </a:endParaRPr>
          </a:p>
          <a:p>
            <a:r>
              <a:rPr lang="en-US" sz="2400" b="1" dirty="0">
                <a:latin typeface="Petrona Bold"/>
                <a:ea typeface="Petrona Bold"/>
                <a:cs typeface="Petrona Bold"/>
                <a:sym typeface="Petrona Bold"/>
              </a:rPr>
              <a:t>Resolution:</a:t>
            </a:r>
          </a:p>
          <a:p>
            <a:endParaRPr lang="en-US" dirty="0">
              <a:latin typeface="Inter"/>
              <a:ea typeface="Inter"/>
              <a:cs typeface="Inter"/>
              <a:sym typeface="Inter"/>
            </a:endParaRPr>
          </a:p>
          <a:p>
            <a:r>
              <a:rPr lang="en-US" sz="1800" dirty="0">
                <a:latin typeface="Inter"/>
                <a:ea typeface="Inter"/>
                <a:cs typeface="Inter"/>
                <a:sym typeface="Inter"/>
              </a:rPr>
              <a:t>Rebuilt the Star Schema to ensure proper cross-filtering between Dimensions and Facts, restoring data integrity</a:t>
            </a:r>
            <a:r>
              <a:rPr lang="en-US" dirty="0"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endParaRPr lang="en-US" b="1" dirty="0">
              <a:solidFill>
                <a:srgbClr val="272525"/>
              </a:solidFill>
              <a:latin typeface="Petrona Bold"/>
              <a:ea typeface="Petrona Bold"/>
              <a:cs typeface="Petrona Bold"/>
              <a:sym typeface="Petrona Bold"/>
            </a:endParaRPr>
          </a:p>
          <a:p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F478C69-0A1D-45FF-8600-ED903803F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1877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C59157-3368-7485-2CB9-A0A11A0063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491" y="332509"/>
            <a:ext cx="11483109" cy="1615827"/>
          </a:xfrm>
        </p:spPr>
        <p:txBody>
          <a:bodyPr/>
          <a:lstStyle/>
          <a:p>
            <a:r>
              <a:rPr lang="en-US" sz="3600" dirty="0">
                <a:latin typeface="Garet Bold"/>
                <a:ea typeface="Garet Bold"/>
                <a:cs typeface="Garet Bold"/>
                <a:sym typeface="Garet Bold"/>
              </a:rPr>
              <a:t>TECHNOLOGIES &amp; SKILLS GAINED</a:t>
            </a:r>
            <a:br>
              <a:rPr lang="en-US" dirty="0">
                <a:latin typeface="Garet Bold"/>
                <a:ea typeface="Garet Bold"/>
                <a:cs typeface="Garet Bold"/>
                <a:sym typeface="Garet Bold"/>
              </a:rPr>
            </a:br>
            <a:r>
              <a:rPr lang="en-US" sz="1400" dirty="0">
                <a:latin typeface="Inter"/>
                <a:ea typeface="Inter"/>
                <a:cs typeface="Inter"/>
                <a:sym typeface="Inter"/>
              </a:rPr>
              <a:t>This internship provided an invaluable opportunity to apply and enhance a diverse set of technical skills, </a:t>
            </a:r>
            <a:r>
              <a:rPr lang="en-US" sz="1400" dirty="0" err="1">
                <a:latin typeface="Inter"/>
                <a:ea typeface="Inter"/>
                <a:cs typeface="Inter"/>
                <a:sym typeface="Inter"/>
              </a:rPr>
              <a:t>utilising</a:t>
            </a:r>
            <a:r>
              <a:rPr lang="en-US" sz="1400" dirty="0">
                <a:latin typeface="Inter"/>
                <a:ea typeface="Inter"/>
                <a:cs typeface="Inter"/>
                <a:sym typeface="Inter"/>
              </a:rPr>
              <a:t> industry-standard tools to deliver a robust analytics solution.</a:t>
            </a:r>
            <a:br>
              <a:rPr lang="en-US" sz="1400" dirty="0">
                <a:latin typeface="Inter"/>
                <a:ea typeface="Inter"/>
                <a:cs typeface="Inter"/>
                <a:sym typeface="Inter"/>
              </a:rPr>
            </a:br>
            <a:br>
              <a:rPr lang="en-US" sz="1400" dirty="0">
                <a:latin typeface="Garet Bold"/>
                <a:ea typeface="Garet Bold"/>
                <a:cs typeface="Garet Bold"/>
                <a:sym typeface="Garet Bold"/>
              </a:rPr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6A0DE48-67E0-DFBE-0015-26B4C8FEC2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0076C6-4380-F057-B50A-383FC5BEBCF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32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Garet Bold"/>
                <a:ea typeface="Garet Bold"/>
                <a:cs typeface="Garet Bold"/>
                <a:sym typeface="Garet Bold"/>
              </a:rPr>
              <a:t>Core Tech Stack</a:t>
            </a:r>
          </a:p>
          <a:p>
            <a:r>
              <a:rPr lang="en-US" b="1" dirty="0">
                <a:solidFill>
                  <a:srgbClr val="FFFFFF"/>
                </a:solidFill>
                <a:latin typeface="Petrona Bold"/>
                <a:ea typeface="Petrona Bold"/>
                <a:cs typeface="Petrona Bold"/>
                <a:sym typeface="Petrona Bold"/>
              </a:rPr>
              <a:t>Power BI Desktop</a:t>
            </a:r>
          </a:p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Primary tool for data </a:t>
            </a:r>
            <a:r>
              <a:rPr lang="en-US" dirty="0" err="1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visualisation</a:t>
            </a:r>
            <a:r>
              <a:rPr lang="en-US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 and report creation.</a:t>
            </a:r>
          </a:p>
          <a:p>
            <a:endParaRPr lang="en-US" b="1" dirty="0">
              <a:solidFill>
                <a:srgbClr val="FFFFFF"/>
              </a:solidFill>
              <a:latin typeface="Petrona Bold"/>
              <a:ea typeface="Petrona Bold"/>
              <a:cs typeface="Petrona Bold"/>
              <a:sym typeface="Petrona Bold"/>
            </a:endParaRPr>
          </a:p>
          <a:p>
            <a:r>
              <a:rPr lang="en-US" b="1" dirty="0">
                <a:solidFill>
                  <a:srgbClr val="FFFFFF"/>
                </a:solidFill>
                <a:latin typeface="Petrona Bold"/>
                <a:ea typeface="Petrona Bold"/>
                <a:cs typeface="Petrona Bold"/>
                <a:sym typeface="Petrona Bold"/>
              </a:rPr>
              <a:t>Power Query Editor</a:t>
            </a:r>
          </a:p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Essential for data extraction, transformation, and loading processes.</a:t>
            </a:r>
          </a:p>
          <a:p>
            <a:endParaRPr lang="en-US" b="1" dirty="0">
              <a:solidFill>
                <a:srgbClr val="FFFFFF"/>
              </a:solidFill>
              <a:latin typeface="Petrona Bold"/>
              <a:ea typeface="Petrona Bold"/>
              <a:cs typeface="Petrona Bold"/>
              <a:sym typeface="Petrona Bold"/>
            </a:endParaRPr>
          </a:p>
          <a:p>
            <a:r>
              <a:rPr lang="en-US" b="1" dirty="0">
                <a:solidFill>
                  <a:srgbClr val="FFFFFF"/>
                </a:solidFill>
                <a:latin typeface="Petrona Bold"/>
                <a:ea typeface="Petrona Bold"/>
                <a:cs typeface="Petrona Bold"/>
                <a:sym typeface="Petrona Bold"/>
              </a:rPr>
              <a:t>DAX</a:t>
            </a:r>
          </a:p>
          <a:p>
            <a:pPr marL="0" indent="0">
              <a:buNone/>
            </a:pPr>
            <a:r>
              <a:rPr lang="en-US" dirty="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Data Analysis Expressions for complex calculations and measures.</a:t>
            </a:r>
          </a:p>
          <a:p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33D4A16-0CFE-3FC4-5FDE-52F6177712D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35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Garet Bold"/>
                <a:ea typeface="Garet Bold"/>
                <a:cs typeface="Garet Bold"/>
                <a:sym typeface="Garet Bold"/>
              </a:rPr>
              <a:t>Key Skills Gained</a:t>
            </a:r>
          </a:p>
          <a:p>
            <a:r>
              <a:rPr lang="en-US" b="1" dirty="0">
                <a:latin typeface="Petrona Bold"/>
                <a:ea typeface="Petrona Bold"/>
                <a:cs typeface="Petrona Bold"/>
                <a:sym typeface="Petrona Bold"/>
              </a:rPr>
              <a:t>Data Modelling</a:t>
            </a:r>
          </a:p>
          <a:p>
            <a:pPr marL="0" indent="0">
              <a:buNone/>
            </a:pPr>
            <a:r>
              <a:rPr lang="en-US" dirty="0">
                <a:latin typeface="Inter"/>
                <a:ea typeface="Inter"/>
                <a:cs typeface="Inter"/>
                <a:sym typeface="Inter"/>
              </a:rPr>
              <a:t>Mastery in designing efficient Star Schema relationships for optimal performance</a:t>
            </a:r>
          </a:p>
          <a:p>
            <a:endParaRPr lang="en-US" sz="2400" b="1" dirty="0">
              <a:latin typeface="Petrona Bold"/>
              <a:ea typeface="Petrona Bold"/>
              <a:cs typeface="Petrona Bold"/>
              <a:sym typeface="Petrona Bold"/>
            </a:endParaRPr>
          </a:p>
          <a:p>
            <a:r>
              <a:rPr lang="en-US" b="1" dirty="0">
                <a:latin typeface="Petrona Bold"/>
                <a:ea typeface="Petrona Bold"/>
                <a:cs typeface="Petrona Bold"/>
                <a:sym typeface="Petrona Bold"/>
              </a:rPr>
              <a:t>Advanced Analytics</a:t>
            </a:r>
          </a:p>
          <a:p>
            <a:pPr marL="0" indent="0">
              <a:buNone/>
            </a:pPr>
            <a:r>
              <a:rPr lang="en-US" dirty="0">
                <a:latin typeface="Inter"/>
                <a:ea typeface="Inter"/>
                <a:cs typeface="Inter"/>
                <a:sym typeface="Inter"/>
              </a:rPr>
              <a:t>Ability to create dynamic measures for SLA Adherence and Customer Retention metrics.</a:t>
            </a:r>
          </a:p>
          <a:p>
            <a:pPr marL="0" indent="0"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  <a:p>
            <a:r>
              <a:rPr lang="en-US" b="1" dirty="0">
                <a:latin typeface="Petrona Bold"/>
                <a:ea typeface="Petrona Bold"/>
                <a:cs typeface="Petrona Bold"/>
                <a:sym typeface="Petrona Bold"/>
              </a:rPr>
              <a:t>Soft Skills Development</a:t>
            </a:r>
          </a:p>
          <a:p>
            <a:pPr marL="0" indent="0">
              <a:buNone/>
            </a:pPr>
            <a:r>
              <a:rPr lang="en-US" dirty="0">
                <a:latin typeface="Inter"/>
                <a:ea typeface="Inter"/>
                <a:cs typeface="Inter"/>
                <a:sym typeface="Inter"/>
              </a:rPr>
              <a:t>Developed critical Data Storytelling abilities to present complex insights effectively to stakeholders and drive action.</a:t>
            </a:r>
          </a:p>
          <a:p>
            <a:pPr marL="0" indent="0">
              <a:buNone/>
            </a:pPr>
            <a:endParaRPr lang="en-US" dirty="0">
              <a:latin typeface="Inter"/>
              <a:ea typeface="Inter"/>
              <a:cs typeface="Inter"/>
              <a:sym typeface="Inter"/>
            </a:endParaRP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28965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B7C50BD-D584-D89F-EEA9-D44506422B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9</a:t>
            </a:fld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AFC1BD-2F32-1F36-17E3-92BF5B5693F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43365" y="803564"/>
            <a:ext cx="5184437" cy="5373399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sz="3400" b="1" dirty="0">
                <a:latin typeface="Garet Bold"/>
                <a:ea typeface="Garet Bold"/>
                <a:cs typeface="Garet Bold"/>
                <a:sym typeface="Garet Bold"/>
              </a:rPr>
              <a:t>KEY BUSINESS INSIGHTS: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endParaRPr lang="en-US" sz="2187" b="1" dirty="0">
              <a:solidFill>
                <a:schemeClr val="accent1">
                  <a:lumMod val="40000"/>
                  <a:lumOff val="60000"/>
                </a:schemeClr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Logistics is the Bottleneck:</a:t>
            </a:r>
            <a:r>
              <a:rPr lang="en-US" sz="2300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The 39% On-Time Delivery Rate is a critical operational failure. Immediate fleet expansion is required in Hyderabad and Mumbai to stop customer churn.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The "Organic" Engine:</a:t>
            </a:r>
            <a:r>
              <a:rPr lang="en-US" sz="2300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Organic users make up 52% of the customer base and show higher retention. Shift marketing to "Retention Rewards" for this loyal segment.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The Volume Trap:</a:t>
            </a:r>
            <a:r>
              <a:rPr lang="en-US" sz="2300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"Beverages" have low individual profit margins despite high volume. Implement "Combo Meals" to increase Average Order Value (AOV).</a:t>
            </a:r>
          </a:p>
          <a:p>
            <a:endParaRPr lang="en-IN" sz="2800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D8B1D64-C9EA-4FD1-5F7E-1AF4D7FB34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74163" y="803564"/>
            <a:ext cx="5184437" cy="5239133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sz="3400" b="1" dirty="0">
                <a:latin typeface="Garet Bold"/>
                <a:ea typeface="Garet Bold"/>
                <a:cs typeface="Garet Bold"/>
                <a:sym typeface="Garet Bold"/>
              </a:rPr>
              <a:t>FUTURE ENHANCEMENTS: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endParaRPr lang="en-US" sz="2187" b="1" dirty="0">
              <a:solidFill>
                <a:schemeClr val="accent1">
                  <a:lumMod val="40000"/>
                  <a:lumOff val="60000"/>
                </a:schemeClr>
              </a:solidFill>
              <a:latin typeface="Inter Bold"/>
              <a:ea typeface="Inter Bold"/>
              <a:cs typeface="Inter Bold"/>
              <a:sym typeface="Inter Bold"/>
            </a:endParaRP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Row-Level Security (RLS):</a:t>
            </a:r>
            <a:r>
              <a:rPr lang="en-US" sz="2300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Implement security roles to restrict access, allowing Branch Managers to view only their specific City's data.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What-If Parameters:</a:t>
            </a:r>
            <a:r>
              <a:rPr lang="en-US" sz="2300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Add interactive sliders to simulate business scenarios (e.g., "If we discount Biryani by 10%, how much will Revenue increase?").</a:t>
            </a:r>
          </a:p>
          <a:p>
            <a:pPr marL="329902" lvl="1" indent="-164951" algn="just">
              <a:lnSpc>
                <a:spcPct val="170000"/>
              </a:lnSpc>
              <a:buFont typeface="Arial"/>
              <a:buChar char="•"/>
            </a:pPr>
            <a:r>
              <a:rPr lang="en-US" sz="2300" b="1" u="sng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Mobile Layout </a:t>
            </a:r>
            <a:r>
              <a:rPr lang="en-US" sz="2300" b="1" u="sng" dirty="0" err="1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Optimisation</a:t>
            </a:r>
            <a:r>
              <a:rPr lang="en-US" sz="2300" b="1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 Bold"/>
                <a:ea typeface="Inter Bold"/>
                <a:cs typeface="Inter Bold"/>
                <a:sym typeface="Inter Bold"/>
              </a:rPr>
              <a:t>:</a:t>
            </a:r>
            <a:r>
              <a:rPr lang="en-US" sz="2300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2187" dirty="0">
                <a:solidFill>
                  <a:schemeClr val="accent1">
                    <a:lumMod val="40000"/>
                    <a:lumOff val="60000"/>
                  </a:schemeClr>
                </a:solidFill>
                <a:latin typeface="Inter"/>
                <a:ea typeface="Inter"/>
                <a:cs typeface="Inter"/>
                <a:sym typeface="Inter"/>
              </a:rPr>
              <a:t>Design a specific "Mobile View" of the Logistics Dashboard for Area Managers to monitor live fleet performance on their smartphones.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6401984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77C041-D16C-F964-3EC8-EAB7303C4D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542925"/>
            <a:ext cx="11214100" cy="978729"/>
          </a:xfrm>
        </p:spPr>
        <p:txBody>
          <a:bodyPr/>
          <a:lstStyle/>
          <a:p>
            <a:r>
              <a:rPr lang="en-US" dirty="0">
                <a:latin typeface="Garet Bold"/>
                <a:ea typeface="Garet Bold"/>
                <a:cs typeface="Garet Bold"/>
                <a:sym typeface="Garet Bold"/>
              </a:rPr>
              <a:t>CONCLUSION, ACKNOWLEDGEMENT &amp; REFERENCES</a:t>
            </a:r>
            <a:br>
              <a:rPr lang="en-US" dirty="0">
                <a:latin typeface="Garet Bold"/>
                <a:ea typeface="Garet Bold"/>
                <a:cs typeface="Garet Bold"/>
                <a:sym typeface="Garet Bold"/>
              </a:rPr>
            </a:br>
            <a:endParaRPr lang="en-IN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921D43E-7F6A-B8C4-31CF-10142373C9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263D6C4-4840-40CC-AC84-17E24B3B7BDE}" type="slidenum">
              <a:rPr lang="en-US" noProof="0" smtClean="0"/>
              <a:pPr/>
              <a:t>10</a:t>
            </a:fld>
            <a:endParaRPr lang="en-US" noProof="0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6FBF15-3827-F58A-2C78-E236E5B1EF0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>
                <a:latin typeface="Garet Bold"/>
                <a:ea typeface="Garet Bold"/>
                <a:cs typeface="Garet Bold"/>
                <a:sym typeface="Garet Bold"/>
              </a:rPr>
              <a:t>Conclusion:</a:t>
            </a:r>
          </a:p>
          <a:p>
            <a:pPr marL="0" indent="0">
              <a:buNone/>
            </a:pPr>
            <a:r>
              <a:rPr lang="en-US" sz="1800" dirty="0">
                <a:latin typeface="Inter"/>
                <a:ea typeface="Inter"/>
                <a:cs typeface="Inter"/>
                <a:sym typeface="Inter"/>
              </a:rPr>
              <a:t>The project successfully identified that whilst the Menu is profitable, Last-Mile Delivery requires restructuring. The data proves that speed is the strongest predictor of customer satisfaction</a:t>
            </a:r>
            <a:r>
              <a:rPr lang="en-US" sz="2400" dirty="0">
                <a:solidFill>
                  <a:srgbClr val="27252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</a:p>
          <a:p>
            <a:pPr marL="0" indent="0">
              <a:buNone/>
            </a:pPr>
            <a:endParaRPr lang="en-US" sz="2400" b="1" dirty="0">
              <a:latin typeface="Garet Bold"/>
              <a:ea typeface="Garet Bold"/>
              <a:cs typeface="Garet Bold"/>
              <a:sym typeface="Garet Bold"/>
            </a:endParaRPr>
          </a:p>
          <a:p>
            <a:pPr marL="0" indent="0">
              <a:buNone/>
            </a:pPr>
            <a:r>
              <a:rPr lang="en-US" sz="2400" b="1" dirty="0">
                <a:latin typeface="Garet Bold"/>
                <a:ea typeface="Garet Bold"/>
                <a:cs typeface="Garet Bold"/>
                <a:sym typeface="Garet Bold"/>
              </a:rPr>
              <a:t>References:</a:t>
            </a:r>
          </a:p>
          <a:p>
            <a:pPr marL="404813" lvl="1" indent="-202406" algn="just">
              <a:lnSpc>
                <a:spcPct val="100000"/>
              </a:lnSpc>
              <a:buFont typeface="Arial"/>
              <a:buChar char="•"/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Infosys Springboard Virtual Internship Course Materials.</a:t>
            </a:r>
          </a:p>
          <a:p>
            <a:pPr marL="404813" lvl="1" indent="-202406" algn="just">
              <a:lnSpc>
                <a:spcPct val="100000"/>
              </a:lnSpc>
              <a:buFont typeface="Arial"/>
              <a:buChar char="•"/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Microsoft Power BI Documentation.</a:t>
            </a:r>
          </a:p>
          <a:p>
            <a:pPr marL="404813" lvl="1" indent="-202406" algn="just">
              <a:lnSpc>
                <a:spcPct val="100000"/>
              </a:lnSpc>
              <a:buFont typeface="Arial"/>
              <a:buChar char="•"/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Food Industry Logistics Case Studies.</a:t>
            </a:r>
          </a:p>
          <a:p>
            <a:pPr marL="404813" lvl="1" indent="-202406" algn="just">
              <a:lnSpc>
                <a:spcPct val="100000"/>
              </a:lnSpc>
              <a:buFont typeface="Arial"/>
              <a:buChar char="•"/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Kaggle Dataset: Zomato Food Delivery Data.</a:t>
            </a:r>
          </a:p>
          <a:p>
            <a:pPr marL="0" indent="0">
              <a:buNone/>
            </a:pPr>
            <a:endParaRPr lang="en-US" sz="2400" b="1" dirty="0">
              <a:latin typeface="Garet Bold"/>
              <a:ea typeface="Garet Bold"/>
              <a:cs typeface="Garet Bold"/>
              <a:sym typeface="Garet Bold"/>
            </a:endParaRPr>
          </a:p>
          <a:p>
            <a:endParaRPr lang="en-IN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B42143E-26B4-E145-0115-0E822D4E55E4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r>
              <a:rPr lang="en-US" sz="2400" b="1" dirty="0">
                <a:latin typeface="Garet Bold"/>
                <a:ea typeface="Garet Bold"/>
                <a:cs typeface="Garet Bold"/>
                <a:sym typeface="Garet Bold"/>
              </a:rPr>
              <a:t>Acknowledgement:</a:t>
            </a:r>
          </a:p>
          <a:p>
            <a:pPr algn="just">
              <a:lnSpc>
                <a:spcPct val="150000"/>
              </a:lnSpc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I would like to express my heartfelt gratitude to:</a:t>
            </a:r>
          </a:p>
          <a:p>
            <a:pPr marL="800100" lvl="1" indent="-342900" algn="just">
              <a:lnSpc>
                <a:spcPct val="150000"/>
              </a:lnSpc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Infosys Springboard Team for organizing this valuable internship opportunity. </a:t>
            </a:r>
          </a:p>
          <a:p>
            <a:pPr marL="800100" lvl="1" indent="-342900" algn="just">
              <a:lnSpc>
                <a:spcPct val="150000"/>
              </a:lnSpc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My Mentor </a:t>
            </a:r>
            <a:r>
              <a:rPr lang="en-US" sz="2000" dirty="0"/>
              <a:t>(Nityasree Ma’am)</a:t>
            </a: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– for her continuous support and feedback.</a:t>
            </a:r>
          </a:p>
          <a:p>
            <a:pPr marL="800100" lvl="1" indent="-342900" algn="just">
              <a:lnSpc>
                <a:spcPct val="150000"/>
              </a:lnSpc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My Teammates </a:t>
            </a:r>
            <a:r>
              <a:rPr lang="en-US" sz="2000" dirty="0"/>
              <a:t>(</a:t>
            </a:r>
            <a:r>
              <a:rPr lang="en-US" sz="2000" dirty="0" err="1"/>
              <a:t>Shashank,Garvit</a:t>
            </a:r>
            <a:r>
              <a:rPr lang="en-US" sz="2000" dirty="0"/>
              <a:t>) </a:t>
            </a: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 – for collaboration, encouragement, and insights.</a:t>
            </a:r>
          </a:p>
          <a:p>
            <a:pPr algn="just">
              <a:lnSpc>
                <a:spcPct val="150000"/>
              </a:lnSpc>
            </a:pPr>
            <a:r>
              <a:rPr lang="en-US" sz="1875" dirty="0">
                <a:latin typeface="Inter"/>
                <a:ea typeface="Inter"/>
                <a:cs typeface="Inter"/>
                <a:sym typeface="Inter"/>
              </a:rPr>
              <a:t>This internship has been a significant step in my professional growth and technical journey.</a:t>
            </a:r>
          </a:p>
          <a:p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160403537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BE5BF-9922-45FB-8F3F-4446D40A05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07133" y="1273971"/>
            <a:ext cx="5801740" cy="2365155"/>
          </a:xfrm>
        </p:spPr>
        <p:txBody>
          <a:bodyPr/>
          <a:lstStyle/>
          <a:p>
            <a:r>
              <a:rPr lang="en-US" sz="11500" dirty="0"/>
              <a:t>Thank You </a:t>
            </a:r>
            <a:br>
              <a:rPr lang="en-US" sz="11500"/>
            </a:br>
            <a:br>
              <a:rPr lang="en-US" sz="11500"/>
            </a:br>
            <a:r>
              <a:rPr lang="en-US" sz="2000"/>
              <a:t>vanshikawadhwa20</a:t>
            </a:r>
            <a:r>
              <a:rPr lang="en-US" sz="2000" dirty="0"/>
              <a:t>@gmail.com</a:t>
            </a:r>
            <a:endParaRPr lang="en-GB" sz="11500" dirty="0"/>
          </a:p>
        </p:txBody>
      </p:sp>
    </p:spTree>
    <p:extLst>
      <p:ext uri="{BB962C8B-B14F-4D97-AF65-F5344CB8AC3E}">
        <p14:creationId xmlns:p14="http://schemas.microsoft.com/office/powerpoint/2010/main" val="429771863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Office Theme">
  <a:themeElements>
    <a:clrScheme name="Custom 12">
      <a:dk1>
        <a:srgbClr val="000000"/>
      </a:dk1>
      <a:lt1>
        <a:srgbClr val="FFFFFF"/>
      </a:lt1>
      <a:dk2>
        <a:srgbClr val="6D6E71"/>
      </a:dk2>
      <a:lt2>
        <a:srgbClr val="58595B"/>
      </a:lt2>
      <a:accent1>
        <a:srgbClr val="0065A4"/>
      </a:accent1>
      <a:accent2>
        <a:srgbClr val="47C3D3"/>
      </a:accent2>
      <a:accent3>
        <a:srgbClr val="8F2D63"/>
      </a:accent3>
      <a:accent4>
        <a:srgbClr val="1A6871"/>
      </a:accent4>
      <a:accent5>
        <a:srgbClr val="0C4360"/>
      </a:accent5>
      <a:accent6>
        <a:srgbClr val="F47735"/>
      </a:accent6>
      <a:hlink>
        <a:srgbClr val="00559A"/>
      </a:hlink>
      <a:folHlink>
        <a:srgbClr val="595851"/>
      </a:folHlink>
    </a:clrScheme>
    <a:fontScheme name="Custom 3">
      <a:majorFont>
        <a:latin typeface="Trebuchet MS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66687569_Modern blue presentation_AAS_v5" id="{C7B59113-CD15-4341-96CA-86E715D5BE98}" vid="{5A8FDAEB-3DF3-4B3C-A708-49813F8D6F8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1" ma:contentTypeDescription="Create a new document." ma:contentTypeScope="" ma:versionID="96291512c1ee715ab617f4c07df79fc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8256c27c40ca5c40ce1cf6c44f0205df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B26E0C9-B2AA-42E6-97B6-E1B7D9EAF12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5757914-1161-4661-9696-421FD6935CDD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3.xml><?xml version="1.0" encoding="utf-8"?>
<ds:datastoreItem xmlns:ds="http://schemas.openxmlformats.org/officeDocument/2006/customXml" ds:itemID="{4C103400-4A22-4E35-B588-4C4D4263895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Modern blue presentation</Template>
  <TotalTime>90</TotalTime>
  <Words>884</Words>
  <Application>Microsoft Office PowerPoint</Application>
  <PresentationFormat>Widescreen</PresentationFormat>
  <Paragraphs>112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23" baseType="lpstr">
      <vt:lpstr>Arial</vt:lpstr>
      <vt:lpstr>Calibri</vt:lpstr>
      <vt:lpstr>Garet</vt:lpstr>
      <vt:lpstr>Garet Bold</vt:lpstr>
      <vt:lpstr>Inter</vt:lpstr>
      <vt:lpstr>Inter Bold</vt:lpstr>
      <vt:lpstr>Petrona Bold</vt:lpstr>
      <vt:lpstr>Telegraf</vt:lpstr>
      <vt:lpstr>Telegraf Bold</vt:lpstr>
      <vt:lpstr>Trade Gothic LT Pro</vt:lpstr>
      <vt:lpstr>Trebuchet MS</vt:lpstr>
      <vt:lpstr>Office Theme</vt:lpstr>
      <vt:lpstr>FOODTRENDS UNDERSTANDING CUSTOMER PREFERENCES IN FB </vt:lpstr>
      <vt:lpstr>PROJECT OBJECTIVE &amp; DESCRIPTION </vt:lpstr>
      <vt:lpstr>SYSTEM DESIGN &amp; WORKFLOW </vt:lpstr>
      <vt:lpstr>PROJECT EXECUTION MILESTONES </vt:lpstr>
      <vt:lpstr>TOP VISUALISATIONS USED </vt:lpstr>
      <vt:lpstr>DASHBOARD SHOWCASE </vt:lpstr>
      <vt:lpstr>CHALLENGES &amp; RESOLUTIONS </vt:lpstr>
      <vt:lpstr>TECHNOLOGIES &amp; SKILLS GAINED This internship provided an invaluable opportunity to apply and enhance a diverse set of technical skills, utilising industry-standard tools to deliver a robust analytics solution.  </vt:lpstr>
      <vt:lpstr>PowerPoint Presentation</vt:lpstr>
      <vt:lpstr>CONCLUSION, ACKNOWLEDGEMENT &amp; REFERENCES </vt:lpstr>
      <vt:lpstr>Thank You   vanshikawadhwa20@gmail.com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6</cp:revision>
  <dcterms:created xsi:type="dcterms:W3CDTF">2026-02-10T12:59:22Z</dcterms:created>
  <dcterms:modified xsi:type="dcterms:W3CDTF">2026-02-10T15:36:11Z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